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 id="2147483679" r:id="rId5"/>
  </p:sldMasterIdLst>
  <p:notesMasterIdLst>
    <p:notesMasterId r:id="rId22"/>
  </p:notesMasterIdLst>
  <p:sldIdLst>
    <p:sldId id="3253" r:id="rId6"/>
    <p:sldId id="3267" r:id="rId7"/>
    <p:sldId id="3292" r:id="rId8"/>
    <p:sldId id="3298" r:id="rId9"/>
    <p:sldId id="3299" r:id="rId10"/>
    <p:sldId id="260" r:id="rId11"/>
    <p:sldId id="261" r:id="rId12"/>
    <p:sldId id="3300" r:id="rId13"/>
    <p:sldId id="263" r:id="rId14"/>
    <p:sldId id="3301" r:id="rId15"/>
    <p:sldId id="262" r:id="rId16"/>
    <p:sldId id="3260" r:id="rId17"/>
    <p:sldId id="3289" r:id="rId18"/>
    <p:sldId id="3290" r:id="rId19"/>
    <p:sldId id="3270" r:id="rId20"/>
    <p:sldId id="3271" r:id="rId21"/>
  </p:sldIdLst>
  <p:sldSz cx="12192000" cy="6858000"/>
  <p:notesSz cx="6858000" cy="9144000"/>
  <p:embeddedFontLst>
    <p:embeddedFont>
      <p:font typeface="Georgia" panose="02040502050405020303" pitchFamily="18" charset="0"/>
      <p:regular r:id="rId23"/>
      <p:bold r:id="rId24"/>
      <p:italic r:id="rId25"/>
      <p:boldItalic r:id="rId26"/>
    </p:embeddedFont>
    <p:embeddedFont>
      <p:font typeface="Open Sans" panose="020B0606030504020204" pitchFamily="34" charset="0"/>
      <p:regular r:id="rId27"/>
      <p:bold r:id="rId28"/>
      <p:italic r:id="rId29"/>
      <p:boldItalic r:id="rId30"/>
    </p:embeddedFont>
    <p:embeddedFont>
      <p:font typeface="Open Sans ExtraBold" panose="020B0906030804020204" pitchFamily="34" charset="0"/>
      <p:bold r:id="rId31"/>
      <p:boldItalic r:id="rId32"/>
    </p:embeddedFont>
    <p:embeddedFont>
      <p:font typeface="Open Sans Light" panose="020B0306030504020204" pitchFamily="34" charset="0"/>
      <p:regular r:id="rId33"/>
      <p:italic r:id="rId34"/>
    </p:embeddedFont>
    <p:embeddedFont>
      <p:font typeface="Open Sans Regular" panose="020B0606030504020204" charset="0"/>
      <p:regular r:id="rId35"/>
    </p:embeddedFont>
    <p:embeddedFont>
      <p:font typeface="Open Sans SemiBold" panose="020B0706030804020204" pitchFamily="34" charset="0"/>
      <p:bold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E6A"/>
    <a:srgbClr val="CF826C"/>
    <a:srgbClr val="0D2841"/>
    <a:srgbClr val="D0D0CE"/>
    <a:srgbClr val="4F8AA9"/>
    <a:srgbClr val="B6B6B6"/>
    <a:srgbClr val="F5F5F5"/>
    <a:srgbClr val="C0D7E2"/>
    <a:srgbClr val="919191"/>
    <a:srgbClr val="6A6A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BF715-BBE1-4B05-A48A-F915A303648D}" v="14" dt="2025-08-28T11:33:03.4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iddels stil 2 – utheving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432" y="268"/>
      </p:cViewPr>
      <p:guideLst>
        <p:guide orient="horz" pos="2160"/>
        <p:guide pos="3840"/>
        <p:guide orient="horz" pos="320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4.fntdata"/><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font" Target="fonts/font12.fntdata"/><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7.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ata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263E0C-D345-49EE-9980-37D309607C32}" type="doc">
      <dgm:prSet loTypeId="urn:microsoft.com/office/officeart/2008/layout/BendingPictureCaption" loCatId="picture" qsTypeId="urn:microsoft.com/office/officeart/2005/8/quickstyle/simple1" qsCatId="simple" csTypeId="urn:microsoft.com/office/officeart/2005/8/colors/accent3_1" csCatId="accent3" phldr="1"/>
      <dgm:spPr/>
      <dgm:t>
        <a:bodyPr/>
        <a:lstStyle/>
        <a:p>
          <a:endParaRPr lang="nb-NO"/>
        </a:p>
      </dgm:t>
    </dgm:pt>
    <dgm:pt modelId="{2CDC857F-CD53-434A-8134-C36FC3A218C6}">
      <dgm:prSet phldrT="[Tekst]" custT="1"/>
      <dgm:spPr/>
      <dgm:t>
        <a:bodyPr/>
        <a:lstStyle/>
        <a:p>
          <a:r>
            <a:rPr lang="nb-NO" sz="2000">
              <a:latin typeface="+mn-lt"/>
            </a:rPr>
            <a:t>Oslo</a:t>
          </a:r>
        </a:p>
        <a:p>
          <a:r>
            <a:rPr lang="nb-NO" sz="1000">
              <a:latin typeface="+mn-lt"/>
              <a:cs typeface="Arial" panose="020B0604020202020204" pitchFamily="34" charset="0"/>
            </a:rPr>
            <a:t>Frøyas gate 15</a:t>
          </a:r>
        </a:p>
        <a:p>
          <a:r>
            <a:rPr lang="nb-NO" sz="1000">
              <a:latin typeface="+mn-lt"/>
              <a:cs typeface="Arial" panose="020B0604020202020204" pitchFamily="34" charset="0"/>
            </a:rPr>
            <a:t>0273 Oslo</a:t>
          </a:r>
        </a:p>
        <a:p>
          <a:r>
            <a:rPr lang="nb-NO" sz="1000">
              <a:latin typeface="+mn-lt"/>
              <a:cs typeface="Arial" panose="020B0604020202020204" pitchFamily="34" charset="0"/>
            </a:rPr>
            <a:t>+47 23 89 68 44</a:t>
          </a:r>
          <a:endParaRPr lang="nb-NO" sz="1000">
            <a:latin typeface="+mn-lt"/>
          </a:endParaRPr>
        </a:p>
      </dgm:t>
    </dgm:pt>
    <dgm:pt modelId="{E6327566-0E11-4EF9-BFFD-BC4337D2CD6F}" type="parTrans" cxnId="{7182E86A-DC72-484E-8F29-09CDB27EA8D0}">
      <dgm:prSet/>
      <dgm:spPr/>
      <dgm:t>
        <a:bodyPr/>
        <a:lstStyle/>
        <a:p>
          <a:endParaRPr lang="nb-NO">
            <a:latin typeface="+mn-lt"/>
          </a:endParaRPr>
        </a:p>
      </dgm:t>
    </dgm:pt>
    <dgm:pt modelId="{335CF752-1CBC-4ACB-A8B6-4D4F8FBBB861}" type="sibTrans" cxnId="{7182E86A-DC72-484E-8F29-09CDB27EA8D0}">
      <dgm:prSet/>
      <dgm:spPr/>
      <dgm:t>
        <a:bodyPr/>
        <a:lstStyle/>
        <a:p>
          <a:endParaRPr lang="nb-NO">
            <a:latin typeface="+mn-lt"/>
          </a:endParaRPr>
        </a:p>
      </dgm:t>
    </dgm:pt>
    <dgm:pt modelId="{A05D397A-2AF7-4D14-B848-1509ECCC7AD7}">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gm:t>
    </dgm:pt>
    <dgm:pt modelId="{D5869D98-BD9B-4626-BEA1-1099064573DD}" type="parTrans" cxnId="{79690A64-0ECA-4D30-9518-0EE397B038A7}">
      <dgm:prSet/>
      <dgm:spPr/>
      <dgm:t>
        <a:bodyPr/>
        <a:lstStyle/>
        <a:p>
          <a:endParaRPr lang="nb-NO">
            <a:latin typeface="+mn-lt"/>
          </a:endParaRPr>
        </a:p>
      </dgm:t>
    </dgm:pt>
    <dgm:pt modelId="{0C3E771E-DF5B-4748-ACB2-112868E59CDB}" type="sibTrans" cxnId="{79690A64-0ECA-4D30-9518-0EE397B038A7}">
      <dgm:prSet/>
      <dgm:spPr/>
      <dgm:t>
        <a:bodyPr/>
        <a:lstStyle/>
        <a:p>
          <a:endParaRPr lang="nb-NO">
            <a:latin typeface="+mn-lt"/>
          </a:endParaRPr>
        </a:p>
      </dgm:t>
    </dgm:pt>
    <dgm:pt modelId="{F79EAA3D-3311-445B-B408-24A11E568811}">
      <dgm:prSet phldrT="[Tekst]" custT="1"/>
      <dgm:spPr/>
      <dgm:t>
        <a:bodyPr/>
        <a:lstStyle/>
        <a:p>
          <a:r>
            <a:rPr lang="nb-NO" sz="2000">
              <a:latin typeface="+mn-lt"/>
            </a:rPr>
            <a:t>Luxemburg</a:t>
          </a:r>
        </a:p>
        <a:p>
          <a:r>
            <a:rPr lang="fr-FR" sz="1000">
              <a:solidFill>
                <a:srgbClr val="123D6A"/>
              </a:solidFill>
              <a:latin typeface="+mn-lt"/>
              <a:cs typeface="Calibri"/>
            </a:rPr>
            <a:t>41 Boulevard Royal  L-2449</a:t>
          </a:r>
          <a:r>
            <a:rPr lang="fr-FR" sz="1000" spc="-85">
              <a:solidFill>
                <a:srgbClr val="123D6A"/>
              </a:solidFill>
              <a:latin typeface="+mn-lt"/>
              <a:cs typeface="Calibri"/>
            </a:rPr>
            <a:t> </a:t>
          </a:r>
          <a:r>
            <a:rPr lang="fr-FR" sz="1000">
              <a:solidFill>
                <a:srgbClr val="123D6A"/>
              </a:solidFill>
              <a:latin typeface="+mn-lt"/>
              <a:cs typeface="Calibri"/>
            </a:rPr>
            <a:t>Luxembourg</a:t>
          </a:r>
          <a:endParaRPr lang="fr-FR" sz="1000">
            <a:latin typeface="+mn-lt"/>
            <a:cs typeface="Calibri"/>
          </a:endParaRPr>
        </a:p>
        <a:p>
          <a:r>
            <a:rPr lang="nb-NO" sz="1000">
              <a:solidFill>
                <a:srgbClr val="123D6A"/>
              </a:solidFill>
              <a:latin typeface="+mn-lt"/>
              <a:cs typeface="Calibri"/>
            </a:rPr>
            <a:t>+352 27 04 25</a:t>
          </a:r>
          <a:r>
            <a:rPr lang="nb-NO" sz="1000" spc="-45">
              <a:solidFill>
                <a:srgbClr val="123D6A"/>
              </a:solidFill>
              <a:latin typeface="+mn-lt"/>
              <a:cs typeface="Calibri"/>
            </a:rPr>
            <a:t> </a:t>
          </a:r>
          <a:r>
            <a:rPr lang="nb-NO" sz="1000">
              <a:solidFill>
                <a:srgbClr val="123D6A"/>
              </a:solidFill>
              <a:latin typeface="+mn-lt"/>
              <a:cs typeface="Calibri"/>
            </a:rPr>
            <a:t>22</a:t>
          </a:r>
          <a:endParaRPr lang="nb-NO" sz="1000">
            <a:latin typeface="+mn-lt"/>
          </a:endParaRPr>
        </a:p>
      </dgm:t>
    </dgm:pt>
    <dgm:pt modelId="{0B5CF4CB-00E8-4000-9D2C-A47E06EBB7E0}" type="parTrans" cxnId="{E3B3A300-B8EF-4D8D-8F3B-25D296441566}">
      <dgm:prSet/>
      <dgm:spPr/>
      <dgm:t>
        <a:bodyPr/>
        <a:lstStyle/>
        <a:p>
          <a:endParaRPr lang="nb-NO">
            <a:latin typeface="+mn-lt"/>
          </a:endParaRPr>
        </a:p>
      </dgm:t>
    </dgm:pt>
    <dgm:pt modelId="{3E929239-C682-41C5-ABDF-DE9C8AA5D32B}" type="sibTrans" cxnId="{E3B3A300-B8EF-4D8D-8F3B-25D296441566}">
      <dgm:prSet/>
      <dgm:spPr/>
      <dgm:t>
        <a:bodyPr/>
        <a:lstStyle/>
        <a:p>
          <a:endParaRPr lang="nb-NO">
            <a:latin typeface="+mn-lt"/>
          </a:endParaRPr>
        </a:p>
      </dgm:t>
    </dgm:pt>
    <dgm:pt modelId="{C5419239-9AC8-40F2-823F-418B9418ADAE}" type="pres">
      <dgm:prSet presAssocID="{24263E0C-D345-49EE-9980-37D309607C32}" presName="diagram" presStyleCnt="0">
        <dgm:presLayoutVars>
          <dgm:dir/>
        </dgm:presLayoutVars>
      </dgm:prSet>
      <dgm:spPr/>
    </dgm:pt>
    <dgm:pt modelId="{AA4A24D8-6159-4A28-B46D-0799FC084D84}" type="pres">
      <dgm:prSet presAssocID="{2CDC857F-CD53-434A-8134-C36FC3A218C6}" presName="composite" presStyleCnt="0"/>
      <dgm:spPr/>
    </dgm:pt>
    <dgm:pt modelId="{5B97B675-B3CD-49AE-9930-9A07553C828F}" type="pres">
      <dgm:prSet presAssocID="{2CDC857F-CD53-434A-8134-C36FC3A218C6}" presName="Image" presStyleLbl="bgShp" presStyleIdx="0" presStyleCnt="3"/>
      <dgm:spPr>
        <a:blipFill>
          <a:blip xmlns:r="http://schemas.openxmlformats.org/officeDocument/2006/relationships" r:embed="rId1"/>
          <a:srcRect/>
          <a:stretch>
            <a:fillRect l="-6000" r="-6000"/>
          </a:stretch>
        </a:blipFill>
      </dgm:spPr>
    </dgm:pt>
    <dgm:pt modelId="{8C7E96BA-7782-46A2-AC80-B1929C63AB29}" type="pres">
      <dgm:prSet presAssocID="{2CDC857F-CD53-434A-8134-C36FC3A218C6}" presName="Parent" presStyleLbl="node0" presStyleIdx="0" presStyleCnt="3" custScaleY="198133" custLinFactNeighborX="15495" custLinFactNeighborY="75279">
        <dgm:presLayoutVars>
          <dgm:bulletEnabled val="1"/>
        </dgm:presLayoutVars>
      </dgm:prSet>
      <dgm:spPr/>
    </dgm:pt>
    <dgm:pt modelId="{C364EC1F-119E-4CA8-A9EC-26971ED17036}" type="pres">
      <dgm:prSet presAssocID="{335CF752-1CBC-4ACB-A8B6-4D4F8FBBB861}" presName="sibTrans" presStyleCnt="0"/>
      <dgm:spPr/>
    </dgm:pt>
    <dgm:pt modelId="{116A0B35-DAE9-444A-AA35-62FDDDF9B98D}" type="pres">
      <dgm:prSet presAssocID="{A05D397A-2AF7-4D14-B848-1509ECCC7AD7}" presName="composite" presStyleCnt="0"/>
      <dgm:spPr/>
    </dgm:pt>
    <dgm:pt modelId="{B768949A-A4D3-473E-ADD6-FB1636B5EFCF}" type="pres">
      <dgm:prSet presAssocID="{A05D397A-2AF7-4D14-B848-1509ECCC7AD7}" presName="Image" presStyleLbl="bgShp" presStyleIdx="1" presStyleCnt="3"/>
      <dgm:spPr>
        <a:blipFill>
          <a:blip xmlns:r="http://schemas.openxmlformats.org/officeDocument/2006/relationships" r:embed="rId2"/>
          <a:srcRect/>
          <a:stretch>
            <a:fillRect l="-12000" r="-12000"/>
          </a:stretch>
        </a:blipFill>
      </dgm:spPr>
    </dgm:pt>
    <dgm:pt modelId="{6C1F774D-D8A3-49FF-920E-75AC557C0D98}" type="pres">
      <dgm:prSet presAssocID="{A05D397A-2AF7-4D14-B848-1509ECCC7AD7}" presName="Parent" presStyleLbl="node0" presStyleIdx="1" presStyleCnt="3" custScaleY="198133" custLinFactNeighborX="15495" custLinFactNeighborY="75279">
        <dgm:presLayoutVars>
          <dgm:bulletEnabled val="1"/>
        </dgm:presLayoutVars>
      </dgm:prSet>
      <dgm:spPr/>
    </dgm:pt>
    <dgm:pt modelId="{0B540264-A71F-4B19-9DB1-D41E14466951}" type="pres">
      <dgm:prSet presAssocID="{0C3E771E-DF5B-4748-ACB2-112868E59CDB}" presName="sibTrans" presStyleCnt="0"/>
      <dgm:spPr/>
    </dgm:pt>
    <dgm:pt modelId="{261BFEFC-6251-481E-B125-47927218FFEE}" type="pres">
      <dgm:prSet presAssocID="{F79EAA3D-3311-445B-B408-24A11E568811}" presName="composite" presStyleCnt="0"/>
      <dgm:spPr/>
    </dgm:pt>
    <dgm:pt modelId="{33F58831-8DA6-4A33-B4BE-67CEA36C859D}" type="pres">
      <dgm:prSet presAssocID="{F79EAA3D-3311-445B-B408-24A11E568811}" presName="Image" presStyleLbl="bgShp" presStyleIdx="2" presStyleCnt="3"/>
      <dgm:spPr>
        <a:blipFill>
          <a:blip xmlns:r="http://schemas.openxmlformats.org/officeDocument/2006/relationships" r:embed="rId3"/>
          <a:srcRect/>
          <a:stretch>
            <a:fillRect t="-40000" b="-40000"/>
          </a:stretch>
        </a:blipFill>
      </dgm:spPr>
    </dgm:pt>
    <dgm:pt modelId="{8BCBD014-7EA5-493A-A6A8-F9FD4FB0DE6A}" type="pres">
      <dgm:prSet presAssocID="{F79EAA3D-3311-445B-B408-24A11E568811}" presName="Parent" presStyleLbl="node0" presStyleIdx="2" presStyleCnt="3" custScaleY="198133" custLinFactNeighborX="15240" custLinFactNeighborY="75279">
        <dgm:presLayoutVars>
          <dgm:bulletEnabled val="1"/>
        </dgm:presLayoutVars>
      </dgm:prSet>
      <dgm:spPr/>
    </dgm:pt>
  </dgm:ptLst>
  <dgm:cxnLst>
    <dgm:cxn modelId="{E3B3A300-B8EF-4D8D-8F3B-25D296441566}" srcId="{24263E0C-D345-49EE-9980-37D309607C32}" destId="{F79EAA3D-3311-445B-B408-24A11E568811}" srcOrd="2" destOrd="0" parTransId="{0B5CF4CB-00E8-4000-9D2C-A47E06EBB7E0}" sibTransId="{3E929239-C682-41C5-ABDF-DE9C8AA5D32B}"/>
    <dgm:cxn modelId="{7E589E36-AB74-4710-8D52-26E11C93CDF7}" type="presOf" srcId="{24263E0C-D345-49EE-9980-37D309607C32}" destId="{C5419239-9AC8-40F2-823F-418B9418ADAE}" srcOrd="0" destOrd="0" presId="urn:microsoft.com/office/officeart/2008/layout/BendingPictureCaption"/>
    <dgm:cxn modelId="{79690A64-0ECA-4D30-9518-0EE397B038A7}" srcId="{24263E0C-D345-49EE-9980-37D309607C32}" destId="{A05D397A-2AF7-4D14-B848-1509ECCC7AD7}" srcOrd="1" destOrd="0" parTransId="{D5869D98-BD9B-4626-BEA1-1099064573DD}" sibTransId="{0C3E771E-DF5B-4748-ACB2-112868E59CDB}"/>
    <dgm:cxn modelId="{7182E86A-DC72-484E-8F29-09CDB27EA8D0}" srcId="{24263E0C-D345-49EE-9980-37D309607C32}" destId="{2CDC857F-CD53-434A-8134-C36FC3A218C6}" srcOrd="0" destOrd="0" parTransId="{E6327566-0E11-4EF9-BFFD-BC4337D2CD6F}" sibTransId="{335CF752-1CBC-4ACB-A8B6-4D4F8FBBB861}"/>
    <dgm:cxn modelId="{9313C587-D8F2-4E11-91EE-A2CFA170E5F9}" type="presOf" srcId="{A05D397A-2AF7-4D14-B848-1509ECCC7AD7}" destId="{6C1F774D-D8A3-49FF-920E-75AC557C0D98}" srcOrd="0" destOrd="0" presId="urn:microsoft.com/office/officeart/2008/layout/BendingPictureCaption"/>
    <dgm:cxn modelId="{374591C9-8195-41F8-88CA-E533207D4578}" type="presOf" srcId="{2CDC857F-CD53-434A-8134-C36FC3A218C6}" destId="{8C7E96BA-7782-46A2-AC80-B1929C63AB29}" srcOrd="0" destOrd="0" presId="urn:microsoft.com/office/officeart/2008/layout/BendingPictureCaption"/>
    <dgm:cxn modelId="{59A86CD3-6801-418D-AC9D-EED67DBC3185}" type="presOf" srcId="{F79EAA3D-3311-445B-B408-24A11E568811}" destId="{8BCBD014-7EA5-493A-A6A8-F9FD4FB0DE6A}" srcOrd="0" destOrd="0" presId="urn:microsoft.com/office/officeart/2008/layout/BendingPictureCaption"/>
    <dgm:cxn modelId="{A7260711-B241-459A-9878-4319A7362E8B}" type="presParOf" srcId="{C5419239-9AC8-40F2-823F-418B9418ADAE}" destId="{AA4A24D8-6159-4A28-B46D-0799FC084D84}" srcOrd="0" destOrd="0" presId="urn:microsoft.com/office/officeart/2008/layout/BendingPictureCaption"/>
    <dgm:cxn modelId="{2CEDE681-90DE-4462-BECE-3A285F1E4073}" type="presParOf" srcId="{AA4A24D8-6159-4A28-B46D-0799FC084D84}" destId="{5B97B675-B3CD-49AE-9930-9A07553C828F}" srcOrd="0" destOrd="0" presId="urn:microsoft.com/office/officeart/2008/layout/BendingPictureCaption"/>
    <dgm:cxn modelId="{7C06278A-ABDE-400E-B186-A5C879AE744B}" type="presParOf" srcId="{AA4A24D8-6159-4A28-B46D-0799FC084D84}" destId="{8C7E96BA-7782-46A2-AC80-B1929C63AB29}" srcOrd="1" destOrd="0" presId="urn:microsoft.com/office/officeart/2008/layout/BendingPictureCaption"/>
    <dgm:cxn modelId="{10FE6BE1-18C4-4B2F-A193-0EF3602886D3}" type="presParOf" srcId="{C5419239-9AC8-40F2-823F-418B9418ADAE}" destId="{C364EC1F-119E-4CA8-A9EC-26971ED17036}" srcOrd="1" destOrd="0" presId="urn:microsoft.com/office/officeart/2008/layout/BendingPictureCaption"/>
    <dgm:cxn modelId="{58F3D96A-915A-4EBB-968C-94D90386ADA6}" type="presParOf" srcId="{C5419239-9AC8-40F2-823F-418B9418ADAE}" destId="{116A0B35-DAE9-444A-AA35-62FDDDF9B98D}" srcOrd="2" destOrd="0" presId="urn:microsoft.com/office/officeart/2008/layout/BendingPictureCaption"/>
    <dgm:cxn modelId="{DF4784E9-66DD-47AD-89CB-C0FCA7542F13}" type="presParOf" srcId="{116A0B35-DAE9-444A-AA35-62FDDDF9B98D}" destId="{B768949A-A4D3-473E-ADD6-FB1636B5EFCF}" srcOrd="0" destOrd="0" presId="urn:microsoft.com/office/officeart/2008/layout/BendingPictureCaption"/>
    <dgm:cxn modelId="{287B28F9-8986-4DC6-B897-8BD2C708CD85}" type="presParOf" srcId="{116A0B35-DAE9-444A-AA35-62FDDDF9B98D}" destId="{6C1F774D-D8A3-49FF-920E-75AC557C0D98}" srcOrd="1" destOrd="0" presId="urn:microsoft.com/office/officeart/2008/layout/BendingPictureCaption"/>
    <dgm:cxn modelId="{D8A381A1-C59A-4015-9909-AA932F6868D2}" type="presParOf" srcId="{C5419239-9AC8-40F2-823F-418B9418ADAE}" destId="{0B540264-A71F-4B19-9DB1-D41E14466951}" srcOrd="3" destOrd="0" presId="urn:microsoft.com/office/officeart/2008/layout/BendingPictureCaption"/>
    <dgm:cxn modelId="{4C26F078-EFBF-4E7B-8BD4-8F7C0D7BB680}" type="presParOf" srcId="{C5419239-9AC8-40F2-823F-418B9418ADAE}" destId="{261BFEFC-6251-481E-B125-47927218FFEE}" srcOrd="4" destOrd="0" presId="urn:microsoft.com/office/officeart/2008/layout/BendingPictureCaption"/>
    <dgm:cxn modelId="{CBC47952-EF8C-4549-8059-5C576E626AB7}" type="presParOf" srcId="{261BFEFC-6251-481E-B125-47927218FFEE}" destId="{33F58831-8DA6-4A33-B4BE-67CEA36C859D}" srcOrd="0" destOrd="0" presId="urn:microsoft.com/office/officeart/2008/layout/BendingPictureCaption"/>
    <dgm:cxn modelId="{2499283D-59DF-42A0-9DB7-CF78CCA10E1F}" type="presParOf" srcId="{261BFEFC-6251-481E-B125-47927218FFEE}" destId="{8BCBD014-7EA5-493A-A6A8-F9FD4FB0DE6A}" srcOrd="1" destOrd="0" presId="urn:microsoft.com/office/officeart/2008/layout/BendingPictureCapti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263E0C-D345-49EE-9980-37D309607C32}" type="doc">
      <dgm:prSet loTypeId="urn:microsoft.com/office/officeart/2008/layout/BendingPictureCaption" loCatId="picture" qsTypeId="urn:microsoft.com/office/officeart/2005/8/quickstyle/simple1" qsCatId="simple" csTypeId="urn:microsoft.com/office/officeart/2005/8/colors/accent3_1" csCatId="accent3" phldr="1"/>
      <dgm:spPr/>
      <dgm:t>
        <a:bodyPr/>
        <a:lstStyle/>
        <a:p>
          <a:endParaRPr lang="nb-NO"/>
        </a:p>
      </dgm:t>
    </dgm:pt>
    <dgm:pt modelId="{2CDC857F-CD53-434A-8134-C36FC3A218C6}">
      <dgm:prSet phldrT="[Tekst]" custT="1"/>
      <dgm:spPr/>
      <dgm:t>
        <a:bodyPr/>
        <a:lstStyle/>
        <a:p>
          <a:r>
            <a:rPr lang="nb-NO" sz="2000">
              <a:latin typeface="+mn-lt"/>
            </a:rPr>
            <a:t>Oslo</a:t>
          </a:r>
        </a:p>
        <a:p>
          <a:r>
            <a:rPr lang="nb-NO" sz="1000">
              <a:latin typeface="+mn-lt"/>
              <a:cs typeface="Arial" panose="020B0604020202020204" pitchFamily="34" charset="0"/>
            </a:rPr>
            <a:t>Frøyas gate 15</a:t>
          </a:r>
        </a:p>
        <a:p>
          <a:r>
            <a:rPr lang="nb-NO" sz="1000">
              <a:latin typeface="+mn-lt"/>
              <a:cs typeface="Arial" panose="020B0604020202020204" pitchFamily="34" charset="0"/>
            </a:rPr>
            <a:t>0273 Oslo</a:t>
          </a:r>
        </a:p>
        <a:p>
          <a:r>
            <a:rPr lang="nb-NO" sz="1000">
              <a:latin typeface="+mn-lt"/>
              <a:cs typeface="Arial" panose="020B0604020202020204" pitchFamily="34" charset="0"/>
            </a:rPr>
            <a:t>+47 23 89 68 44</a:t>
          </a:r>
          <a:endParaRPr lang="nb-NO" sz="1000">
            <a:latin typeface="+mn-lt"/>
          </a:endParaRPr>
        </a:p>
      </dgm:t>
    </dgm:pt>
    <dgm:pt modelId="{E6327566-0E11-4EF9-BFFD-BC4337D2CD6F}" type="parTrans" cxnId="{7182E86A-DC72-484E-8F29-09CDB27EA8D0}">
      <dgm:prSet/>
      <dgm:spPr/>
      <dgm:t>
        <a:bodyPr/>
        <a:lstStyle/>
        <a:p>
          <a:endParaRPr lang="nb-NO">
            <a:latin typeface="+mn-lt"/>
          </a:endParaRPr>
        </a:p>
      </dgm:t>
    </dgm:pt>
    <dgm:pt modelId="{335CF752-1CBC-4ACB-A8B6-4D4F8FBBB861}" type="sibTrans" cxnId="{7182E86A-DC72-484E-8F29-09CDB27EA8D0}">
      <dgm:prSet/>
      <dgm:spPr/>
      <dgm:t>
        <a:bodyPr/>
        <a:lstStyle/>
        <a:p>
          <a:endParaRPr lang="nb-NO">
            <a:latin typeface="+mn-lt"/>
          </a:endParaRPr>
        </a:p>
      </dgm:t>
    </dgm:pt>
    <dgm:pt modelId="{A05D397A-2AF7-4D14-B848-1509ECCC7AD7}">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gm:t>
    </dgm:pt>
    <dgm:pt modelId="{D5869D98-BD9B-4626-BEA1-1099064573DD}" type="parTrans" cxnId="{79690A64-0ECA-4D30-9518-0EE397B038A7}">
      <dgm:prSet/>
      <dgm:spPr/>
      <dgm:t>
        <a:bodyPr/>
        <a:lstStyle/>
        <a:p>
          <a:endParaRPr lang="nb-NO">
            <a:latin typeface="+mn-lt"/>
          </a:endParaRPr>
        </a:p>
      </dgm:t>
    </dgm:pt>
    <dgm:pt modelId="{0C3E771E-DF5B-4748-ACB2-112868E59CDB}" type="sibTrans" cxnId="{79690A64-0ECA-4D30-9518-0EE397B038A7}">
      <dgm:prSet/>
      <dgm:spPr/>
      <dgm:t>
        <a:bodyPr/>
        <a:lstStyle/>
        <a:p>
          <a:endParaRPr lang="nb-NO">
            <a:latin typeface="+mn-lt"/>
          </a:endParaRPr>
        </a:p>
      </dgm:t>
    </dgm:pt>
    <dgm:pt modelId="{F79EAA3D-3311-445B-B408-24A11E568811}">
      <dgm:prSet phldrT="[Tekst]" custT="1"/>
      <dgm:spPr/>
      <dgm:t>
        <a:bodyPr/>
        <a:lstStyle/>
        <a:p>
          <a:r>
            <a:rPr lang="nb-NO" sz="2000">
              <a:latin typeface="+mn-lt"/>
            </a:rPr>
            <a:t>Luxemburg</a:t>
          </a:r>
        </a:p>
        <a:p>
          <a:r>
            <a:rPr lang="fr-FR" sz="1000">
              <a:solidFill>
                <a:srgbClr val="123D6A"/>
              </a:solidFill>
              <a:latin typeface="+mn-lt"/>
              <a:cs typeface="Calibri"/>
            </a:rPr>
            <a:t>41 Boulevard Royal  L-2449</a:t>
          </a:r>
          <a:r>
            <a:rPr lang="fr-FR" sz="1000" spc="-85">
              <a:solidFill>
                <a:srgbClr val="123D6A"/>
              </a:solidFill>
              <a:latin typeface="+mn-lt"/>
              <a:cs typeface="Calibri"/>
            </a:rPr>
            <a:t> </a:t>
          </a:r>
          <a:r>
            <a:rPr lang="fr-FR" sz="1000">
              <a:solidFill>
                <a:srgbClr val="123D6A"/>
              </a:solidFill>
              <a:latin typeface="+mn-lt"/>
              <a:cs typeface="Calibri"/>
            </a:rPr>
            <a:t>Luxembourg</a:t>
          </a:r>
          <a:endParaRPr lang="fr-FR" sz="1000">
            <a:latin typeface="+mn-lt"/>
            <a:cs typeface="Calibri"/>
          </a:endParaRPr>
        </a:p>
        <a:p>
          <a:r>
            <a:rPr lang="nb-NO" sz="1000">
              <a:solidFill>
                <a:srgbClr val="123D6A"/>
              </a:solidFill>
              <a:latin typeface="+mn-lt"/>
              <a:cs typeface="Calibri"/>
            </a:rPr>
            <a:t>+352 27 04 25</a:t>
          </a:r>
          <a:r>
            <a:rPr lang="nb-NO" sz="1000" spc="-45">
              <a:solidFill>
                <a:srgbClr val="123D6A"/>
              </a:solidFill>
              <a:latin typeface="+mn-lt"/>
              <a:cs typeface="Calibri"/>
            </a:rPr>
            <a:t> </a:t>
          </a:r>
          <a:r>
            <a:rPr lang="nb-NO" sz="1000">
              <a:solidFill>
                <a:srgbClr val="123D6A"/>
              </a:solidFill>
              <a:latin typeface="+mn-lt"/>
              <a:cs typeface="Calibri"/>
            </a:rPr>
            <a:t>22</a:t>
          </a:r>
          <a:endParaRPr lang="nb-NO" sz="1000">
            <a:latin typeface="+mn-lt"/>
          </a:endParaRPr>
        </a:p>
      </dgm:t>
    </dgm:pt>
    <dgm:pt modelId="{0B5CF4CB-00E8-4000-9D2C-A47E06EBB7E0}" type="parTrans" cxnId="{E3B3A300-B8EF-4D8D-8F3B-25D296441566}">
      <dgm:prSet/>
      <dgm:spPr/>
      <dgm:t>
        <a:bodyPr/>
        <a:lstStyle/>
        <a:p>
          <a:endParaRPr lang="nb-NO">
            <a:latin typeface="+mn-lt"/>
          </a:endParaRPr>
        </a:p>
      </dgm:t>
    </dgm:pt>
    <dgm:pt modelId="{3E929239-C682-41C5-ABDF-DE9C8AA5D32B}" type="sibTrans" cxnId="{E3B3A300-B8EF-4D8D-8F3B-25D296441566}">
      <dgm:prSet/>
      <dgm:spPr/>
      <dgm:t>
        <a:bodyPr/>
        <a:lstStyle/>
        <a:p>
          <a:endParaRPr lang="nb-NO">
            <a:latin typeface="+mn-lt"/>
          </a:endParaRPr>
        </a:p>
      </dgm:t>
    </dgm:pt>
    <dgm:pt modelId="{C5419239-9AC8-40F2-823F-418B9418ADAE}" type="pres">
      <dgm:prSet presAssocID="{24263E0C-D345-49EE-9980-37D309607C32}" presName="diagram" presStyleCnt="0">
        <dgm:presLayoutVars>
          <dgm:dir/>
        </dgm:presLayoutVars>
      </dgm:prSet>
      <dgm:spPr/>
    </dgm:pt>
    <dgm:pt modelId="{AA4A24D8-6159-4A28-B46D-0799FC084D84}" type="pres">
      <dgm:prSet presAssocID="{2CDC857F-CD53-434A-8134-C36FC3A218C6}" presName="composite" presStyleCnt="0"/>
      <dgm:spPr/>
    </dgm:pt>
    <dgm:pt modelId="{5B97B675-B3CD-49AE-9930-9A07553C828F}" type="pres">
      <dgm:prSet presAssocID="{2CDC857F-CD53-434A-8134-C36FC3A218C6}" presName="Image" presStyleLbl="bgShp" presStyleIdx="0" presStyleCnt="3"/>
      <dgm:spPr>
        <a:blipFill>
          <a:blip xmlns:r="http://schemas.openxmlformats.org/officeDocument/2006/relationships" r:embed="rId1"/>
          <a:srcRect/>
          <a:stretch>
            <a:fillRect l="-6000" r="-6000"/>
          </a:stretch>
        </a:blipFill>
      </dgm:spPr>
    </dgm:pt>
    <dgm:pt modelId="{8C7E96BA-7782-46A2-AC80-B1929C63AB29}" type="pres">
      <dgm:prSet presAssocID="{2CDC857F-CD53-434A-8134-C36FC3A218C6}" presName="Parent" presStyleLbl="node0" presStyleIdx="0" presStyleCnt="3" custScaleY="198133" custLinFactNeighborX="15495" custLinFactNeighborY="75279">
        <dgm:presLayoutVars>
          <dgm:bulletEnabled val="1"/>
        </dgm:presLayoutVars>
      </dgm:prSet>
      <dgm:spPr/>
    </dgm:pt>
    <dgm:pt modelId="{C364EC1F-119E-4CA8-A9EC-26971ED17036}" type="pres">
      <dgm:prSet presAssocID="{335CF752-1CBC-4ACB-A8B6-4D4F8FBBB861}" presName="sibTrans" presStyleCnt="0"/>
      <dgm:spPr/>
    </dgm:pt>
    <dgm:pt modelId="{116A0B35-DAE9-444A-AA35-62FDDDF9B98D}" type="pres">
      <dgm:prSet presAssocID="{A05D397A-2AF7-4D14-B848-1509ECCC7AD7}" presName="composite" presStyleCnt="0"/>
      <dgm:spPr/>
    </dgm:pt>
    <dgm:pt modelId="{B768949A-A4D3-473E-ADD6-FB1636B5EFCF}" type="pres">
      <dgm:prSet presAssocID="{A05D397A-2AF7-4D14-B848-1509ECCC7AD7}" presName="Image" presStyleLbl="bgShp" presStyleIdx="1" presStyleCnt="3"/>
      <dgm:spPr>
        <a:blipFill>
          <a:blip xmlns:r="http://schemas.openxmlformats.org/officeDocument/2006/relationships" r:embed="rId2"/>
          <a:srcRect/>
          <a:stretch>
            <a:fillRect l="-12000" r="-12000"/>
          </a:stretch>
        </a:blipFill>
      </dgm:spPr>
    </dgm:pt>
    <dgm:pt modelId="{6C1F774D-D8A3-49FF-920E-75AC557C0D98}" type="pres">
      <dgm:prSet presAssocID="{A05D397A-2AF7-4D14-B848-1509ECCC7AD7}" presName="Parent" presStyleLbl="node0" presStyleIdx="1" presStyleCnt="3" custScaleY="198133" custLinFactNeighborX="15495" custLinFactNeighborY="75279">
        <dgm:presLayoutVars>
          <dgm:bulletEnabled val="1"/>
        </dgm:presLayoutVars>
      </dgm:prSet>
      <dgm:spPr/>
    </dgm:pt>
    <dgm:pt modelId="{0B540264-A71F-4B19-9DB1-D41E14466951}" type="pres">
      <dgm:prSet presAssocID="{0C3E771E-DF5B-4748-ACB2-112868E59CDB}" presName="sibTrans" presStyleCnt="0"/>
      <dgm:spPr/>
    </dgm:pt>
    <dgm:pt modelId="{261BFEFC-6251-481E-B125-47927218FFEE}" type="pres">
      <dgm:prSet presAssocID="{F79EAA3D-3311-445B-B408-24A11E568811}" presName="composite" presStyleCnt="0"/>
      <dgm:spPr/>
    </dgm:pt>
    <dgm:pt modelId="{33F58831-8DA6-4A33-B4BE-67CEA36C859D}" type="pres">
      <dgm:prSet presAssocID="{F79EAA3D-3311-445B-B408-24A11E568811}" presName="Image" presStyleLbl="bgShp" presStyleIdx="2" presStyleCnt="3"/>
      <dgm:spPr>
        <a:blipFill>
          <a:blip xmlns:r="http://schemas.openxmlformats.org/officeDocument/2006/relationships" r:embed="rId3"/>
          <a:srcRect/>
          <a:stretch>
            <a:fillRect t="-40000" b="-40000"/>
          </a:stretch>
        </a:blipFill>
      </dgm:spPr>
    </dgm:pt>
    <dgm:pt modelId="{8BCBD014-7EA5-493A-A6A8-F9FD4FB0DE6A}" type="pres">
      <dgm:prSet presAssocID="{F79EAA3D-3311-445B-B408-24A11E568811}" presName="Parent" presStyleLbl="node0" presStyleIdx="2" presStyleCnt="3" custScaleY="198133" custLinFactNeighborX="15240" custLinFactNeighborY="75279">
        <dgm:presLayoutVars>
          <dgm:bulletEnabled val="1"/>
        </dgm:presLayoutVars>
      </dgm:prSet>
      <dgm:spPr/>
    </dgm:pt>
  </dgm:ptLst>
  <dgm:cxnLst>
    <dgm:cxn modelId="{E3B3A300-B8EF-4D8D-8F3B-25D296441566}" srcId="{24263E0C-D345-49EE-9980-37D309607C32}" destId="{F79EAA3D-3311-445B-B408-24A11E568811}" srcOrd="2" destOrd="0" parTransId="{0B5CF4CB-00E8-4000-9D2C-A47E06EBB7E0}" sibTransId="{3E929239-C682-41C5-ABDF-DE9C8AA5D32B}"/>
    <dgm:cxn modelId="{7E589E36-AB74-4710-8D52-26E11C93CDF7}" type="presOf" srcId="{24263E0C-D345-49EE-9980-37D309607C32}" destId="{C5419239-9AC8-40F2-823F-418B9418ADAE}" srcOrd="0" destOrd="0" presId="urn:microsoft.com/office/officeart/2008/layout/BendingPictureCaption"/>
    <dgm:cxn modelId="{79690A64-0ECA-4D30-9518-0EE397B038A7}" srcId="{24263E0C-D345-49EE-9980-37D309607C32}" destId="{A05D397A-2AF7-4D14-B848-1509ECCC7AD7}" srcOrd="1" destOrd="0" parTransId="{D5869D98-BD9B-4626-BEA1-1099064573DD}" sibTransId="{0C3E771E-DF5B-4748-ACB2-112868E59CDB}"/>
    <dgm:cxn modelId="{7182E86A-DC72-484E-8F29-09CDB27EA8D0}" srcId="{24263E0C-D345-49EE-9980-37D309607C32}" destId="{2CDC857F-CD53-434A-8134-C36FC3A218C6}" srcOrd="0" destOrd="0" parTransId="{E6327566-0E11-4EF9-BFFD-BC4337D2CD6F}" sibTransId="{335CF752-1CBC-4ACB-A8B6-4D4F8FBBB861}"/>
    <dgm:cxn modelId="{9313C587-D8F2-4E11-91EE-A2CFA170E5F9}" type="presOf" srcId="{A05D397A-2AF7-4D14-B848-1509ECCC7AD7}" destId="{6C1F774D-D8A3-49FF-920E-75AC557C0D98}" srcOrd="0" destOrd="0" presId="urn:microsoft.com/office/officeart/2008/layout/BendingPictureCaption"/>
    <dgm:cxn modelId="{374591C9-8195-41F8-88CA-E533207D4578}" type="presOf" srcId="{2CDC857F-CD53-434A-8134-C36FC3A218C6}" destId="{8C7E96BA-7782-46A2-AC80-B1929C63AB29}" srcOrd="0" destOrd="0" presId="urn:microsoft.com/office/officeart/2008/layout/BendingPictureCaption"/>
    <dgm:cxn modelId="{59A86CD3-6801-418D-AC9D-EED67DBC3185}" type="presOf" srcId="{F79EAA3D-3311-445B-B408-24A11E568811}" destId="{8BCBD014-7EA5-493A-A6A8-F9FD4FB0DE6A}" srcOrd="0" destOrd="0" presId="urn:microsoft.com/office/officeart/2008/layout/BendingPictureCaption"/>
    <dgm:cxn modelId="{A7260711-B241-459A-9878-4319A7362E8B}" type="presParOf" srcId="{C5419239-9AC8-40F2-823F-418B9418ADAE}" destId="{AA4A24D8-6159-4A28-B46D-0799FC084D84}" srcOrd="0" destOrd="0" presId="urn:microsoft.com/office/officeart/2008/layout/BendingPictureCaption"/>
    <dgm:cxn modelId="{2CEDE681-90DE-4462-BECE-3A285F1E4073}" type="presParOf" srcId="{AA4A24D8-6159-4A28-B46D-0799FC084D84}" destId="{5B97B675-B3CD-49AE-9930-9A07553C828F}" srcOrd="0" destOrd="0" presId="urn:microsoft.com/office/officeart/2008/layout/BendingPictureCaption"/>
    <dgm:cxn modelId="{7C06278A-ABDE-400E-B186-A5C879AE744B}" type="presParOf" srcId="{AA4A24D8-6159-4A28-B46D-0799FC084D84}" destId="{8C7E96BA-7782-46A2-AC80-B1929C63AB29}" srcOrd="1" destOrd="0" presId="urn:microsoft.com/office/officeart/2008/layout/BendingPictureCaption"/>
    <dgm:cxn modelId="{10FE6BE1-18C4-4B2F-A193-0EF3602886D3}" type="presParOf" srcId="{C5419239-9AC8-40F2-823F-418B9418ADAE}" destId="{C364EC1F-119E-4CA8-A9EC-26971ED17036}" srcOrd="1" destOrd="0" presId="urn:microsoft.com/office/officeart/2008/layout/BendingPictureCaption"/>
    <dgm:cxn modelId="{58F3D96A-915A-4EBB-968C-94D90386ADA6}" type="presParOf" srcId="{C5419239-9AC8-40F2-823F-418B9418ADAE}" destId="{116A0B35-DAE9-444A-AA35-62FDDDF9B98D}" srcOrd="2" destOrd="0" presId="urn:microsoft.com/office/officeart/2008/layout/BendingPictureCaption"/>
    <dgm:cxn modelId="{DF4784E9-66DD-47AD-89CB-C0FCA7542F13}" type="presParOf" srcId="{116A0B35-DAE9-444A-AA35-62FDDDF9B98D}" destId="{B768949A-A4D3-473E-ADD6-FB1636B5EFCF}" srcOrd="0" destOrd="0" presId="urn:microsoft.com/office/officeart/2008/layout/BendingPictureCaption"/>
    <dgm:cxn modelId="{287B28F9-8986-4DC6-B897-8BD2C708CD85}" type="presParOf" srcId="{116A0B35-DAE9-444A-AA35-62FDDDF9B98D}" destId="{6C1F774D-D8A3-49FF-920E-75AC557C0D98}" srcOrd="1" destOrd="0" presId="urn:microsoft.com/office/officeart/2008/layout/BendingPictureCaption"/>
    <dgm:cxn modelId="{D8A381A1-C59A-4015-9909-AA932F6868D2}" type="presParOf" srcId="{C5419239-9AC8-40F2-823F-418B9418ADAE}" destId="{0B540264-A71F-4B19-9DB1-D41E14466951}" srcOrd="3" destOrd="0" presId="urn:microsoft.com/office/officeart/2008/layout/BendingPictureCaption"/>
    <dgm:cxn modelId="{4C26F078-EFBF-4E7B-8BD4-8F7C0D7BB680}" type="presParOf" srcId="{C5419239-9AC8-40F2-823F-418B9418ADAE}" destId="{261BFEFC-6251-481E-B125-47927218FFEE}" srcOrd="4" destOrd="0" presId="urn:microsoft.com/office/officeart/2008/layout/BendingPictureCaption"/>
    <dgm:cxn modelId="{CBC47952-EF8C-4549-8059-5C576E626AB7}" type="presParOf" srcId="{261BFEFC-6251-481E-B125-47927218FFEE}" destId="{33F58831-8DA6-4A33-B4BE-67CEA36C859D}" srcOrd="0" destOrd="0" presId="urn:microsoft.com/office/officeart/2008/layout/BendingPictureCaption"/>
    <dgm:cxn modelId="{2499283D-59DF-42A0-9DB7-CF78CCA10E1F}" type="presParOf" srcId="{261BFEFC-6251-481E-B125-47927218FFEE}" destId="{8BCBD014-7EA5-493A-A6A8-F9FD4FB0DE6A}"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263E0C-D345-49EE-9980-37D309607C32}" type="doc">
      <dgm:prSet loTypeId="urn:microsoft.com/office/officeart/2008/layout/BendingPictureCaption" loCatId="picture" qsTypeId="urn:microsoft.com/office/officeart/2005/8/quickstyle/simple1" qsCatId="simple" csTypeId="urn:microsoft.com/office/officeart/2005/8/colors/accent3_1" csCatId="accent3" phldr="1"/>
      <dgm:spPr/>
      <dgm:t>
        <a:bodyPr/>
        <a:lstStyle/>
        <a:p>
          <a:endParaRPr lang="nb-NO"/>
        </a:p>
      </dgm:t>
    </dgm:pt>
    <dgm:pt modelId="{2CDC857F-CD53-434A-8134-C36FC3A218C6}">
      <dgm:prSet phldrT="[Tekst]" custT="1"/>
      <dgm:spPr/>
      <dgm:t>
        <a:bodyPr/>
        <a:lstStyle/>
        <a:p>
          <a:r>
            <a:rPr lang="nb-NO" sz="2000">
              <a:latin typeface="+mn-lt"/>
            </a:rPr>
            <a:t>Oslo</a:t>
          </a:r>
        </a:p>
        <a:p>
          <a:r>
            <a:rPr lang="nb-NO" sz="1000">
              <a:latin typeface="+mn-lt"/>
              <a:cs typeface="Arial" panose="020B0604020202020204" pitchFamily="34" charset="0"/>
            </a:rPr>
            <a:t>Frøyas gate 15</a:t>
          </a:r>
        </a:p>
        <a:p>
          <a:r>
            <a:rPr lang="nb-NO" sz="1000">
              <a:latin typeface="+mn-lt"/>
              <a:cs typeface="Arial" panose="020B0604020202020204" pitchFamily="34" charset="0"/>
            </a:rPr>
            <a:t>0273 Oslo</a:t>
          </a:r>
        </a:p>
        <a:p>
          <a:r>
            <a:rPr lang="nb-NO" sz="1000">
              <a:latin typeface="+mn-lt"/>
              <a:cs typeface="Arial" panose="020B0604020202020204" pitchFamily="34" charset="0"/>
            </a:rPr>
            <a:t>+47 23 89 68 44</a:t>
          </a:r>
          <a:endParaRPr lang="nb-NO" sz="1000">
            <a:latin typeface="+mn-lt"/>
          </a:endParaRPr>
        </a:p>
      </dgm:t>
    </dgm:pt>
    <dgm:pt modelId="{E6327566-0E11-4EF9-BFFD-BC4337D2CD6F}" type="parTrans" cxnId="{7182E86A-DC72-484E-8F29-09CDB27EA8D0}">
      <dgm:prSet/>
      <dgm:spPr/>
      <dgm:t>
        <a:bodyPr/>
        <a:lstStyle/>
        <a:p>
          <a:endParaRPr lang="nb-NO">
            <a:latin typeface="+mn-lt"/>
          </a:endParaRPr>
        </a:p>
      </dgm:t>
    </dgm:pt>
    <dgm:pt modelId="{335CF752-1CBC-4ACB-A8B6-4D4F8FBBB861}" type="sibTrans" cxnId="{7182E86A-DC72-484E-8F29-09CDB27EA8D0}">
      <dgm:prSet/>
      <dgm:spPr/>
      <dgm:t>
        <a:bodyPr/>
        <a:lstStyle/>
        <a:p>
          <a:endParaRPr lang="nb-NO">
            <a:latin typeface="+mn-lt"/>
          </a:endParaRPr>
        </a:p>
      </dgm:t>
    </dgm:pt>
    <dgm:pt modelId="{A05D397A-2AF7-4D14-B848-1509ECCC7AD7}">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gm:t>
    </dgm:pt>
    <dgm:pt modelId="{D5869D98-BD9B-4626-BEA1-1099064573DD}" type="parTrans" cxnId="{79690A64-0ECA-4D30-9518-0EE397B038A7}">
      <dgm:prSet/>
      <dgm:spPr/>
      <dgm:t>
        <a:bodyPr/>
        <a:lstStyle/>
        <a:p>
          <a:endParaRPr lang="nb-NO">
            <a:latin typeface="+mn-lt"/>
          </a:endParaRPr>
        </a:p>
      </dgm:t>
    </dgm:pt>
    <dgm:pt modelId="{0C3E771E-DF5B-4748-ACB2-112868E59CDB}" type="sibTrans" cxnId="{79690A64-0ECA-4D30-9518-0EE397B038A7}">
      <dgm:prSet/>
      <dgm:spPr/>
      <dgm:t>
        <a:bodyPr/>
        <a:lstStyle/>
        <a:p>
          <a:endParaRPr lang="nb-NO">
            <a:latin typeface="+mn-lt"/>
          </a:endParaRPr>
        </a:p>
      </dgm:t>
    </dgm:pt>
    <dgm:pt modelId="{F780ABDC-6FF6-4C0B-A22B-BD48DC2B611F}">
      <dgm:prSet phldrT="[Tekst]" custT="1"/>
      <dgm:spPr/>
      <dgm:t>
        <a:bodyPr/>
        <a:lstStyle/>
        <a:p>
          <a:pPr marL="0" lvl="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Open Sans Regular"/>
              <a:ea typeface="+mn-ea"/>
              <a:cs typeface="+mn-cs"/>
            </a:rPr>
            <a:t>Stavanger</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Løkkeveien 107 </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(Smedvigkvartalet)</a:t>
          </a:r>
        </a:p>
        <a:p>
          <a:pPr marL="0" lvl="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endParaRPr lang="nb-NO" sz="1000" kern="1200">
            <a:solidFill>
              <a:srgbClr val="0D2841">
                <a:hueOff val="0"/>
                <a:satOff val="0"/>
                <a:lumOff val="0"/>
                <a:alphaOff val="0"/>
              </a:srgbClr>
            </a:solidFill>
            <a:latin typeface="Open Sans Regular"/>
            <a:ea typeface="+mn-ea"/>
            <a:cs typeface="+mn-cs"/>
          </a:endParaRPr>
        </a:p>
      </dgm:t>
    </dgm:pt>
    <dgm:pt modelId="{D974B142-132F-4D7A-BD77-E02955BAEDD0}" type="parTrans" cxnId="{FE6E00F9-66F3-48FE-AC73-283F7D324416}">
      <dgm:prSet/>
      <dgm:spPr/>
      <dgm:t>
        <a:bodyPr/>
        <a:lstStyle/>
        <a:p>
          <a:endParaRPr lang="nb-NO"/>
        </a:p>
      </dgm:t>
    </dgm:pt>
    <dgm:pt modelId="{066D846C-DFB6-4E9A-AF8F-53B5E58A922C}" type="sibTrans" cxnId="{FE6E00F9-66F3-48FE-AC73-283F7D324416}">
      <dgm:prSet/>
      <dgm:spPr/>
      <dgm:t>
        <a:bodyPr/>
        <a:lstStyle/>
        <a:p>
          <a:endParaRPr lang="nb-NO"/>
        </a:p>
      </dgm:t>
    </dgm:pt>
    <dgm:pt modelId="{C5419239-9AC8-40F2-823F-418B9418ADAE}" type="pres">
      <dgm:prSet presAssocID="{24263E0C-D345-49EE-9980-37D309607C32}" presName="diagram" presStyleCnt="0">
        <dgm:presLayoutVars>
          <dgm:dir/>
        </dgm:presLayoutVars>
      </dgm:prSet>
      <dgm:spPr/>
    </dgm:pt>
    <dgm:pt modelId="{AA4A24D8-6159-4A28-B46D-0799FC084D84}" type="pres">
      <dgm:prSet presAssocID="{2CDC857F-CD53-434A-8134-C36FC3A218C6}" presName="composite" presStyleCnt="0"/>
      <dgm:spPr/>
    </dgm:pt>
    <dgm:pt modelId="{5B97B675-B3CD-49AE-9930-9A07553C828F}" type="pres">
      <dgm:prSet presAssocID="{2CDC857F-CD53-434A-8134-C36FC3A218C6}" presName="Image" presStyleLbl="bgShp" presStyleIdx="0" presStyleCnt="3"/>
      <dgm:spPr>
        <a:prstGeom prst="roundRect">
          <a:avLst/>
        </a:prstGeom>
        <a:blipFill>
          <a:blip xmlns:r="http://schemas.openxmlformats.org/officeDocument/2006/relationships" r:embed="rId1"/>
          <a:srcRect/>
          <a:stretch>
            <a:fillRect l="-6000" r="-6000"/>
          </a:stretch>
        </a:blipFill>
      </dgm:spPr>
    </dgm:pt>
    <dgm:pt modelId="{8C7E96BA-7782-46A2-AC80-B1929C63AB29}" type="pres">
      <dgm:prSet presAssocID="{2CDC857F-CD53-434A-8134-C36FC3A218C6}" presName="Parent" presStyleLbl="node0" presStyleIdx="0" presStyleCnt="3" custScaleX="67969" custScaleY="158440" custLinFactNeighborX="15495" custLinFactNeighborY="75279">
        <dgm:presLayoutVars>
          <dgm:bulletEnabled val="1"/>
        </dgm:presLayoutVars>
      </dgm:prSet>
      <dgm:spPr>
        <a:prstGeom prst="roundRect">
          <a:avLst/>
        </a:prstGeom>
      </dgm:spPr>
    </dgm:pt>
    <dgm:pt modelId="{C364EC1F-119E-4CA8-A9EC-26971ED17036}" type="pres">
      <dgm:prSet presAssocID="{335CF752-1CBC-4ACB-A8B6-4D4F8FBBB861}" presName="sibTrans" presStyleCnt="0"/>
      <dgm:spPr/>
    </dgm:pt>
    <dgm:pt modelId="{116A0B35-DAE9-444A-AA35-62FDDDF9B98D}" type="pres">
      <dgm:prSet presAssocID="{A05D397A-2AF7-4D14-B848-1509ECCC7AD7}" presName="composite" presStyleCnt="0"/>
      <dgm:spPr/>
    </dgm:pt>
    <dgm:pt modelId="{B768949A-A4D3-473E-ADD6-FB1636B5EFCF}" type="pres">
      <dgm:prSet presAssocID="{A05D397A-2AF7-4D14-B848-1509ECCC7AD7}" presName="Image" presStyleLbl="bgShp" presStyleIdx="1" presStyleCnt="3"/>
      <dgm:spPr>
        <a:prstGeom prst="roundRect">
          <a:avLst/>
        </a:prstGeom>
        <a:blipFill>
          <a:blip xmlns:r="http://schemas.openxmlformats.org/officeDocument/2006/relationships" r:embed="rId2"/>
          <a:srcRect/>
          <a:stretch>
            <a:fillRect l="-7000" r="-7000"/>
          </a:stretch>
        </a:blipFill>
      </dgm:spPr>
    </dgm:pt>
    <dgm:pt modelId="{6C1F774D-D8A3-49FF-920E-75AC557C0D98}" type="pres">
      <dgm:prSet presAssocID="{A05D397A-2AF7-4D14-B848-1509ECCC7AD7}" presName="Parent" presStyleLbl="node0" presStyleIdx="1" presStyleCnt="3" custScaleX="67969" custScaleY="158440" custLinFactNeighborX="15495" custLinFactNeighborY="75279">
        <dgm:presLayoutVars>
          <dgm:bulletEnabled val="1"/>
        </dgm:presLayoutVars>
      </dgm:prSet>
      <dgm:spPr>
        <a:prstGeom prst="roundRect">
          <a:avLst/>
        </a:prstGeom>
      </dgm:spPr>
    </dgm:pt>
    <dgm:pt modelId="{92913FA0-54DD-4F49-91BD-A57766C48BC4}" type="pres">
      <dgm:prSet presAssocID="{0C3E771E-DF5B-4748-ACB2-112868E59CDB}" presName="sibTrans" presStyleCnt="0"/>
      <dgm:spPr/>
    </dgm:pt>
    <dgm:pt modelId="{BD1D5E37-7866-4300-BBAF-1B68FE532F9F}" type="pres">
      <dgm:prSet presAssocID="{F780ABDC-6FF6-4C0B-A22B-BD48DC2B611F}" presName="composite" presStyleCnt="0"/>
      <dgm:spPr/>
    </dgm:pt>
    <dgm:pt modelId="{D1BA9EDB-5ED0-43AD-955B-8A7AE49B7D31}" type="pres">
      <dgm:prSet presAssocID="{F780ABDC-6FF6-4C0B-A22B-BD48DC2B611F}" presName="Image" presStyleLbl="bgShp" presStyleIdx="2" presStyleCnt="3" custScaleY="102170" custLinFactNeighborX="-1381" custLinFactNeighborY="-1122"/>
      <dgm:spPr>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7000" r="-27000"/>
          </a:stretch>
        </a:blipFill>
      </dgm:spPr>
    </dgm:pt>
    <dgm:pt modelId="{7D4FBBBA-931C-4116-B15F-07DE2AED530F}" type="pres">
      <dgm:prSet presAssocID="{F780ABDC-6FF6-4C0B-A22B-BD48DC2B611F}" presName="Parent" presStyleLbl="node0" presStyleIdx="2" presStyleCnt="3" custScaleX="73110" custScaleY="155707" custLinFactNeighborX="3616" custLinFactNeighborY="72028">
        <dgm:presLayoutVars>
          <dgm:bulletEnabled val="1"/>
        </dgm:presLayoutVars>
      </dgm:prSet>
      <dgm:spPr>
        <a:prstGeom prst="roundRect">
          <a:avLst/>
        </a:prstGeom>
      </dgm:spPr>
    </dgm:pt>
  </dgm:ptLst>
  <dgm:cxnLst>
    <dgm:cxn modelId="{7E589E36-AB74-4710-8D52-26E11C93CDF7}" type="presOf" srcId="{24263E0C-D345-49EE-9980-37D309607C32}" destId="{C5419239-9AC8-40F2-823F-418B9418ADAE}" srcOrd="0" destOrd="0" presId="urn:microsoft.com/office/officeart/2008/layout/BendingPictureCaption"/>
    <dgm:cxn modelId="{79690A64-0ECA-4D30-9518-0EE397B038A7}" srcId="{24263E0C-D345-49EE-9980-37D309607C32}" destId="{A05D397A-2AF7-4D14-B848-1509ECCC7AD7}" srcOrd="1" destOrd="0" parTransId="{D5869D98-BD9B-4626-BEA1-1099064573DD}" sibTransId="{0C3E771E-DF5B-4748-ACB2-112868E59CDB}"/>
    <dgm:cxn modelId="{7182E86A-DC72-484E-8F29-09CDB27EA8D0}" srcId="{24263E0C-D345-49EE-9980-37D309607C32}" destId="{2CDC857F-CD53-434A-8134-C36FC3A218C6}" srcOrd="0" destOrd="0" parTransId="{E6327566-0E11-4EF9-BFFD-BC4337D2CD6F}" sibTransId="{335CF752-1CBC-4ACB-A8B6-4D4F8FBBB861}"/>
    <dgm:cxn modelId="{9313C587-D8F2-4E11-91EE-A2CFA170E5F9}" type="presOf" srcId="{A05D397A-2AF7-4D14-B848-1509ECCC7AD7}" destId="{6C1F774D-D8A3-49FF-920E-75AC557C0D98}" srcOrd="0" destOrd="0" presId="urn:microsoft.com/office/officeart/2008/layout/BendingPictureCaption"/>
    <dgm:cxn modelId="{374591C9-8195-41F8-88CA-E533207D4578}" type="presOf" srcId="{2CDC857F-CD53-434A-8134-C36FC3A218C6}" destId="{8C7E96BA-7782-46A2-AC80-B1929C63AB29}" srcOrd="0" destOrd="0" presId="urn:microsoft.com/office/officeart/2008/layout/BendingPictureCaption"/>
    <dgm:cxn modelId="{E48D3AD3-C8F2-4C90-B7D3-B587A33CD4EE}" type="presOf" srcId="{F780ABDC-6FF6-4C0B-A22B-BD48DC2B611F}" destId="{7D4FBBBA-931C-4116-B15F-07DE2AED530F}" srcOrd="0" destOrd="0" presId="urn:microsoft.com/office/officeart/2008/layout/BendingPictureCaption"/>
    <dgm:cxn modelId="{FE6E00F9-66F3-48FE-AC73-283F7D324416}" srcId="{24263E0C-D345-49EE-9980-37D309607C32}" destId="{F780ABDC-6FF6-4C0B-A22B-BD48DC2B611F}" srcOrd="2" destOrd="0" parTransId="{D974B142-132F-4D7A-BD77-E02955BAEDD0}" sibTransId="{066D846C-DFB6-4E9A-AF8F-53B5E58A922C}"/>
    <dgm:cxn modelId="{A7260711-B241-459A-9878-4319A7362E8B}" type="presParOf" srcId="{C5419239-9AC8-40F2-823F-418B9418ADAE}" destId="{AA4A24D8-6159-4A28-B46D-0799FC084D84}" srcOrd="0" destOrd="0" presId="urn:microsoft.com/office/officeart/2008/layout/BendingPictureCaption"/>
    <dgm:cxn modelId="{2CEDE681-90DE-4462-BECE-3A285F1E4073}" type="presParOf" srcId="{AA4A24D8-6159-4A28-B46D-0799FC084D84}" destId="{5B97B675-B3CD-49AE-9930-9A07553C828F}" srcOrd="0" destOrd="0" presId="urn:microsoft.com/office/officeart/2008/layout/BendingPictureCaption"/>
    <dgm:cxn modelId="{7C06278A-ABDE-400E-B186-A5C879AE744B}" type="presParOf" srcId="{AA4A24D8-6159-4A28-B46D-0799FC084D84}" destId="{8C7E96BA-7782-46A2-AC80-B1929C63AB29}" srcOrd="1" destOrd="0" presId="urn:microsoft.com/office/officeart/2008/layout/BendingPictureCaption"/>
    <dgm:cxn modelId="{10FE6BE1-18C4-4B2F-A193-0EF3602886D3}" type="presParOf" srcId="{C5419239-9AC8-40F2-823F-418B9418ADAE}" destId="{C364EC1F-119E-4CA8-A9EC-26971ED17036}" srcOrd="1" destOrd="0" presId="urn:microsoft.com/office/officeart/2008/layout/BendingPictureCaption"/>
    <dgm:cxn modelId="{58F3D96A-915A-4EBB-968C-94D90386ADA6}" type="presParOf" srcId="{C5419239-9AC8-40F2-823F-418B9418ADAE}" destId="{116A0B35-DAE9-444A-AA35-62FDDDF9B98D}" srcOrd="2" destOrd="0" presId="urn:microsoft.com/office/officeart/2008/layout/BendingPictureCaption"/>
    <dgm:cxn modelId="{DF4784E9-66DD-47AD-89CB-C0FCA7542F13}" type="presParOf" srcId="{116A0B35-DAE9-444A-AA35-62FDDDF9B98D}" destId="{B768949A-A4D3-473E-ADD6-FB1636B5EFCF}" srcOrd="0" destOrd="0" presId="urn:microsoft.com/office/officeart/2008/layout/BendingPictureCaption"/>
    <dgm:cxn modelId="{287B28F9-8986-4DC6-B897-8BD2C708CD85}" type="presParOf" srcId="{116A0B35-DAE9-444A-AA35-62FDDDF9B98D}" destId="{6C1F774D-D8A3-49FF-920E-75AC557C0D98}" srcOrd="1" destOrd="0" presId="urn:microsoft.com/office/officeart/2008/layout/BendingPictureCaption"/>
    <dgm:cxn modelId="{DC78C41E-0960-447E-A00C-A6D9403DE1FE}" type="presParOf" srcId="{C5419239-9AC8-40F2-823F-418B9418ADAE}" destId="{92913FA0-54DD-4F49-91BD-A57766C48BC4}" srcOrd="3" destOrd="0" presId="urn:microsoft.com/office/officeart/2008/layout/BendingPictureCaption"/>
    <dgm:cxn modelId="{5D89BE04-74E8-4CF1-9209-D876C5C882DF}" type="presParOf" srcId="{C5419239-9AC8-40F2-823F-418B9418ADAE}" destId="{BD1D5E37-7866-4300-BBAF-1B68FE532F9F}" srcOrd="4" destOrd="0" presId="urn:microsoft.com/office/officeart/2008/layout/BendingPictureCaption"/>
    <dgm:cxn modelId="{2B97D201-F40F-44E2-8DED-A0EA29CEB7E5}" type="presParOf" srcId="{BD1D5E37-7866-4300-BBAF-1B68FE532F9F}" destId="{D1BA9EDB-5ED0-43AD-955B-8A7AE49B7D31}" srcOrd="0" destOrd="0" presId="urn:microsoft.com/office/officeart/2008/layout/BendingPictureCaption"/>
    <dgm:cxn modelId="{6D2774BB-2189-41DB-8B92-7F3E6C57B9C6}" type="presParOf" srcId="{BD1D5E37-7866-4300-BBAF-1B68FE532F9F}" destId="{7D4FBBBA-931C-4116-B15F-07DE2AED530F}" srcOrd="1" destOrd="0" presId="urn:microsoft.com/office/officeart/2008/layout/BendingPictureCaption"/>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7B675-B3CD-49AE-9930-9A07553C828F}">
      <dsp:nvSpPr>
        <dsp:cNvPr id="0" name=""/>
        <dsp:cNvSpPr/>
      </dsp:nvSpPr>
      <dsp:spPr>
        <a:xfrm>
          <a:off x="6173" y="531831"/>
          <a:ext cx="2700925" cy="1995973"/>
        </a:xfrm>
        <a:prstGeom prst="rect">
          <a:avLst/>
        </a:prstGeom>
        <a:blipFill>
          <a:blip xmlns:r="http://schemas.openxmlformats.org/officeDocument/2006/relationships" r:embed="rId1"/>
          <a:srcRect/>
          <a:stretch>
            <a:fillRect l="-6000" r="-6000"/>
          </a:stretch>
        </a:blipFill>
        <a:ln>
          <a:noFill/>
        </a:ln>
        <a:effectLst/>
      </dsp:spPr>
      <dsp:style>
        <a:lnRef idx="0">
          <a:scrgbClr r="0" g="0" b="0"/>
        </a:lnRef>
        <a:fillRef idx="1">
          <a:scrgbClr r="0" g="0" b="0"/>
        </a:fillRef>
        <a:effectRef idx="0">
          <a:scrgbClr r="0" g="0" b="0"/>
        </a:effectRef>
        <a:fontRef idx="minor"/>
      </dsp:style>
    </dsp:sp>
    <dsp:sp modelId="{8C7E96BA-7782-46A2-AC80-B1929C63AB29}">
      <dsp:nvSpPr>
        <dsp:cNvPr id="0" name=""/>
        <dsp:cNvSpPr/>
      </dsp:nvSpPr>
      <dsp:spPr>
        <a:xfrm>
          <a:off x="912735"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Frøyas gate 15</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0273 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+47 23 89 68 44</a:t>
          </a:r>
          <a:endParaRPr lang="nb-NO" sz="1000" kern="1200">
            <a:latin typeface="+mn-lt"/>
          </a:endParaRPr>
        </a:p>
      </dsp:txBody>
      <dsp:txXfrm>
        <a:off x="912735" y="2312507"/>
        <a:ext cx="2327393" cy="1108180"/>
      </dsp:txXfrm>
    </dsp:sp>
    <dsp:sp modelId="{B768949A-A4D3-473E-ADD6-FB1636B5EFCF}">
      <dsp:nvSpPr>
        <dsp:cNvPr id="0" name=""/>
        <dsp:cNvSpPr/>
      </dsp:nvSpPr>
      <dsp:spPr>
        <a:xfrm>
          <a:off x="3491692" y="531831"/>
          <a:ext cx="2700925" cy="1995973"/>
        </a:xfrm>
        <a:prstGeom prst="rect">
          <a:avLst/>
        </a:prstGeom>
        <a:blipFill>
          <a:blip xmlns:r="http://schemas.openxmlformats.org/officeDocument/2006/relationships" r:embed="rId2"/>
          <a:srcRect/>
          <a:stretch>
            <a:fillRect l="-12000" r="-12000"/>
          </a:stretch>
        </a:blipFill>
        <a:ln>
          <a:noFill/>
        </a:ln>
        <a:effectLst/>
      </dsp:spPr>
      <dsp:style>
        <a:lnRef idx="0">
          <a:scrgbClr r="0" g="0" b="0"/>
        </a:lnRef>
        <a:fillRef idx="1">
          <a:scrgbClr r="0" g="0" b="0"/>
        </a:fillRef>
        <a:effectRef idx="0">
          <a:scrgbClr r="0" g="0" b="0"/>
        </a:effectRef>
        <a:fontRef idx="minor"/>
      </dsp:style>
    </dsp:sp>
    <dsp:sp modelId="{6C1F774D-D8A3-49FF-920E-75AC557C0D98}">
      <dsp:nvSpPr>
        <dsp:cNvPr id="0" name=""/>
        <dsp:cNvSpPr/>
      </dsp:nvSpPr>
      <dsp:spPr>
        <a:xfrm>
          <a:off x="4398253"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sp:txBody>
      <dsp:txXfrm>
        <a:off x="4398253" y="2312507"/>
        <a:ext cx="2327393" cy="1108180"/>
      </dsp:txXfrm>
    </dsp:sp>
    <dsp:sp modelId="{33F58831-8DA6-4A33-B4BE-67CEA36C859D}">
      <dsp:nvSpPr>
        <dsp:cNvPr id="0" name=""/>
        <dsp:cNvSpPr/>
      </dsp:nvSpPr>
      <dsp:spPr>
        <a:xfrm>
          <a:off x="6977211" y="531831"/>
          <a:ext cx="2700925" cy="1995973"/>
        </a:xfrm>
        <a:prstGeom prst="rect">
          <a:avLst/>
        </a:prstGeom>
        <a:blipFill>
          <a:blip xmlns:r="http://schemas.openxmlformats.org/officeDocument/2006/relationships" r:embed="rId3"/>
          <a:srcRect/>
          <a:stretch>
            <a:fillRect t="-40000" b="-40000"/>
          </a:stretch>
        </a:blipFill>
        <a:ln>
          <a:noFill/>
        </a:ln>
        <a:effectLst/>
      </dsp:spPr>
      <dsp:style>
        <a:lnRef idx="0">
          <a:scrgbClr r="0" g="0" b="0"/>
        </a:lnRef>
        <a:fillRef idx="1">
          <a:scrgbClr r="0" g="0" b="0"/>
        </a:fillRef>
        <a:effectRef idx="0">
          <a:scrgbClr r="0" g="0" b="0"/>
        </a:effectRef>
        <a:fontRef idx="minor"/>
      </dsp:style>
    </dsp:sp>
    <dsp:sp modelId="{8BCBD014-7EA5-493A-A6A8-F9FD4FB0DE6A}">
      <dsp:nvSpPr>
        <dsp:cNvPr id="0" name=""/>
        <dsp:cNvSpPr/>
      </dsp:nvSpPr>
      <dsp:spPr>
        <a:xfrm>
          <a:off x="7529316"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Luxemburg</a:t>
          </a:r>
        </a:p>
        <a:p>
          <a:pPr marL="0" lvl="0" indent="0" algn="ctr" defTabSz="889000">
            <a:lnSpc>
              <a:spcPct val="90000"/>
            </a:lnSpc>
            <a:spcBef>
              <a:spcPct val="0"/>
            </a:spcBef>
            <a:spcAft>
              <a:spcPct val="5000"/>
            </a:spcAft>
            <a:buNone/>
          </a:pPr>
          <a:r>
            <a:rPr lang="fr-FR" sz="1000" kern="1200">
              <a:solidFill>
                <a:srgbClr val="123D6A"/>
              </a:solidFill>
              <a:latin typeface="+mn-lt"/>
              <a:cs typeface="Calibri"/>
            </a:rPr>
            <a:t>41 Boulevard Royal  L-2449</a:t>
          </a:r>
          <a:r>
            <a:rPr lang="fr-FR" sz="1000" kern="1200" spc="-85">
              <a:solidFill>
                <a:srgbClr val="123D6A"/>
              </a:solidFill>
              <a:latin typeface="+mn-lt"/>
              <a:cs typeface="Calibri"/>
            </a:rPr>
            <a:t> </a:t>
          </a:r>
          <a:r>
            <a:rPr lang="fr-FR" sz="1000" kern="1200">
              <a:solidFill>
                <a:srgbClr val="123D6A"/>
              </a:solidFill>
              <a:latin typeface="+mn-lt"/>
              <a:cs typeface="Calibri"/>
            </a:rPr>
            <a:t>Luxembourg</a:t>
          </a:r>
          <a:endParaRPr lang="fr-FR" sz="1000" kern="1200">
            <a:latin typeface="+mn-lt"/>
            <a:cs typeface="Calibri"/>
          </a:endParaRPr>
        </a:p>
        <a:p>
          <a:pPr marL="0" lvl="0" indent="0" algn="ctr" defTabSz="889000">
            <a:lnSpc>
              <a:spcPct val="90000"/>
            </a:lnSpc>
            <a:spcBef>
              <a:spcPct val="0"/>
            </a:spcBef>
            <a:spcAft>
              <a:spcPct val="5000"/>
            </a:spcAft>
            <a:buNone/>
          </a:pPr>
          <a:r>
            <a:rPr lang="nb-NO" sz="1000" kern="1200">
              <a:solidFill>
                <a:srgbClr val="123D6A"/>
              </a:solidFill>
              <a:latin typeface="+mn-lt"/>
              <a:cs typeface="Calibri"/>
            </a:rPr>
            <a:t>+352 27 04 25</a:t>
          </a:r>
          <a:r>
            <a:rPr lang="nb-NO" sz="1000" kern="1200" spc="-45">
              <a:solidFill>
                <a:srgbClr val="123D6A"/>
              </a:solidFill>
              <a:latin typeface="+mn-lt"/>
              <a:cs typeface="Calibri"/>
            </a:rPr>
            <a:t> </a:t>
          </a:r>
          <a:r>
            <a:rPr lang="nb-NO" sz="1000" kern="1200">
              <a:solidFill>
                <a:srgbClr val="123D6A"/>
              </a:solidFill>
              <a:latin typeface="+mn-lt"/>
              <a:cs typeface="Calibri"/>
            </a:rPr>
            <a:t>22</a:t>
          </a:r>
          <a:endParaRPr lang="nb-NO" sz="1000" kern="1200">
            <a:latin typeface="+mn-lt"/>
          </a:endParaRPr>
        </a:p>
      </dsp:txBody>
      <dsp:txXfrm>
        <a:off x="7529316" y="2312507"/>
        <a:ext cx="2327393" cy="11081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7B675-B3CD-49AE-9930-9A07553C828F}">
      <dsp:nvSpPr>
        <dsp:cNvPr id="0" name=""/>
        <dsp:cNvSpPr/>
      </dsp:nvSpPr>
      <dsp:spPr>
        <a:xfrm>
          <a:off x="6173" y="531831"/>
          <a:ext cx="2700925" cy="1995973"/>
        </a:xfrm>
        <a:prstGeom prst="rect">
          <a:avLst/>
        </a:prstGeom>
        <a:blipFill>
          <a:blip xmlns:r="http://schemas.openxmlformats.org/officeDocument/2006/relationships" r:embed="rId1"/>
          <a:srcRect/>
          <a:stretch>
            <a:fillRect l="-6000" r="-6000"/>
          </a:stretch>
        </a:blipFill>
        <a:ln>
          <a:noFill/>
        </a:ln>
        <a:effectLst/>
      </dsp:spPr>
      <dsp:style>
        <a:lnRef idx="0">
          <a:scrgbClr r="0" g="0" b="0"/>
        </a:lnRef>
        <a:fillRef idx="1">
          <a:scrgbClr r="0" g="0" b="0"/>
        </a:fillRef>
        <a:effectRef idx="0">
          <a:scrgbClr r="0" g="0" b="0"/>
        </a:effectRef>
        <a:fontRef idx="minor"/>
      </dsp:style>
    </dsp:sp>
    <dsp:sp modelId="{8C7E96BA-7782-46A2-AC80-B1929C63AB29}">
      <dsp:nvSpPr>
        <dsp:cNvPr id="0" name=""/>
        <dsp:cNvSpPr/>
      </dsp:nvSpPr>
      <dsp:spPr>
        <a:xfrm>
          <a:off x="912735"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Frøyas gate 15</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0273 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+47 23 89 68 44</a:t>
          </a:r>
          <a:endParaRPr lang="nb-NO" sz="1000" kern="1200">
            <a:latin typeface="+mn-lt"/>
          </a:endParaRPr>
        </a:p>
      </dsp:txBody>
      <dsp:txXfrm>
        <a:off x="912735" y="2312507"/>
        <a:ext cx="2327393" cy="1108180"/>
      </dsp:txXfrm>
    </dsp:sp>
    <dsp:sp modelId="{B768949A-A4D3-473E-ADD6-FB1636B5EFCF}">
      <dsp:nvSpPr>
        <dsp:cNvPr id="0" name=""/>
        <dsp:cNvSpPr/>
      </dsp:nvSpPr>
      <dsp:spPr>
        <a:xfrm>
          <a:off x="3491692" y="531831"/>
          <a:ext cx="2700925" cy="1995973"/>
        </a:xfrm>
        <a:prstGeom prst="rect">
          <a:avLst/>
        </a:prstGeom>
        <a:blipFill>
          <a:blip xmlns:r="http://schemas.openxmlformats.org/officeDocument/2006/relationships" r:embed="rId2"/>
          <a:srcRect/>
          <a:stretch>
            <a:fillRect l="-12000" r="-12000"/>
          </a:stretch>
        </a:blipFill>
        <a:ln>
          <a:noFill/>
        </a:ln>
        <a:effectLst/>
      </dsp:spPr>
      <dsp:style>
        <a:lnRef idx="0">
          <a:scrgbClr r="0" g="0" b="0"/>
        </a:lnRef>
        <a:fillRef idx="1">
          <a:scrgbClr r="0" g="0" b="0"/>
        </a:fillRef>
        <a:effectRef idx="0">
          <a:scrgbClr r="0" g="0" b="0"/>
        </a:effectRef>
        <a:fontRef idx="minor"/>
      </dsp:style>
    </dsp:sp>
    <dsp:sp modelId="{6C1F774D-D8A3-49FF-920E-75AC557C0D98}">
      <dsp:nvSpPr>
        <dsp:cNvPr id="0" name=""/>
        <dsp:cNvSpPr/>
      </dsp:nvSpPr>
      <dsp:spPr>
        <a:xfrm>
          <a:off x="4398253"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sp:txBody>
      <dsp:txXfrm>
        <a:off x="4398253" y="2312507"/>
        <a:ext cx="2327393" cy="1108180"/>
      </dsp:txXfrm>
    </dsp:sp>
    <dsp:sp modelId="{33F58831-8DA6-4A33-B4BE-67CEA36C859D}">
      <dsp:nvSpPr>
        <dsp:cNvPr id="0" name=""/>
        <dsp:cNvSpPr/>
      </dsp:nvSpPr>
      <dsp:spPr>
        <a:xfrm>
          <a:off x="6977211" y="531831"/>
          <a:ext cx="2700925" cy="1995973"/>
        </a:xfrm>
        <a:prstGeom prst="rect">
          <a:avLst/>
        </a:prstGeom>
        <a:blipFill>
          <a:blip xmlns:r="http://schemas.openxmlformats.org/officeDocument/2006/relationships" r:embed="rId3"/>
          <a:srcRect/>
          <a:stretch>
            <a:fillRect t="-40000" b="-40000"/>
          </a:stretch>
        </a:blipFill>
        <a:ln>
          <a:noFill/>
        </a:ln>
        <a:effectLst/>
      </dsp:spPr>
      <dsp:style>
        <a:lnRef idx="0">
          <a:scrgbClr r="0" g="0" b="0"/>
        </a:lnRef>
        <a:fillRef idx="1">
          <a:scrgbClr r="0" g="0" b="0"/>
        </a:fillRef>
        <a:effectRef idx="0">
          <a:scrgbClr r="0" g="0" b="0"/>
        </a:effectRef>
        <a:fontRef idx="minor"/>
      </dsp:style>
    </dsp:sp>
    <dsp:sp modelId="{8BCBD014-7EA5-493A-A6A8-F9FD4FB0DE6A}">
      <dsp:nvSpPr>
        <dsp:cNvPr id="0" name=""/>
        <dsp:cNvSpPr/>
      </dsp:nvSpPr>
      <dsp:spPr>
        <a:xfrm>
          <a:off x="7529316" y="2312507"/>
          <a:ext cx="2327393" cy="110818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Luxemburg</a:t>
          </a:r>
        </a:p>
        <a:p>
          <a:pPr marL="0" lvl="0" indent="0" algn="ctr" defTabSz="889000">
            <a:lnSpc>
              <a:spcPct val="90000"/>
            </a:lnSpc>
            <a:spcBef>
              <a:spcPct val="0"/>
            </a:spcBef>
            <a:spcAft>
              <a:spcPct val="5000"/>
            </a:spcAft>
            <a:buNone/>
          </a:pPr>
          <a:r>
            <a:rPr lang="fr-FR" sz="1000" kern="1200">
              <a:solidFill>
                <a:srgbClr val="123D6A"/>
              </a:solidFill>
              <a:latin typeface="+mn-lt"/>
              <a:cs typeface="Calibri"/>
            </a:rPr>
            <a:t>41 Boulevard Royal  L-2449</a:t>
          </a:r>
          <a:r>
            <a:rPr lang="fr-FR" sz="1000" kern="1200" spc="-85">
              <a:solidFill>
                <a:srgbClr val="123D6A"/>
              </a:solidFill>
              <a:latin typeface="+mn-lt"/>
              <a:cs typeface="Calibri"/>
            </a:rPr>
            <a:t> </a:t>
          </a:r>
          <a:r>
            <a:rPr lang="fr-FR" sz="1000" kern="1200">
              <a:solidFill>
                <a:srgbClr val="123D6A"/>
              </a:solidFill>
              <a:latin typeface="+mn-lt"/>
              <a:cs typeface="Calibri"/>
            </a:rPr>
            <a:t>Luxembourg</a:t>
          </a:r>
          <a:endParaRPr lang="fr-FR" sz="1000" kern="1200">
            <a:latin typeface="+mn-lt"/>
            <a:cs typeface="Calibri"/>
          </a:endParaRPr>
        </a:p>
        <a:p>
          <a:pPr marL="0" lvl="0" indent="0" algn="ctr" defTabSz="889000">
            <a:lnSpc>
              <a:spcPct val="90000"/>
            </a:lnSpc>
            <a:spcBef>
              <a:spcPct val="0"/>
            </a:spcBef>
            <a:spcAft>
              <a:spcPct val="5000"/>
            </a:spcAft>
            <a:buNone/>
          </a:pPr>
          <a:r>
            <a:rPr lang="nb-NO" sz="1000" kern="1200">
              <a:solidFill>
                <a:srgbClr val="123D6A"/>
              </a:solidFill>
              <a:latin typeface="+mn-lt"/>
              <a:cs typeface="Calibri"/>
            </a:rPr>
            <a:t>+352 27 04 25</a:t>
          </a:r>
          <a:r>
            <a:rPr lang="nb-NO" sz="1000" kern="1200" spc="-45">
              <a:solidFill>
                <a:srgbClr val="123D6A"/>
              </a:solidFill>
              <a:latin typeface="+mn-lt"/>
              <a:cs typeface="Calibri"/>
            </a:rPr>
            <a:t> </a:t>
          </a:r>
          <a:r>
            <a:rPr lang="nb-NO" sz="1000" kern="1200">
              <a:solidFill>
                <a:srgbClr val="123D6A"/>
              </a:solidFill>
              <a:latin typeface="+mn-lt"/>
              <a:cs typeface="Calibri"/>
            </a:rPr>
            <a:t>22</a:t>
          </a:r>
          <a:endParaRPr lang="nb-NO" sz="1000" kern="1200">
            <a:latin typeface="+mn-lt"/>
          </a:endParaRPr>
        </a:p>
      </dsp:txBody>
      <dsp:txXfrm>
        <a:off x="7529316" y="2312507"/>
        <a:ext cx="2327393" cy="11081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7B675-B3CD-49AE-9930-9A07553C828F}">
      <dsp:nvSpPr>
        <dsp:cNvPr id="0" name=""/>
        <dsp:cNvSpPr/>
      </dsp:nvSpPr>
      <dsp:spPr>
        <a:xfrm>
          <a:off x="796" y="520631"/>
          <a:ext cx="2853807" cy="2108953"/>
        </a:xfrm>
        <a:prstGeom prst="roundRect">
          <a:avLst/>
        </a:prstGeom>
        <a:blipFill>
          <a:blip xmlns:r="http://schemas.openxmlformats.org/officeDocument/2006/relationships" r:embed="rId1"/>
          <a:srcRect/>
          <a:stretch>
            <a:fillRect l="-6000" r="-6000"/>
          </a:stretch>
        </a:blipFill>
        <a:ln>
          <a:noFill/>
        </a:ln>
        <a:effectLst/>
      </dsp:spPr>
      <dsp:style>
        <a:lnRef idx="0">
          <a:scrgbClr r="0" g="0" b="0"/>
        </a:lnRef>
        <a:fillRef idx="1">
          <a:scrgbClr r="0" g="0" b="0"/>
        </a:fillRef>
        <a:effectRef idx="0">
          <a:scrgbClr r="0" g="0" b="0"/>
        </a:effectRef>
        <a:fontRef idx="minor"/>
      </dsp:style>
    </dsp:sp>
    <dsp:sp modelId="{8C7E96BA-7782-46A2-AC80-B1929C63AB29}">
      <dsp:nvSpPr>
        <dsp:cNvPr id="0" name=""/>
        <dsp:cNvSpPr/>
      </dsp:nvSpPr>
      <dsp:spPr>
        <a:xfrm>
          <a:off x="1352515" y="2519387"/>
          <a:ext cx="1671447" cy="936333"/>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latin typeface="+mn-lt"/>
            </a:rPr>
            <a:t>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Frøyas gate 15</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0273 Oslo</a:t>
          </a:r>
        </a:p>
        <a:p>
          <a:pPr marL="0" lvl="0" indent="0" algn="ctr" defTabSz="889000">
            <a:lnSpc>
              <a:spcPct val="90000"/>
            </a:lnSpc>
            <a:spcBef>
              <a:spcPct val="0"/>
            </a:spcBef>
            <a:spcAft>
              <a:spcPct val="5000"/>
            </a:spcAft>
            <a:buNone/>
          </a:pPr>
          <a:r>
            <a:rPr lang="nb-NO" sz="1000" kern="1200">
              <a:latin typeface="+mn-lt"/>
              <a:cs typeface="Arial" panose="020B0604020202020204" pitchFamily="34" charset="0"/>
            </a:rPr>
            <a:t>+47 23 89 68 44</a:t>
          </a:r>
          <a:endParaRPr lang="nb-NO" sz="1000" kern="1200">
            <a:latin typeface="+mn-lt"/>
          </a:endParaRPr>
        </a:p>
      </dsp:txBody>
      <dsp:txXfrm>
        <a:off x="1398223" y="2565095"/>
        <a:ext cx="1580031" cy="844917"/>
      </dsp:txXfrm>
    </dsp:sp>
    <dsp:sp modelId="{B768949A-A4D3-473E-ADD6-FB1636B5EFCF}">
      <dsp:nvSpPr>
        <dsp:cNvPr id="0" name=""/>
        <dsp:cNvSpPr/>
      </dsp:nvSpPr>
      <dsp:spPr>
        <a:xfrm>
          <a:off x="3501451" y="520631"/>
          <a:ext cx="2853807" cy="2108953"/>
        </a:xfrm>
        <a:prstGeom prst="roundRect">
          <a:avLst/>
        </a:prstGeom>
        <a:blipFill>
          <a:blip xmlns:r="http://schemas.openxmlformats.org/officeDocument/2006/relationships" r:embed="rId2"/>
          <a:srcRect/>
          <a:stretch>
            <a:fillRect l="-7000" r="-7000"/>
          </a:stretch>
        </a:blipFill>
        <a:ln>
          <a:noFill/>
        </a:ln>
        <a:effectLst/>
      </dsp:spPr>
      <dsp:style>
        <a:lnRef idx="0">
          <a:scrgbClr r="0" g="0" b="0"/>
        </a:lnRef>
        <a:fillRef idx="1">
          <a:scrgbClr r="0" g="0" b="0"/>
        </a:fillRef>
        <a:effectRef idx="0">
          <a:scrgbClr r="0" g="0" b="0"/>
        </a:effectRef>
        <a:fontRef idx="minor"/>
      </dsp:style>
    </dsp:sp>
    <dsp:sp modelId="{6C1F774D-D8A3-49FF-920E-75AC557C0D98}">
      <dsp:nvSpPr>
        <dsp:cNvPr id="0" name=""/>
        <dsp:cNvSpPr/>
      </dsp:nvSpPr>
      <dsp:spPr>
        <a:xfrm>
          <a:off x="4853169" y="2519387"/>
          <a:ext cx="1671447" cy="936333"/>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mn-lt"/>
              <a:ea typeface="+mn-ea"/>
              <a:cs typeface="+mn-cs"/>
            </a:rPr>
            <a:t>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Storgaten 3</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1607 Fredrikstad</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p>
      </dsp:txBody>
      <dsp:txXfrm>
        <a:off x="4898877" y="2565095"/>
        <a:ext cx="1580031" cy="844917"/>
      </dsp:txXfrm>
    </dsp:sp>
    <dsp:sp modelId="{D1BA9EDB-5ED0-43AD-955B-8A7AE49B7D31}">
      <dsp:nvSpPr>
        <dsp:cNvPr id="0" name=""/>
        <dsp:cNvSpPr/>
      </dsp:nvSpPr>
      <dsp:spPr>
        <a:xfrm>
          <a:off x="6962694" y="489565"/>
          <a:ext cx="2853807" cy="2154717"/>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7000" r="-27000"/>
          </a:stretch>
        </a:blipFill>
        <a:ln>
          <a:noFill/>
        </a:ln>
        <a:effectLst/>
      </dsp:spPr>
      <dsp:style>
        <a:lnRef idx="0">
          <a:scrgbClr r="0" g="0" b="0"/>
        </a:lnRef>
        <a:fillRef idx="1">
          <a:scrgbClr r="0" g="0" b="0"/>
        </a:fillRef>
        <a:effectRef idx="0">
          <a:scrgbClr r="0" g="0" b="0"/>
        </a:effectRef>
        <a:fontRef idx="minor"/>
      </dsp:style>
    </dsp:sp>
    <dsp:sp modelId="{7D4FBBBA-931C-4116-B15F-07DE2AED530F}">
      <dsp:nvSpPr>
        <dsp:cNvPr id="0" name=""/>
        <dsp:cNvSpPr/>
      </dsp:nvSpPr>
      <dsp:spPr>
        <a:xfrm>
          <a:off x="7998491" y="2523729"/>
          <a:ext cx="1797871" cy="920182"/>
        </a:xfrm>
        <a:prstGeom prst="round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nb-NO" sz="2000" kern="1200">
              <a:solidFill>
                <a:srgbClr val="0D2841">
                  <a:hueOff val="0"/>
                  <a:satOff val="0"/>
                  <a:lumOff val="0"/>
                  <a:alphaOff val="0"/>
                </a:srgbClr>
              </a:solidFill>
              <a:latin typeface="Open Sans Regular"/>
              <a:ea typeface="+mn-ea"/>
              <a:cs typeface="+mn-cs"/>
            </a:rPr>
            <a:t>Stavanger</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Løkkeveien 107 </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Open Sans Regular"/>
              <a:ea typeface="+mn-ea"/>
              <a:cs typeface="+mn-cs"/>
            </a:rPr>
            <a:t>(Smedvigkvartalet)</a:t>
          </a:r>
        </a:p>
        <a:p>
          <a:pPr marL="0" lvl="0" indent="0" algn="ctr" defTabSz="889000">
            <a:lnSpc>
              <a:spcPct val="90000"/>
            </a:lnSpc>
            <a:spcBef>
              <a:spcPct val="0"/>
            </a:spcBef>
            <a:spcAft>
              <a:spcPct val="5000"/>
            </a:spcAft>
            <a:buNone/>
          </a:pPr>
          <a:r>
            <a:rPr lang="nb-NO" sz="1000" kern="1200">
              <a:solidFill>
                <a:srgbClr val="0D2841">
                  <a:hueOff val="0"/>
                  <a:satOff val="0"/>
                  <a:lumOff val="0"/>
                  <a:alphaOff val="0"/>
                </a:srgbClr>
              </a:solidFill>
              <a:latin typeface="+mn-lt"/>
              <a:ea typeface="+mn-ea"/>
              <a:cs typeface="+mn-cs"/>
            </a:rPr>
            <a:t>+47 23 89 68 44</a:t>
          </a:r>
          <a:endParaRPr lang="nb-NO" sz="1000" kern="1200">
            <a:solidFill>
              <a:srgbClr val="0D2841">
                <a:hueOff val="0"/>
                <a:satOff val="0"/>
                <a:lumOff val="0"/>
                <a:alphaOff val="0"/>
              </a:srgbClr>
            </a:solidFill>
            <a:latin typeface="Open Sans Regular"/>
            <a:ea typeface="+mn-ea"/>
            <a:cs typeface="+mn-cs"/>
          </a:endParaRPr>
        </a:p>
      </dsp:txBody>
      <dsp:txXfrm>
        <a:off x="8043411" y="2568649"/>
        <a:ext cx="1708031" cy="830342"/>
      </dsp:txXfrm>
    </dsp:sp>
  </dsp:spTree>
</dsp:drawing>
</file>

<file path=ppt/diagrams/layout1.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CADC9-9AA3-44A8-B6A5-15F6523AEC4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C3AF27-8184-4994-A632-1462EB936C4A}" type="slidenum">
              <a:rPr lang="en-US" smtClean="0"/>
              <a:t>‹#›</a:t>
            </a:fld>
            <a:endParaRPr lang="en-US"/>
          </a:p>
        </p:txBody>
      </p:sp>
    </p:spTree>
    <p:extLst>
      <p:ext uri="{BB962C8B-B14F-4D97-AF65-F5344CB8AC3E}">
        <p14:creationId xmlns:p14="http://schemas.microsoft.com/office/powerpoint/2010/main" val="3365020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C3AF27-8184-4994-A632-1462EB936C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5399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74C3AF27-8184-4994-A632-1462EB936C4A}" type="slidenum">
              <a:rPr lang="en-US" smtClean="0"/>
              <a:t>15</a:t>
            </a:fld>
            <a:endParaRPr lang="en-US"/>
          </a:p>
        </p:txBody>
      </p:sp>
    </p:spTree>
    <p:extLst>
      <p:ext uri="{BB962C8B-B14F-4D97-AF65-F5344CB8AC3E}">
        <p14:creationId xmlns:p14="http://schemas.microsoft.com/office/powerpoint/2010/main" val="4027150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74C3AF27-8184-4994-A632-1462EB936C4A}" type="slidenum">
              <a:rPr lang="en-US" smtClean="0"/>
              <a:t>16</a:t>
            </a:fld>
            <a:endParaRPr lang="en-US"/>
          </a:p>
        </p:txBody>
      </p:sp>
    </p:spTree>
    <p:extLst>
      <p:ext uri="{BB962C8B-B14F-4D97-AF65-F5344CB8AC3E}">
        <p14:creationId xmlns:p14="http://schemas.microsoft.com/office/powerpoint/2010/main" val="1144549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 Kun Logo">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963B36E8-1333-4C56-A939-4BAB3F5D307B}"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Tree>
    <p:extLst>
      <p:ext uri="{BB962C8B-B14F-4D97-AF65-F5344CB8AC3E}">
        <p14:creationId xmlns:p14="http://schemas.microsoft.com/office/powerpoint/2010/main" val="1556089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asic Logo_Overskrift">
    <p:bg>
      <p:bgPr>
        <a:solidFill>
          <a:srgbClr val="F5F5F5"/>
        </a:solidFill>
        <a:effectLst/>
      </p:bgPr>
    </p:bg>
    <p:spTree>
      <p:nvGrpSpPr>
        <p:cNvPr id="1" name=""/>
        <p:cNvGrpSpPr/>
        <p:nvPr/>
      </p:nvGrpSpPr>
      <p:grpSpPr>
        <a:xfrm>
          <a:off x="0" y="0"/>
          <a:ext cx="0" cy="0"/>
          <a:chOff x="0" y="0"/>
          <a:chExt cx="0" cy="0"/>
        </a:xfrm>
      </p:grpSpPr>
      <p:sp>
        <p:nvSpPr>
          <p:cNvPr id="9" name="Plassholder for tekst 26">
            <a:extLst>
              <a:ext uri="{FF2B5EF4-FFF2-40B4-BE49-F238E27FC236}">
                <a16:creationId xmlns:a16="http://schemas.microsoft.com/office/drawing/2014/main" id="{05140844-CF8C-4A4C-98AB-0E35C1C41C8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Tree>
    <p:extLst>
      <p:ext uri="{BB962C8B-B14F-4D97-AF65-F5344CB8AC3E}">
        <p14:creationId xmlns:p14="http://schemas.microsoft.com/office/powerpoint/2010/main" val="26418816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asic Logo_Overskrift_Ingress">
    <p:bg>
      <p:bgPr>
        <a:solidFill>
          <a:srgbClr val="F5F5F5"/>
        </a:solidFill>
        <a:effectLst/>
      </p:bgPr>
    </p:bg>
    <p:spTree>
      <p:nvGrpSpPr>
        <p:cNvPr id="1" name=""/>
        <p:cNvGrpSpPr/>
        <p:nvPr/>
      </p:nvGrpSpPr>
      <p:grpSpPr>
        <a:xfrm>
          <a:off x="0" y="0"/>
          <a:ext cx="0" cy="0"/>
          <a:chOff x="0" y="0"/>
          <a:chExt cx="0" cy="0"/>
        </a:xfrm>
      </p:grpSpPr>
      <p:sp>
        <p:nvSpPr>
          <p:cNvPr id="24" name="Plassholder for tekst 26">
            <a:extLst>
              <a:ext uri="{FF2B5EF4-FFF2-40B4-BE49-F238E27FC236}">
                <a16:creationId xmlns:a16="http://schemas.microsoft.com/office/drawing/2014/main" id="{14465FE6-79CD-4C32-9130-2F47C40E0F0F}"/>
              </a:ext>
            </a:extLst>
          </p:cNvPr>
          <p:cNvSpPr>
            <a:spLocks noGrp="1"/>
          </p:cNvSpPr>
          <p:nvPr>
            <p:ph type="body" sz="quarter" idx="24" hasCustomPrompt="1"/>
          </p:nvPr>
        </p:nvSpPr>
        <p:spPr>
          <a:xfrm>
            <a:off x="827809" y="1009348"/>
            <a:ext cx="9946338" cy="374946"/>
          </a:xfrm>
        </p:spPr>
        <p:txBody>
          <a:bodyPr>
            <a:normAutofit/>
          </a:bodyPr>
          <a:lstStyle>
            <a:lvl1pPr marL="0" indent="0">
              <a:buNone/>
              <a:defRPr lang="nb-NO" sz="1300" kern="1200" dirty="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BEFCEBB5-24C9-4AEF-B462-66DF92F28B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26">
            <a:extLst>
              <a:ext uri="{FF2B5EF4-FFF2-40B4-BE49-F238E27FC236}">
                <a16:creationId xmlns:a16="http://schemas.microsoft.com/office/drawing/2014/main" id="{7F2FA2D8-21A5-46C3-8EC5-B4AE2B836DD4}"/>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29610581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Agenda/Innhold">
    <p:bg>
      <p:bgPr>
        <a:solidFill>
          <a:srgbClr val="F5F5F5"/>
        </a:solidFill>
        <a:effectLst/>
      </p:bgPr>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58A8990B-20D1-4D3F-8752-4B022C59158C}"/>
              </a:ext>
            </a:extLst>
          </p:cNvPr>
          <p:cNvGrpSpPr/>
          <p:nvPr userDrawn="1"/>
        </p:nvGrpSpPr>
        <p:grpSpPr>
          <a:xfrm>
            <a:off x="688569" y="2256077"/>
            <a:ext cx="10820401" cy="164815"/>
            <a:chOff x="0" y="0"/>
            <a:chExt cx="40254012" cy="571500"/>
          </a:xfrm>
          <a:solidFill>
            <a:srgbClr val="4887A3"/>
          </a:solidFill>
        </p:grpSpPr>
        <p:sp>
          <p:nvSpPr>
            <p:cNvPr id="7" name="Freeform 5">
              <a:extLst>
                <a:ext uri="{FF2B5EF4-FFF2-40B4-BE49-F238E27FC236}">
                  <a16:creationId xmlns:a16="http://schemas.microsoft.com/office/drawing/2014/main" id="{1DD6768A-7F2E-4754-BB58-0F442613C8BE}"/>
                </a:ext>
              </a:extLst>
            </p:cNvPr>
            <p:cNvSpPr/>
            <p:nvPr/>
          </p:nvSpPr>
          <p:spPr>
            <a:xfrm>
              <a:off x="0" y="255270"/>
              <a:ext cx="40254011" cy="69850"/>
            </a:xfrm>
            <a:custGeom>
              <a:avLst/>
              <a:gdLst/>
              <a:ahLst/>
              <a:cxnLst/>
              <a:rect l="l" t="t" r="r" b="b"/>
              <a:pathLst>
                <a:path w="40254011" h="69850">
                  <a:moveTo>
                    <a:pt x="39963182" y="0"/>
                  </a:moveTo>
                  <a:lnTo>
                    <a:pt x="0" y="0"/>
                  </a:lnTo>
                  <a:lnTo>
                    <a:pt x="0" y="69850"/>
                  </a:lnTo>
                  <a:lnTo>
                    <a:pt x="40254011" y="69850"/>
                  </a:lnTo>
                  <a:lnTo>
                    <a:pt x="40254011" y="0"/>
                  </a:lnTo>
                  <a:close/>
                </a:path>
              </a:pathLst>
            </a:custGeom>
            <a:grpFill/>
          </p:spPr>
        </p:sp>
      </p:grpSp>
      <p:grpSp>
        <p:nvGrpSpPr>
          <p:cNvPr id="8" name="Group 8">
            <a:extLst>
              <a:ext uri="{FF2B5EF4-FFF2-40B4-BE49-F238E27FC236}">
                <a16:creationId xmlns:a16="http://schemas.microsoft.com/office/drawing/2014/main" id="{CCF01871-B6C4-4AAC-A3C6-ADD211BDC1BE}"/>
              </a:ext>
            </a:extLst>
          </p:cNvPr>
          <p:cNvGrpSpPr/>
          <p:nvPr userDrawn="1"/>
        </p:nvGrpSpPr>
        <p:grpSpPr>
          <a:xfrm>
            <a:off x="685798" y="1345862"/>
            <a:ext cx="10820401" cy="162909"/>
            <a:chOff x="0" y="0"/>
            <a:chExt cx="13868943" cy="571500"/>
          </a:xfrm>
          <a:solidFill>
            <a:srgbClr val="022541"/>
          </a:solidFill>
        </p:grpSpPr>
        <p:sp>
          <p:nvSpPr>
            <p:cNvPr id="9" name="Freeform 9">
              <a:extLst>
                <a:ext uri="{FF2B5EF4-FFF2-40B4-BE49-F238E27FC236}">
                  <a16:creationId xmlns:a16="http://schemas.microsoft.com/office/drawing/2014/main" id="{F1907ECE-66E6-4EE0-9A89-AE6FA61FDFD0}"/>
                </a:ext>
              </a:extLst>
            </p:cNvPr>
            <p:cNvSpPr/>
            <p:nvPr/>
          </p:nvSpPr>
          <p:spPr>
            <a:xfrm>
              <a:off x="0" y="255270"/>
              <a:ext cx="13868943" cy="69850"/>
            </a:xfrm>
            <a:custGeom>
              <a:avLst/>
              <a:gdLst/>
              <a:ahLst/>
              <a:cxnLst/>
              <a:rect l="l" t="t" r="r" b="b"/>
              <a:pathLst>
                <a:path w="13868943" h="69850">
                  <a:moveTo>
                    <a:pt x="13578114" y="0"/>
                  </a:moveTo>
                  <a:lnTo>
                    <a:pt x="0" y="0"/>
                  </a:lnTo>
                  <a:lnTo>
                    <a:pt x="0" y="69850"/>
                  </a:lnTo>
                  <a:lnTo>
                    <a:pt x="13868943" y="69850"/>
                  </a:lnTo>
                  <a:lnTo>
                    <a:pt x="13868943" y="0"/>
                  </a:lnTo>
                  <a:close/>
                </a:path>
              </a:pathLst>
            </a:custGeom>
            <a:grpFill/>
          </p:spPr>
        </p:sp>
      </p:grpSp>
      <p:sp>
        <p:nvSpPr>
          <p:cNvPr id="27" name="Plassholder for tekst 26">
            <a:extLst>
              <a:ext uri="{FF2B5EF4-FFF2-40B4-BE49-F238E27FC236}">
                <a16:creationId xmlns:a16="http://schemas.microsoft.com/office/drawing/2014/main" id="{7614E9C3-FBBA-4537-8DC7-37AF11386219}"/>
              </a:ext>
            </a:extLst>
          </p:cNvPr>
          <p:cNvSpPr>
            <a:spLocks noGrp="1"/>
          </p:cNvSpPr>
          <p:nvPr>
            <p:ph type="body" sz="quarter" idx="19" hasCustomPrompt="1"/>
          </p:nvPr>
        </p:nvSpPr>
        <p:spPr>
          <a:xfrm>
            <a:off x="685798"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1 x</a:t>
            </a:r>
          </a:p>
          <a:p>
            <a:pPr lvl="0"/>
            <a:r>
              <a:rPr lang="nb-NO"/>
              <a:t>Tema 2</a:t>
            </a:r>
          </a:p>
          <a:p>
            <a:pPr lvl="0"/>
            <a:r>
              <a:rPr lang="nb-NO"/>
              <a:t>Tema 3</a:t>
            </a:r>
          </a:p>
        </p:txBody>
      </p:sp>
      <p:sp>
        <p:nvSpPr>
          <p:cNvPr id="28" name="Plassholder for tekst 26">
            <a:extLst>
              <a:ext uri="{FF2B5EF4-FFF2-40B4-BE49-F238E27FC236}">
                <a16:creationId xmlns:a16="http://schemas.microsoft.com/office/drawing/2014/main" id="{656C1EC4-C465-4D16-8221-365C200C31E0}"/>
              </a:ext>
            </a:extLst>
          </p:cNvPr>
          <p:cNvSpPr>
            <a:spLocks noGrp="1"/>
          </p:cNvSpPr>
          <p:nvPr>
            <p:ph type="body" sz="quarter" idx="20" hasCustomPrompt="1"/>
          </p:nvPr>
        </p:nvSpPr>
        <p:spPr>
          <a:xfrm>
            <a:off x="6029292"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1 x</a:t>
            </a:r>
          </a:p>
          <a:p>
            <a:pPr lvl="0"/>
            <a:r>
              <a:rPr lang="nb-NO"/>
              <a:t>Side 2</a:t>
            </a:r>
          </a:p>
          <a:p>
            <a:pPr lvl="0"/>
            <a:r>
              <a:rPr lang="nb-NO"/>
              <a:t>Side 3</a:t>
            </a:r>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85797" y="1718409"/>
            <a:ext cx="3814763"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x</a:t>
            </a:r>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732942"/>
            <a:ext cx="3814763"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x</a:t>
            </a:r>
          </a:p>
        </p:txBody>
      </p:sp>
      <p:sp>
        <p:nvSpPr>
          <p:cNvPr id="33" name="Plassholder for dato 32">
            <a:extLst>
              <a:ext uri="{FF2B5EF4-FFF2-40B4-BE49-F238E27FC236}">
                <a16:creationId xmlns:a16="http://schemas.microsoft.com/office/drawing/2014/main" id="{9BBFDEEB-8DE4-4894-99EB-78219ACA941C}"/>
              </a:ext>
            </a:extLst>
          </p:cNvPr>
          <p:cNvSpPr>
            <a:spLocks noGrp="1"/>
          </p:cNvSpPr>
          <p:nvPr>
            <p:ph type="dt" sz="half" idx="25"/>
          </p:nvPr>
        </p:nvSpPr>
        <p:spPr/>
        <p:txBody>
          <a:bodyPr/>
          <a:lstStyle/>
          <a:p>
            <a:fld id="{B347897A-ADFB-4281-ADEB-0BA075ABD52E}" type="datetime1">
              <a:rPr lang="nb-NO" smtClean="0"/>
              <a:t>10.03.2026</a:t>
            </a:fld>
            <a:endParaRPr lang="en-US"/>
          </a:p>
        </p:txBody>
      </p:sp>
      <p:sp>
        <p:nvSpPr>
          <p:cNvPr id="34" name="Plassholder for bunntekst 33">
            <a:extLst>
              <a:ext uri="{FF2B5EF4-FFF2-40B4-BE49-F238E27FC236}">
                <a16:creationId xmlns:a16="http://schemas.microsoft.com/office/drawing/2014/main" id="{92E8E1D9-1530-4CE6-8B90-CD11D4F3B341}"/>
              </a:ext>
            </a:extLst>
          </p:cNvPr>
          <p:cNvSpPr>
            <a:spLocks noGrp="1"/>
          </p:cNvSpPr>
          <p:nvPr>
            <p:ph type="ftr" sz="quarter" idx="26"/>
          </p:nvPr>
        </p:nvSpPr>
        <p:spPr/>
        <p:txBody>
          <a:bodyPr/>
          <a:lstStyle/>
          <a:p>
            <a:r>
              <a:rPr lang="en-US"/>
              <a:t>Pensum Asset Management</a:t>
            </a:r>
          </a:p>
        </p:txBody>
      </p:sp>
      <p:sp>
        <p:nvSpPr>
          <p:cNvPr id="35" name="Plassholder for lysbildenummer 34">
            <a:extLst>
              <a:ext uri="{FF2B5EF4-FFF2-40B4-BE49-F238E27FC236}">
                <a16:creationId xmlns:a16="http://schemas.microsoft.com/office/drawing/2014/main" id="{E905F41E-9AA1-472A-B9C8-7301FE2447D9}"/>
              </a:ext>
            </a:extLst>
          </p:cNvPr>
          <p:cNvSpPr>
            <a:spLocks noGrp="1"/>
          </p:cNvSpPr>
          <p:nvPr>
            <p:ph type="sldNum" sz="quarter" idx="27"/>
          </p:nvPr>
        </p:nvSpPr>
        <p:spPr/>
        <p:txBody>
          <a:bodyPr/>
          <a:lstStyle>
            <a:lvl1pPr>
              <a:defRPr/>
            </a:lvl1pPr>
          </a:lstStyle>
          <a:p>
            <a:fld id="{5A1C069C-C3D9-4EFC-9EA6-606175A0C49A}" type="slidenum">
              <a:rPr lang="en-US" smtClean="0"/>
              <a:pPr/>
              <a:t>‹#›</a:t>
            </a:fld>
            <a:endParaRPr lang="en-US"/>
          </a:p>
        </p:txBody>
      </p:sp>
      <p:sp>
        <p:nvSpPr>
          <p:cNvPr id="17" name="Plassholder for tekst 26">
            <a:extLst>
              <a:ext uri="{FF2B5EF4-FFF2-40B4-BE49-F238E27FC236}">
                <a16:creationId xmlns:a16="http://schemas.microsoft.com/office/drawing/2014/main" id="{1E736600-8C5E-4FC8-B6AB-108047F9CBB0}"/>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184863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2110928"/>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2110929"/>
            <a:ext cx="4744855"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9935947"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1288342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kst u ingress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1353111"/>
            <a:ext cx="474485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353112"/>
            <a:ext cx="4744856"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1603522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kst_3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1" y="2110928"/>
            <a:ext cx="3026434"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4504428" y="2108384"/>
            <a:ext cx="3026434"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200" y="2497524"/>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4504429"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3" name="Plassholder for tekst 26">
            <a:extLst>
              <a:ext uri="{FF2B5EF4-FFF2-40B4-BE49-F238E27FC236}">
                <a16:creationId xmlns:a16="http://schemas.microsoft.com/office/drawing/2014/main" id="{49B91298-F4EB-4F7D-9B82-C3D58B9DA1B5}"/>
              </a:ext>
            </a:extLst>
          </p:cNvPr>
          <p:cNvSpPr>
            <a:spLocks noGrp="1"/>
          </p:cNvSpPr>
          <p:nvPr>
            <p:ph type="body" sz="quarter" idx="28" hasCustomPrompt="1"/>
          </p:nvPr>
        </p:nvSpPr>
        <p:spPr>
          <a:xfrm>
            <a:off x="8170655" y="2108384"/>
            <a:ext cx="3026434" cy="374945"/>
          </a:xfrm>
        </p:spPr>
        <p:txBody>
          <a:bodyPr>
            <a:normAutofit/>
          </a:bodyPr>
          <a:lstStyle>
            <a:lvl1pPr marL="0" indent="0">
              <a:buNone/>
              <a:defRPr lang="nb-NO" sz="1400" b="1" kern="1200" spc="60" dirty="0" smtClean="0">
                <a:solidFill>
                  <a:srgbClr val="B1B3B3"/>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3 </a:t>
            </a:r>
            <a:r>
              <a:rPr lang="nb-NO" err="1"/>
              <a:t>X</a:t>
            </a:r>
            <a:endParaRPr lang="nb-NO"/>
          </a:p>
        </p:txBody>
      </p:sp>
      <p:sp>
        <p:nvSpPr>
          <p:cNvPr id="14" name="Plassholder for tekst 9">
            <a:extLst>
              <a:ext uri="{FF2B5EF4-FFF2-40B4-BE49-F238E27FC236}">
                <a16:creationId xmlns:a16="http://schemas.microsoft.com/office/drawing/2014/main" id="{6A2E6D1A-C466-4966-9EFB-D9CB946D1D78}"/>
              </a:ext>
            </a:extLst>
          </p:cNvPr>
          <p:cNvSpPr>
            <a:spLocks noGrp="1"/>
          </p:cNvSpPr>
          <p:nvPr>
            <p:ph type="body" sz="quarter" idx="29" hasCustomPrompt="1"/>
          </p:nvPr>
        </p:nvSpPr>
        <p:spPr>
          <a:xfrm>
            <a:off x="8170656"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9" name="Plassholder for tekst 26">
            <a:extLst>
              <a:ext uri="{FF2B5EF4-FFF2-40B4-BE49-F238E27FC236}">
                <a16:creationId xmlns:a16="http://schemas.microsoft.com/office/drawing/2014/main" id="{E6DB492D-8E64-4CA8-A560-AF99CA27908D}"/>
              </a:ext>
            </a:extLst>
          </p:cNvPr>
          <p:cNvSpPr>
            <a:spLocks noGrp="1"/>
          </p:cNvSpPr>
          <p:nvPr>
            <p:ph type="body" sz="quarter" idx="30"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15" name="Plassholder for tekst 26">
            <a:extLst>
              <a:ext uri="{FF2B5EF4-FFF2-40B4-BE49-F238E27FC236}">
                <a16:creationId xmlns:a16="http://schemas.microsoft.com/office/drawing/2014/main" id="{3762A3A9-599C-43D2-A308-319E07686D4C}"/>
              </a:ext>
            </a:extLst>
          </p:cNvPr>
          <p:cNvSpPr>
            <a:spLocks noGrp="1"/>
          </p:cNvSpPr>
          <p:nvPr>
            <p:ph type="body" sz="quarter" idx="31" hasCustomPrompt="1"/>
          </p:nvPr>
        </p:nvSpPr>
        <p:spPr>
          <a:xfrm>
            <a:off x="910895" y="1030217"/>
            <a:ext cx="9255242" cy="374946"/>
          </a:xfrm>
        </p:spPr>
        <p:txBody>
          <a:bodyPr>
            <a:noAutofit/>
          </a:bodyPr>
          <a:lstStyle>
            <a:lvl1pPr marL="0" indent="0">
              <a:buNone/>
              <a:defRPr lang="nb-NO" sz="1300" b="0"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Tree>
    <p:extLst>
      <p:ext uri="{BB962C8B-B14F-4D97-AF65-F5344CB8AC3E}">
        <p14:creationId xmlns:p14="http://schemas.microsoft.com/office/powerpoint/2010/main" val="17300571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martArt m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17" name="Plassholder for SmartArt 16">
            <a:extLst>
              <a:ext uri="{FF2B5EF4-FFF2-40B4-BE49-F238E27FC236}">
                <a16:creationId xmlns:a16="http://schemas.microsoft.com/office/drawing/2014/main" id="{F398656F-96C9-4168-9129-BA8F889F838C}"/>
              </a:ext>
            </a:extLst>
          </p:cNvPr>
          <p:cNvSpPr>
            <a:spLocks noGrp="1"/>
          </p:cNvSpPr>
          <p:nvPr>
            <p:ph type="dgm" sz="quarter" idx="26"/>
          </p:nvPr>
        </p:nvSpPr>
        <p:spPr>
          <a:xfrm>
            <a:off x="588963" y="1395413"/>
            <a:ext cx="6802437" cy="4600575"/>
          </a:xfrm>
        </p:spPr>
        <p:txBody>
          <a:bodyPr/>
          <a:lstStyle/>
          <a:p>
            <a:endParaRPr lang="nb-NO"/>
          </a:p>
        </p:txBody>
      </p:sp>
      <p:sp>
        <p:nvSpPr>
          <p:cNvPr id="18" name="Plassholder for tekst 26">
            <a:extLst>
              <a:ext uri="{FF2B5EF4-FFF2-40B4-BE49-F238E27FC236}">
                <a16:creationId xmlns:a16="http://schemas.microsoft.com/office/drawing/2014/main" id="{94EB2165-EF87-4A86-BFBE-CD3EE76FABB6}"/>
              </a:ext>
            </a:extLst>
          </p:cNvPr>
          <p:cNvSpPr>
            <a:spLocks noGrp="1"/>
          </p:cNvSpPr>
          <p:nvPr>
            <p:ph type="body" sz="quarter" idx="21" hasCustomPrompt="1"/>
          </p:nvPr>
        </p:nvSpPr>
        <p:spPr>
          <a:xfrm>
            <a:off x="7964865" y="1395413"/>
            <a:ext cx="338893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0" name="Plassholder for tekst 9">
            <a:extLst>
              <a:ext uri="{FF2B5EF4-FFF2-40B4-BE49-F238E27FC236}">
                <a16:creationId xmlns:a16="http://schemas.microsoft.com/office/drawing/2014/main" id="{85348A62-9F06-44C3-BA47-3C5CD146ABAA}"/>
              </a:ext>
            </a:extLst>
          </p:cNvPr>
          <p:cNvSpPr>
            <a:spLocks noGrp="1"/>
          </p:cNvSpPr>
          <p:nvPr>
            <p:ph type="body" sz="quarter" idx="27" hasCustomPrompt="1"/>
          </p:nvPr>
        </p:nvSpPr>
        <p:spPr>
          <a:xfrm>
            <a:off x="7964864" y="1773330"/>
            <a:ext cx="3388935" cy="4222658"/>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23" name="Plassholder for tekst 26">
            <a:extLst>
              <a:ext uri="{FF2B5EF4-FFF2-40B4-BE49-F238E27FC236}">
                <a16:creationId xmlns:a16="http://schemas.microsoft.com/office/drawing/2014/main" id="{B1F8BC31-BFAB-4FAB-B00B-17A8245D1593}"/>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41674521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gur med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608945" y="1973937"/>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6608944" y="2367158"/>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10515600"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sp>
        <p:nvSpPr>
          <p:cNvPr id="18" name="Plassholder for tekst 26">
            <a:extLst>
              <a:ext uri="{FF2B5EF4-FFF2-40B4-BE49-F238E27FC236}">
                <a16:creationId xmlns:a16="http://schemas.microsoft.com/office/drawing/2014/main" id="{F26854B0-7F12-471E-B99D-5BFAD60A7294}"/>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33356268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7" name="object 7">
            <a:extLst>
              <a:ext uri="{FF2B5EF4-FFF2-40B4-BE49-F238E27FC236}">
                <a16:creationId xmlns:a16="http://schemas.microsoft.com/office/drawing/2014/main" id="{D6F1F97F-D4B5-40A4-83B5-C64B96A97772}"/>
              </a:ext>
            </a:extLst>
          </p:cNvPr>
          <p:cNvSpPr txBox="1"/>
          <p:nvPr userDrawn="1"/>
        </p:nvSpPr>
        <p:spPr>
          <a:xfrm>
            <a:off x="884555" y="1264786"/>
            <a:ext cx="9097645" cy="2950359"/>
          </a:xfrm>
          <a:prstGeom prst="rect">
            <a:avLst/>
          </a:prstGeom>
        </p:spPr>
        <p:txBody>
          <a:bodyPr vert="horz" wrap="square" lIns="0" tIns="12700" rIns="0" bIns="0" rtlCol="0">
            <a:spAutoFit/>
          </a:bodyPr>
          <a:lstStyle/>
          <a:p>
            <a:pPr marL="12700" marR="5080">
              <a:lnSpc>
                <a:spcPct val="111200"/>
              </a:lnSpc>
              <a:spcBef>
                <a:spcPts val="100"/>
              </a:spcBef>
            </a:pPr>
            <a:r>
              <a:rPr sz="1600">
                <a:solidFill>
                  <a:srgbClr val="0D2841"/>
                </a:solidFill>
                <a:latin typeface="Open Sans Regular" panose="020B0606030504020204" charset="0"/>
                <a:ea typeface="Open Sans Regular" panose="020B0606030504020204" charset="0"/>
                <a:cs typeface="Open Sans Regular" panose="020B0606030504020204" charset="0"/>
              </a:rPr>
              <a:t>Historisk avkastning er ingen garanti for fremtidig avkastning. Fremtidig avkastning vil blant annet avhenge av  markedsutviklingen, forvalternes dyktighet, fondenes risiko samt kostnader ved forvaltning. Avkastningen kan bli  negativ som følge av kurstap. Pensum Asset Management anser at informasjonen i denne presentasjonen kommer fra  kilder som er pålitelige, men kan likevel ikke garantere at informasjonen til enhver tid er fullstendig, korrekt eller  tilgjengelig. Pensum Asset Management fraskriver seg således ethvert ansvar for feil og mangler.</a:t>
            </a:r>
          </a:p>
          <a:p>
            <a:pPr>
              <a:lnSpc>
                <a:spcPct val="100000"/>
              </a:lnSpc>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a:lnSpc>
                <a:spcPct val="100000"/>
              </a:lnSpc>
              <a:spcBef>
                <a:spcPts val="35"/>
              </a:spcBef>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marL="12700" marR="810895">
              <a:lnSpc>
                <a:spcPct val="111000"/>
              </a:lnSpc>
            </a:pPr>
            <a:r>
              <a:rPr sz="1600">
                <a:solidFill>
                  <a:srgbClr val="0D2841"/>
                </a:solidFill>
                <a:latin typeface="Open Sans Regular" panose="020B0606030504020204" charset="0"/>
                <a:ea typeface="Open Sans Regular" panose="020B0606030504020204" charset="0"/>
                <a:cs typeface="Open Sans Regular" panose="020B0606030504020204" charset="0"/>
              </a:rPr>
              <a:t>Informasjonen i denne presentasjonen er ikke ment som en kjøps- eller salgsanbefaling, og Pensum Asset  Management fraskriver seg dermed ethvert ansvar for eventuelle tap fra handler utført som følge av denne  presentasjonen.</a:t>
            </a:r>
          </a:p>
        </p:txBody>
      </p:sp>
      <p:sp>
        <p:nvSpPr>
          <p:cNvPr id="8" name="Rectangle 8">
            <a:extLst>
              <a:ext uri="{FF2B5EF4-FFF2-40B4-BE49-F238E27FC236}">
                <a16:creationId xmlns:a16="http://schemas.microsoft.com/office/drawing/2014/main" id="{C2C39B3D-10B8-467F-8189-FDF230C17712}"/>
              </a:ext>
            </a:extLst>
          </p:cNvPr>
          <p:cNvSpPr/>
          <p:nvPr userDrawn="1"/>
        </p:nvSpPr>
        <p:spPr>
          <a:xfrm>
            <a:off x="705593" y="1264786"/>
            <a:ext cx="45719" cy="295035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2" name="Plassholder for tekst 26">
            <a:extLst>
              <a:ext uri="{FF2B5EF4-FFF2-40B4-BE49-F238E27FC236}">
                <a16:creationId xmlns:a16="http://schemas.microsoft.com/office/drawing/2014/main" id="{D88C97D1-0B59-4615-A7D6-32FC829CD54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Ansvarsfraskrivelse</a:t>
            </a:r>
          </a:p>
        </p:txBody>
      </p:sp>
    </p:spTree>
    <p:extLst>
      <p:ext uri="{BB962C8B-B14F-4D97-AF65-F5344CB8AC3E}">
        <p14:creationId xmlns:p14="http://schemas.microsoft.com/office/powerpoint/2010/main" val="214971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ntor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13" name="Plassholder for tekst 26">
            <a:extLst>
              <a:ext uri="{FF2B5EF4-FFF2-40B4-BE49-F238E27FC236}">
                <a16:creationId xmlns:a16="http://schemas.microsoft.com/office/drawing/2014/main" id="{2D42A5DA-19E8-41E0-829B-18B372CA70DF}"/>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Kontorer</a:t>
            </a:r>
          </a:p>
        </p:txBody>
      </p:sp>
      <p:graphicFrame>
        <p:nvGraphicFramePr>
          <p:cNvPr id="6" name="Diagram 5">
            <a:extLst>
              <a:ext uri="{FF2B5EF4-FFF2-40B4-BE49-F238E27FC236}">
                <a16:creationId xmlns:a16="http://schemas.microsoft.com/office/drawing/2014/main" id="{F581E30F-CDB5-4C41-9E75-7012F2AC5EEF}"/>
              </a:ext>
            </a:extLst>
          </p:cNvPr>
          <p:cNvGraphicFramePr/>
          <p:nvPr userDrawn="1">
            <p:extLst>
              <p:ext uri="{D42A27DB-BD31-4B8C-83A1-F6EECF244321}">
                <p14:modId xmlns:p14="http://schemas.microsoft.com/office/powerpoint/2010/main" val="3528348051"/>
              </p:ext>
            </p:extLst>
          </p:nvPr>
        </p:nvGraphicFramePr>
        <p:xfrm>
          <a:off x="1005731" y="1324303"/>
          <a:ext cx="9856710" cy="35314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1643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8829B15-EDD8-47AA-BF8D-93A53B67CB44}"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sp>
        <p:nvSpPr>
          <p:cNvPr id="10" name="Picture Placeholder 9"/>
          <p:cNvSpPr>
            <a:spLocks noGrp="1"/>
          </p:cNvSpPr>
          <p:nvPr>
            <p:ph type="pic" sz="quarter" idx="13"/>
          </p:nvPr>
        </p:nvSpPr>
        <p:spPr>
          <a:xfrm>
            <a:off x="838200" y="709636"/>
            <a:ext cx="3856630" cy="5077015"/>
          </a:xfrm>
        </p:spPr>
        <p:txBody>
          <a:bodyPr>
            <a:normAutofit/>
          </a:bodyPr>
          <a:lstStyle>
            <a:lvl1pPr>
              <a:defRPr sz="1800">
                <a:latin typeface="Open Sans Regular" panose="020B0606030504020204" pitchFamily="34" charset="0"/>
                <a:ea typeface="Open Sans Regular" panose="020B0606030504020204" pitchFamily="34" charset="0"/>
                <a:cs typeface="Open Sans Regular" panose="020B0606030504020204" pitchFamily="34" charset="0"/>
              </a:defRPr>
            </a:lvl1pPr>
          </a:lstStyle>
          <a:p>
            <a:endParaRPr lang="en-US"/>
          </a:p>
        </p:txBody>
      </p:sp>
    </p:spTree>
    <p:extLst>
      <p:ext uri="{BB962C8B-B14F-4D97-AF65-F5344CB8AC3E}">
        <p14:creationId xmlns:p14="http://schemas.microsoft.com/office/powerpoint/2010/main" val="638314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5F5F5"/>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71D25D-341A-4C57-AA72-4F514FF028FC}" type="datetime1">
              <a:rPr lang="nb-NO" smtClean="0"/>
              <a:t>10.03.2026</a:t>
            </a:fld>
            <a:endParaRPr lang="en-US"/>
          </a:p>
        </p:txBody>
      </p:sp>
      <p:sp>
        <p:nvSpPr>
          <p:cNvPr id="3" name="Footer Placeholder 2"/>
          <p:cNvSpPr>
            <a:spLocks noGrp="1"/>
          </p:cNvSpPr>
          <p:nvPr>
            <p:ph type="ftr" sz="quarter" idx="11"/>
          </p:nvPr>
        </p:nvSpPr>
        <p:spPr/>
        <p:txBody>
          <a:bodyPr/>
          <a:lstStyle/>
          <a:p>
            <a:r>
              <a:rPr lang="en-US"/>
              <a:t>Pensum Asset Management</a:t>
            </a:r>
          </a:p>
        </p:txBody>
      </p:sp>
      <p:sp>
        <p:nvSpPr>
          <p:cNvPr id="4" name="Slide Number Placeholder 3"/>
          <p:cNvSpPr>
            <a:spLocks noGrp="1"/>
          </p:cNvSpPr>
          <p:nvPr>
            <p:ph type="sldNum" sz="quarter" idx="12"/>
          </p:nvPr>
        </p:nvSpPr>
        <p:spPr/>
        <p:txBody>
          <a:bodyPr/>
          <a:lstStyle/>
          <a:p>
            <a:fld id="{530A68A1-2222-4891-8273-9FD73004E852}" type="slidenum">
              <a:rPr lang="en-US" smtClean="0"/>
              <a:t>‹#›</a:t>
            </a:fld>
            <a:endParaRPr lang="en-US"/>
          </a:p>
        </p:txBody>
      </p:sp>
      <p:sp>
        <p:nvSpPr>
          <p:cNvPr id="9" name="Picture Placeholder 8"/>
          <p:cNvSpPr>
            <a:spLocks noGrp="1"/>
          </p:cNvSpPr>
          <p:nvPr>
            <p:ph type="pic" sz="quarter" idx="13"/>
          </p:nvPr>
        </p:nvSpPr>
        <p:spPr>
          <a:xfrm>
            <a:off x="818014"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0" name="Picture Placeholder 8"/>
          <p:cNvSpPr>
            <a:spLocks noGrp="1"/>
          </p:cNvSpPr>
          <p:nvPr>
            <p:ph type="pic" sz="quarter" idx="14"/>
          </p:nvPr>
        </p:nvSpPr>
        <p:spPr>
          <a:xfrm>
            <a:off x="4574560"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1" name="Picture Placeholder 8"/>
          <p:cNvSpPr>
            <a:spLocks noGrp="1"/>
          </p:cNvSpPr>
          <p:nvPr>
            <p:ph type="pic" sz="quarter" idx="15"/>
          </p:nvPr>
        </p:nvSpPr>
        <p:spPr>
          <a:xfrm>
            <a:off x="8331107"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2" name="Rectangle 11"/>
          <p:cNvSpPr/>
          <p:nvPr userDrawn="1"/>
        </p:nvSpPr>
        <p:spPr>
          <a:xfrm>
            <a:off x="818014" y="5351649"/>
            <a:ext cx="3049586" cy="45719"/>
          </a:xfrm>
          <a:prstGeom prst="rect">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4574561" y="5351649"/>
            <a:ext cx="3049586" cy="4571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8331108" y="5351649"/>
            <a:ext cx="3049586" cy="45719"/>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07641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A529E0F-A7EF-48C8-AE44-1844F8408D4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8" name="Title 1"/>
          <p:cNvSpPr>
            <a:spLocks noGrp="1"/>
          </p:cNvSpPr>
          <p:nvPr>
            <p:ph type="title"/>
          </p:nvPr>
        </p:nvSpPr>
        <p:spPr>
          <a:xfrm>
            <a:off x="2918012" y="4592588"/>
            <a:ext cx="6355976" cy="759341"/>
          </a:xfrm>
        </p:spPr>
        <p:txBody>
          <a:bodyPr>
            <a:noAutofit/>
          </a:bodyPr>
          <a:lstStyle>
            <a:lvl1pPr algn="ctr">
              <a:defRPr sz="40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pic>
        <p:nvPicPr>
          <p:cNvPr id="2" name="Bilde 1" descr="Et bilde som inneholder Font, skjermbilde, Grafikk, logo&#10;&#10;Automatisk generert beskrivelse">
            <a:extLst>
              <a:ext uri="{FF2B5EF4-FFF2-40B4-BE49-F238E27FC236}">
                <a16:creationId xmlns:a16="http://schemas.microsoft.com/office/drawing/2014/main" id="{42A717E7-5E27-15B9-EED4-2919514CE6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0"/>
            <a:ext cx="1650243" cy="1021579"/>
          </a:xfrm>
          <a:prstGeom prst="rect">
            <a:avLst/>
          </a:prstGeom>
        </p:spPr>
      </p:pic>
    </p:spTree>
    <p:extLst>
      <p:ext uri="{BB962C8B-B14F-4D97-AF65-F5344CB8AC3E}">
        <p14:creationId xmlns:p14="http://schemas.microsoft.com/office/powerpoint/2010/main" val="2662569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CE0226-C107-4966-B9BB-3B5D8C70897A}"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grpSp>
        <p:nvGrpSpPr>
          <p:cNvPr id="9" name="Group 8"/>
          <p:cNvGrpSpPr/>
          <p:nvPr userDrawn="1"/>
        </p:nvGrpSpPr>
        <p:grpSpPr>
          <a:xfrm>
            <a:off x="530055" y="0"/>
            <a:ext cx="900000" cy="900000"/>
            <a:chOff x="5379492" y="0"/>
            <a:chExt cx="1433015" cy="1433015"/>
          </a:xfrm>
        </p:grpSpPr>
        <p:sp>
          <p:nvSpPr>
            <p:cNvPr id="10" name="Round Same Side Corner Rectangle 9"/>
            <p:cNvSpPr/>
            <p:nvPr userDrawn="1"/>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https://o.remove.bg/downloads/b29e96dd-f472-4a60-a098-f92fad661090/Pensum_Logo_2021_H__yde_M__rk_Bla_%C3%A8-removebg-preview.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Bilde 5">
            <a:extLst>
              <a:ext uri="{FF2B5EF4-FFF2-40B4-BE49-F238E27FC236}">
                <a16:creationId xmlns:a16="http://schemas.microsoft.com/office/drawing/2014/main" id="{5B8272D0-EC20-48D4-BA03-5CA41DB7ED0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10250" y="1409369"/>
            <a:ext cx="2203200" cy="1071624"/>
          </a:xfrm>
          <a:prstGeom prst="rect">
            <a:avLst/>
          </a:prstGeom>
        </p:spPr>
      </p:pic>
      <p:pic>
        <p:nvPicPr>
          <p:cNvPr id="8" name="Bilde 7" descr="Et bilde som inneholder tekst&#10;&#10;Automatisk generert beskrivelse">
            <a:extLst>
              <a:ext uri="{FF2B5EF4-FFF2-40B4-BE49-F238E27FC236}">
                <a16:creationId xmlns:a16="http://schemas.microsoft.com/office/drawing/2014/main" id="{24109C82-DFE9-446E-88C5-02D66386BBE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138340" y="2893188"/>
            <a:ext cx="2203200" cy="1071624"/>
          </a:xfrm>
          <a:prstGeom prst="rect">
            <a:avLst/>
          </a:prstGeom>
        </p:spPr>
      </p:pic>
      <p:pic>
        <p:nvPicPr>
          <p:cNvPr id="13" name="Bilde 12">
            <a:extLst>
              <a:ext uri="{FF2B5EF4-FFF2-40B4-BE49-F238E27FC236}">
                <a16:creationId xmlns:a16="http://schemas.microsoft.com/office/drawing/2014/main" id="{AC2ABCDA-038A-4AB4-BD43-319DF22D0B9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132576" y="574095"/>
            <a:ext cx="1792224" cy="871728"/>
          </a:xfrm>
          <a:prstGeom prst="rect">
            <a:avLst/>
          </a:prstGeom>
        </p:spPr>
      </p:pic>
      <p:pic>
        <p:nvPicPr>
          <p:cNvPr id="15" name="Bilde 14" descr="Et bilde som inneholder tekst&#10;&#10;Automatisk generert beskrivelse">
            <a:extLst>
              <a:ext uri="{FF2B5EF4-FFF2-40B4-BE49-F238E27FC236}">
                <a16:creationId xmlns:a16="http://schemas.microsoft.com/office/drawing/2014/main" id="{FF67BEEF-1447-4DE2-9284-47C58C41D84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88800" y="-87590"/>
            <a:ext cx="2203200" cy="1071624"/>
          </a:xfrm>
          <a:prstGeom prst="rect">
            <a:avLst/>
          </a:prstGeom>
        </p:spPr>
      </p:pic>
    </p:spTree>
    <p:extLst>
      <p:ext uri="{BB962C8B-B14F-4D97-AF65-F5344CB8AC3E}">
        <p14:creationId xmlns:p14="http://schemas.microsoft.com/office/powerpoint/2010/main" val="2706951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2FE42F0-9107-4691-AA8C-931929F5647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pic>
        <p:nvPicPr>
          <p:cNvPr id="6" name="Bilde 5" descr="Et bilde som inneholder tekst&#10;&#10;Automatisk generert beskrivelse">
            <a:extLst>
              <a:ext uri="{FF2B5EF4-FFF2-40B4-BE49-F238E27FC236}">
                <a16:creationId xmlns:a16="http://schemas.microsoft.com/office/drawing/2014/main" id="{576990BF-2418-4A77-B7D8-8C61EFCCC8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82721" y="-106444"/>
            <a:ext cx="2137560" cy="1039697"/>
          </a:xfrm>
          <a:prstGeom prst="rect">
            <a:avLst/>
          </a:prstGeom>
        </p:spPr>
      </p:pic>
    </p:spTree>
    <p:extLst>
      <p:ext uri="{BB962C8B-B14F-4D97-AF65-F5344CB8AC3E}">
        <p14:creationId xmlns:p14="http://schemas.microsoft.com/office/powerpoint/2010/main" val="1647552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E655BA2-E872-4800-94C0-20AC6A627AE2}"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grpSp>
        <p:nvGrpSpPr>
          <p:cNvPr id="6" name="Group 5"/>
          <p:cNvGrpSpPr/>
          <p:nvPr userDrawn="1"/>
        </p:nvGrpSpPr>
        <p:grpSpPr>
          <a:xfrm>
            <a:off x="10701189" y="0"/>
            <a:ext cx="900000" cy="900000"/>
            <a:chOff x="5379492" y="0"/>
            <a:chExt cx="1433015" cy="1433015"/>
          </a:xfrm>
        </p:grpSpPr>
        <p:sp>
          <p:nvSpPr>
            <p:cNvPr id="7" name="Round Same Side Corner Rectangle 6"/>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8"/>
          <p:cNvSpPr/>
          <p:nvPr userDrawn="1"/>
        </p:nvSpPr>
        <p:spPr>
          <a:xfrm>
            <a:off x="0" y="0"/>
            <a:ext cx="2852382" cy="6858000"/>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95139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9352F0D-2F16-48DA-8C49-781F1E9E4B6D}"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10" name="Picture Placeholder 9"/>
          <p:cNvSpPr>
            <a:spLocks noGrp="1"/>
          </p:cNvSpPr>
          <p:nvPr>
            <p:ph type="pic" sz="quarter" idx="13"/>
          </p:nvPr>
        </p:nvSpPr>
        <p:spPr>
          <a:xfrm>
            <a:off x="4251" y="0"/>
            <a:ext cx="4997825" cy="6858000"/>
          </a:xfrm>
        </p:spPr>
        <p:txBody>
          <a:bodyPr>
            <a:normAutofit/>
          </a:bodyPr>
          <a:lstStyle>
            <a:lvl1pPr>
              <a:defRPr sz="20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grpSp>
        <p:nvGrpSpPr>
          <p:cNvPr id="9" name="Group 8"/>
          <p:cNvGrpSpPr/>
          <p:nvPr userDrawn="1"/>
        </p:nvGrpSpPr>
        <p:grpSpPr>
          <a:xfrm>
            <a:off x="10701189" y="0"/>
            <a:ext cx="900000" cy="900000"/>
            <a:chOff x="5379492" y="0"/>
            <a:chExt cx="1433015" cy="1433015"/>
          </a:xfrm>
        </p:grpSpPr>
        <p:sp>
          <p:nvSpPr>
            <p:cNvPr id="11" name="Round Same Side Corner Rectangle 10"/>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09582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rgbClr val="F5F5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39035" y="2032421"/>
            <a:ext cx="6113929" cy="777875"/>
          </a:xfrm>
        </p:spPr>
        <p:txBody>
          <a:bodyPr/>
          <a:lstStyle>
            <a:lvl1pPr algn="ctr">
              <a:defRPr>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sp>
        <p:nvSpPr>
          <p:cNvPr id="3" name="Date Placeholder 2"/>
          <p:cNvSpPr>
            <a:spLocks noGrp="1"/>
          </p:cNvSpPr>
          <p:nvPr>
            <p:ph type="dt" sz="half" idx="10"/>
          </p:nvPr>
        </p:nvSpPr>
        <p:spPr/>
        <p:txBody>
          <a:bodyPr/>
          <a:lstStyle/>
          <a:p>
            <a:fld id="{8F0AD876-C30C-4BA4-BAF6-31EDA4F063F9}"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cxnSp>
        <p:nvCxnSpPr>
          <p:cNvPr id="6" name="Straight Connector 5"/>
          <p:cNvCxnSpPr/>
          <p:nvPr userDrawn="1"/>
        </p:nvCxnSpPr>
        <p:spPr>
          <a:xfrm>
            <a:off x="5315633" y="2863681"/>
            <a:ext cx="1560735" cy="0"/>
          </a:xfrm>
          <a:prstGeom prst="line">
            <a:avLst/>
          </a:prstGeom>
          <a:ln w="28575">
            <a:solidFill>
              <a:srgbClr val="CF826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8023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388932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15039576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269687F-90C6-4A88-9B85-692B4CFBF61F}"/>
              </a:ext>
            </a:extLst>
          </p:cNvPr>
          <p:cNvSpPr>
            <a:spLocks noGrp="1"/>
          </p:cNvSpPr>
          <p:nvPr>
            <p:ph type="ctrTitle" hasCustomPrompt="1"/>
          </p:nvPr>
        </p:nvSpPr>
        <p:spPr>
          <a:xfrm>
            <a:off x="245097" y="778019"/>
            <a:ext cx="10008636" cy="477837"/>
          </a:xfrm>
        </p:spPr>
        <p:txBody>
          <a:bodyPr anchor="b">
            <a:normAutofit/>
          </a:bodyPr>
          <a:lstStyle>
            <a:lvl1pPr algn="l">
              <a:defRPr lang="nb-NO" sz="2500" kern="1200" dirty="0">
                <a:solidFill>
                  <a:srgbClr val="123E6A"/>
                </a:solidFill>
                <a:latin typeface="Georgia" panose="02040502050405020303" pitchFamily="18" charset="0"/>
                <a:ea typeface="+mj-ea"/>
                <a:cs typeface="+mj-cs"/>
              </a:defRPr>
            </a:lvl1pPr>
          </a:lstStyle>
          <a:p>
            <a:r>
              <a:rPr lang="nb-NO"/>
              <a:t>Klikk for tekst</a:t>
            </a:r>
          </a:p>
        </p:txBody>
      </p:sp>
      <p:sp>
        <p:nvSpPr>
          <p:cNvPr id="6" name="Plassholder for lysbildenummer 5">
            <a:extLst>
              <a:ext uri="{FF2B5EF4-FFF2-40B4-BE49-F238E27FC236}">
                <a16:creationId xmlns:a16="http://schemas.microsoft.com/office/drawing/2014/main" id="{9DF46C4A-1F1B-441A-8D4C-00703380D2A6}"/>
              </a:ext>
            </a:extLst>
          </p:cNvPr>
          <p:cNvSpPr>
            <a:spLocks noGrp="1"/>
          </p:cNvSpPr>
          <p:nvPr>
            <p:ph type="sldNum" sz="quarter" idx="12"/>
          </p:nvPr>
        </p:nvSpPr>
        <p:spPr>
          <a:xfrm>
            <a:off x="10686854" y="6402556"/>
            <a:ext cx="1363824" cy="365125"/>
          </a:xfrm>
          <a:prstGeom prst="rect">
            <a:avLst/>
          </a:prstGeom>
        </p:spPr>
        <p:txBody>
          <a:bodyPr/>
          <a:lstStyle>
            <a:lvl1pPr algn="r">
              <a:defRPr sz="1000" baseline="0"/>
            </a:lvl1pPr>
          </a:lstStyle>
          <a:p>
            <a:fld id="{A3C31623-80E9-4986-97C3-23FF5419B69D}" type="slidenum">
              <a:rPr lang="nb-NO" smtClean="0"/>
              <a:pPr/>
              <a:t>‹#›</a:t>
            </a:fld>
            <a:endParaRPr lang="nb-NO"/>
          </a:p>
        </p:txBody>
      </p:sp>
      <p:sp>
        <p:nvSpPr>
          <p:cNvPr id="10" name="TekstSylinder 9">
            <a:extLst>
              <a:ext uri="{FF2B5EF4-FFF2-40B4-BE49-F238E27FC236}">
                <a16:creationId xmlns:a16="http://schemas.microsoft.com/office/drawing/2014/main" id="{7E2285B1-AA0F-4F9C-933F-06D14A3D7BF2}"/>
              </a:ext>
            </a:extLst>
          </p:cNvPr>
          <p:cNvSpPr txBox="1"/>
          <p:nvPr userDrawn="1"/>
        </p:nvSpPr>
        <p:spPr>
          <a:xfrm>
            <a:off x="160256" y="270838"/>
            <a:ext cx="5514392" cy="338554"/>
          </a:xfrm>
          <a:prstGeom prst="rect">
            <a:avLst/>
          </a:prstGeom>
          <a:noFill/>
        </p:spPr>
        <p:txBody>
          <a:bodyPr wrap="square" rtlCol="0">
            <a:spAutoFit/>
          </a:bodyPr>
          <a:lstStyle/>
          <a:p>
            <a:r>
              <a:rPr lang="nb-NO" sz="1600">
                <a:solidFill>
                  <a:srgbClr val="123E6A"/>
                </a:solidFill>
                <a:latin typeface="Georgia" panose="02040502050405020303" pitchFamily="18" charset="0"/>
              </a:rPr>
              <a:t>Pensum Group</a:t>
            </a:r>
          </a:p>
        </p:txBody>
      </p:sp>
      <p:cxnSp>
        <p:nvCxnSpPr>
          <p:cNvPr id="18" name="Rett linje 17">
            <a:extLst>
              <a:ext uri="{FF2B5EF4-FFF2-40B4-BE49-F238E27FC236}">
                <a16:creationId xmlns:a16="http://schemas.microsoft.com/office/drawing/2014/main" id="{A0C4F3C6-2D67-4CB8-B31F-B8C77875A183}"/>
              </a:ext>
            </a:extLst>
          </p:cNvPr>
          <p:cNvCxnSpPr>
            <a:cxnSpLocks/>
          </p:cNvCxnSpPr>
          <p:nvPr userDrawn="1"/>
        </p:nvCxnSpPr>
        <p:spPr>
          <a:xfrm>
            <a:off x="245097" y="653481"/>
            <a:ext cx="11194234" cy="0"/>
          </a:xfrm>
          <a:prstGeom prst="line">
            <a:avLst/>
          </a:prstGeom>
          <a:ln w="22225">
            <a:solidFill>
              <a:srgbClr val="123E6A"/>
            </a:solidFill>
          </a:ln>
        </p:spPr>
        <p:style>
          <a:lnRef idx="1">
            <a:schemeClr val="accent1"/>
          </a:lnRef>
          <a:fillRef idx="0">
            <a:schemeClr val="accent1"/>
          </a:fillRef>
          <a:effectRef idx="0">
            <a:schemeClr val="accent1"/>
          </a:effectRef>
          <a:fontRef idx="minor">
            <a:schemeClr val="tx1"/>
          </a:fontRef>
        </p:style>
      </p:cxnSp>
      <p:sp>
        <p:nvSpPr>
          <p:cNvPr id="25" name="Plassholder for innhold 2">
            <a:extLst>
              <a:ext uri="{FF2B5EF4-FFF2-40B4-BE49-F238E27FC236}">
                <a16:creationId xmlns:a16="http://schemas.microsoft.com/office/drawing/2014/main" id="{F84FA988-D208-480D-96BA-F82BF04E8029}"/>
              </a:ext>
            </a:extLst>
          </p:cNvPr>
          <p:cNvSpPr>
            <a:spLocks noGrp="1"/>
          </p:cNvSpPr>
          <p:nvPr>
            <p:ph sz="half" idx="1"/>
          </p:nvPr>
        </p:nvSpPr>
        <p:spPr>
          <a:xfrm>
            <a:off x="245097" y="1523967"/>
            <a:ext cx="51816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pic>
        <p:nvPicPr>
          <p:cNvPr id="8" name="Bilde 7" descr="Et bilde som inneholder skilt, skjorte&#10;&#10;Automatisk generert beskrivelse">
            <a:extLst>
              <a:ext uri="{FF2B5EF4-FFF2-40B4-BE49-F238E27FC236}">
                <a16:creationId xmlns:a16="http://schemas.microsoft.com/office/drawing/2014/main" id="{8A8191CC-29A7-4216-9A7F-283BBBDEC6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4436" y="-68096"/>
            <a:ext cx="734343" cy="778007"/>
          </a:xfrm>
          <a:prstGeom prst="rect">
            <a:avLst/>
          </a:prstGeom>
        </p:spPr>
      </p:pic>
    </p:spTree>
    <p:extLst>
      <p:ext uri="{BB962C8B-B14F-4D97-AF65-F5344CB8AC3E}">
        <p14:creationId xmlns:p14="http://schemas.microsoft.com/office/powerpoint/2010/main" val="1282258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innhold 1"/>
          <p:cNvSpPr>
            <a:spLocks noGrp="1"/>
          </p:cNvSpPr>
          <p:nvPr>
            <p:ph/>
          </p:nvPr>
        </p:nvSpPr>
        <p:spPr/>
        <p:txBody>
          <a:bodyPr/>
          <a:lstStyle/>
          <a:p>
            <a:endParaRPr/>
          </a:p>
        </p:txBody>
      </p:sp>
    </p:spTree>
    <p:extLst>
      <p:ext uri="{BB962C8B-B14F-4D97-AF65-F5344CB8AC3E}">
        <p14:creationId xmlns:p14="http://schemas.microsoft.com/office/powerpoint/2010/main" val="20568073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asic Kun Logo">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963B36E8-1333-4C56-A939-4BAB3F5D307B}"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6" name="Bilde 5" descr="Et bilde som inneholder tekst&#10;&#10;Automatisk generert beskrivelse">
            <a:extLst>
              <a:ext uri="{FF2B5EF4-FFF2-40B4-BE49-F238E27FC236}">
                <a16:creationId xmlns:a16="http://schemas.microsoft.com/office/drawing/2014/main" id="{5CE5232B-7665-4E17-83D4-9E9A9AB31C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Tree>
    <p:extLst>
      <p:ext uri="{BB962C8B-B14F-4D97-AF65-F5344CB8AC3E}">
        <p14:creationId xmlns:p14="http://schemas.microsoft.com/office/powerpoint/2010/main" val="4314932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asic Logo_Overskrift">
    <p:bg>
      <p:bgPr>
        <a:solidFill>
          <a:srgbClr val="F5F5F5"/>
        </a:solidFill>
        <a:effectLst/>
      </p:bgPr>
    </p:bg>
    <p:spTree>
      <p:nvGrpSpPr>
        <p:cNvPr id="1" name=""/>
        <p:cNvGrpSpPr/>
        <p:nvPr/>
      </p:nvGrpSpPr>
      <p:grpSpPr>
        <a:xfrm>
          <a:off x="0" y="0"/>
          <a:ext cx="0" cy="0"/>
          <a:chOff x="0" y="0"/>
          <a:chExt cx="0" cy="0"/>
        </a:xfrm>
      </p:grpSpPr>
      <p:sp>
        <p:nvSpPr>
          <p:cNvPr id="9" name="Plassholder for tekst 26">
            <a:extLst>
              <a:ext uri="{FF2B5EF4-FFF2-40B4-BE49-F238E27FC236}">
                <a16:creationId xmlns:a16="http://schemas.microsoft.com/office/drawing/2014/main" id="{05140844-CF8C-4A4C-98AB-0E35C1C41C8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7" name="Bilde 6" descr="Et bilde som inneholder tekst&#10;&#10;Automatisk generert beskrivelse">
            <a:extLst>
              <a:ext uri="{FF2B5EF4-FFF2-40B4-BE49-F238E27FC236}">
                <a16:creationId xmlns:a16="http://schemas.microsoft.com/office/drawing/2014/main" id="{982E8368-484C-4634-BD05-A6C51BE0D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Tree>
    <p:extLst>
      <p:ext uri="{BB962C8B-B14F-4D97-AF65-F5344CB8AC3E}">
        <p14:creationId xmlns:p14="http://schemas.microsoft.com/office/powerpoint/2010/main" val="10317667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asic Logo_Overskrift_Ingress">
    <p:bg>
      <p:bgPr>
        <a:solidFill>
          <a:srgbClr val="F5F5F5"/>
        </a:solidFill>
        <a:effectLst/>
      </p:bgPr>
    </p:bg>
    <p:spTree>
      <p:nvGrpSpPr>
        <p:cNvPr id="1" name=""/>
        <p:cNvGrpSpPr/>
        <p:nvPr/>
      </p:nvGrpSpPr>
      <p:grpSpPr>
        <a:xfrm>
          <a:off x="0" y="0"/>
          <a:ext cx="0" cy="0"/>
          <a:chOff x="0" y="0"/>
          <a:chExt cx="0" cy="0"/>
        </a:xfrm>
      </p:grpSpPr>
      <p:sp>
        <p:nvSpPr>
          <p:cNvPr id="24" name="Plassholder for tekst 26">
            <a:extLst>
              <a:ext uri="{FF2B5EF4-FFF2-40B4-BE49-F238E27FC236}">
                <a16:creationId xmlns:a16="http://schemas.microsoft.com/office/drawing/2014/main" id="{14465FE6-79CD-4C32-9130-2F47C40E0F0F}"/>
              </a:ext>
            </a:extLst>
          </p:cNvPr>
          <p:cNvSpPr>
            <a:spLocks noGrp="1"/>
          </p:cNvSpPr>
          <p:nvPr>
            <p:ph type="body" sz="quarter" idx="24" hasCustomPrompt="1"/>
          </p:nvPr>
        </p:nvSpPr>
        <p:spPr>
          <a:xfrm>
            <a:off x="827809" y="1009348"/>
            <a:ext cx="9946338" cy="374946"/>
          </a:xfrm>
        </p:spPr>
        <p:txBody>
          <a:bodyPr>
            <a:normAutofit/>
          </a:bodyPr>
          <a:lstStyle>
            <a:lvl1pPr marL="0" indent="0">
              <a:buNone/>
              <a:defRPr lang="nb-NO" sz="1300" kern="1200" dirty="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BEFCEBB5-24C9-4AEF-B462-66DF92F28B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pic>
        <p:nvPicPr>
          <p:cNvPr id="9" name="Bilde 8" descr="Et bilde som inneholder tekst&#10;&#10;Automatisk generert beskrivelse">
            <a:extLst>
              <a:ext uri="{FF2B5EF4-FFF2-40B4-BE49-F238E27FC236}">
                <a16:creationId xmlns:a16="http://schemas.microsoft.com/office/drawing/2014/main" id="{A556EDD5-59C1-4F83-9263-CAFE000736F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0" name="Plassholder for tekst 26">
            <a:extLst>
              <a:ext uri="{FF2B5EF4-FFF2-40B4-BE49-F238E27FC236}">
                <a16:creationId xmlns:a16="http://schemas.microsoft.com/office/drawing/2014/main" id="{7F2FA2D8-21A5-46C3-8EC5-B4AE2B836DD4}"/>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3348807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Agenda/Innhold">
    <p:bg>
      <p:bgPr>
        <a:solidFill>
          <a:srgbClr val="F5F5F5"/>
        </a:solidFill>
        <a:effectLst/>
      </p:bgPr>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58A8990B-20D1-4D3F-8752-4B022C59158C}"/>
              </a:ext>
            </a:extLst>
          </p:cNvPr>
          <p:cNvGrpSpPr/>
          <p:nvPr userDrawn="1"/>
        </p:nvGrpSpPr>
        <p:grpSpPr>
          <a:xfrm>
            <a:off x="688569" y="2256077"/>
            <a:ext cx="10820401" cy="164815"/>
            <a:chOff x="0" y="0"/>
            <a:chExt cx="40254012" cy="571500"/>
          </a:xfrm>
          <a:solidFill>
            <a:srgbClr val="4887A3"/>
          </a:solidFill>
        </p:grpSpPr>
        <p:sp>
          <p:nvSpPr>
            <p:cNvPr id="7" name="Freeform 5">
              <a:extLst>
                <a:ext uri="{FF2B5EF4-FFF2-40B4-BE49-F238E27FC236}">
                  <a16:creationId xmlns:a16="http://schemas.microsoft.com/office/drawing/2014/main" id="{1DD6768A-7F2E-4754-BB58-0F442613C8BE}"/>
                </a:ext>
              </a:extLst>
            </p:cNvPr>
            <p:cNvSpPr/>
            <p:nvPr/>
          </p:nvSpPr>
          <p:spPr>
            <a:xfrm>
              <a:off x="0" y="255270"/>
              <a:ext cx="40254011" cy="69850"/>
            </a:xfrm>
            <a:custGeom>
              <a:avLst/>
              <a:gdLst/>
              <a:ahLst/>
              <a:cxnLst/>
              <a:rect l="l" t="t" r="r" b="b"/>
              <a:pathLst>
                <a:path w="40254011" h="69850">
                  <a:moveTo>
                    <a:pt x="39963182" y="0"/>
                  </a:moveTo>
                  <a:lnTo>
                    <a:pt x="0" y="0"/>
                  </a:lnTo>
                  <a:lnTo>
                    <a:pt x="0" y="69850"/>
                  </a:lnTo>
                  <a:lnTo>
                    <a:pt x="40254011" y="69850"/>
                  </a:lnTo>
                  <a:lnTo>
                    <a:pt x="40254011" y="0"/>
                  </a:lnTo>
                  <a:close/>
                </a:path>
              </a:pathLst>
            </a:custGeom>
            <a:grpFill/>
          </p:spPr>
        </p:sp>
      </p:grpSp>
      <p:grpSp>
        <p:nvGrpSpPr>
          <p:cNvPr id="8" name="Group 8">
            <a:extLst>
              <a:ext uri="{FF2B5EF4-FFF2-40B4-BE49-F238E27FC236}">
                <a16:creationId xmlns:a16="http://schemas.microsoft.com/office/drawing/2014/main" id="{CCF01871-B6C4-4AAC-A3C6-ADD211BDC1BE}"/>
              </a:ext>
            </a:extLst>
          </p:cNvPr>
          <p:cNvGrpSpPr/>
          <p:nvPr userDrawn="1"/>
        </p:nvGrpSpPr>
        <p:grpSpPr>
          <a:xfrm>
            <a:off x="685798" y="1345862"/>
            <a:ext cx="10820401" cy="162909"/>
            <a:chOff x="0" y="0"/>
            <a:chExt cx="13868943" cy="571500"/>
          </a:xfrm>
          <a:solidFill>
            <a:srgbClr val="022541"/>
          </a:solidFill>
        </p:grpSpPr>
        <p:sp>
          <p:nvSpPr>
            <p:cNvPr id="9" name="Freeform 9">
              <a:extLst>
                <a:ext uri="{FF2B5EF4-FFF2-40B4-BE49-F238E27FC236}">
                  <a16:creationId xmlns:a16="http://schemas.microsoft.com/office/drawing/2014/main" id="{F1907ECE-66E6-4EE0-9A89-AE6FA61FDFD0}"/>
                </a:ext>
              </a:extLst>
            </p:cNvPr>
            <p:cNvSpPr/>
            <p:nvPr/>
          </p:nvSpPr>
          <p:spPr>
            <a:xfrm>
              <a:off x="0" y="255270"/>
              <a:ext cx="13868943" cy="69850"/>
            </a:xfrm>
            <a:custGeom>
              <a:avLst/>
              <a:gdLst/>
              <a:ahLst/>
              <a:cxnLst/>
              <a:rect l="l" t="t" r="r" b="b"/>
              <a:pathLst>
                <a:path w="13868943" h="69850">
                  <a:moveTo>
                    <a:pt x="13578114" y="0"/>
                  </a:moveTo>
                  <a:lnTo>
                    <a:pt x="0" y="0"/>
                  </a:lnTo>
                  <a:lnTo>
                    <a:pt x="0" y="69850"/>
                  </a:lnTo>
                  <a:lnTo>
                    <a:pt x="13868943" y="69850"/>
                  </a:lnTo>
                  <a:lnTo>
                    <a:pt x="13868943" y="0"/>
                  </a:lnTo>
                  <a:close/>
                </a:path>
              </a:pathLst>
            </a:custGeom>
            <a:grpFill/>
          </p:spPr>
        </p:sp>
      </p:grpSp>
      <p:sp>
        <p:nvSpPr>
          <p:cNvPr id="27" name="Plassholder for tekst 26">
            <a:extLst>
              <a:ext uri="{FF2B5EF4-FFF2-40B4-BE49-F238E27FC236}">
                <a16:creationId xmlns:a16="http://schemas.microsoft.com/office/drawing/2014/main" id="{7614E9C3-FBBA-4537-8DC7-37AF11386219}"/>
              </a:ext>
            </a:extLst>
          </p:cNvPr>
          <p:cNvSpPr>
            <a:spLocks noGrp="1"/>
          </p:cNvSpPr>
          <p:nvPr>
            <p:ph type="body" sz="quarter" idx="19" hasCustomPrompt="1"/>
          </p:nvPr>
        </p:nvSpPr>
        <p:spPr>
          <a:xfrm>
            <a:off x="685798"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1 x</a:t>
            </a:r>
          </a:p>
          <a:p>
            <a:pPr lvl="0"/>
            <a:r>
              <a:rPr lang="nb-NO"/>
              <a:t>Tema 2</a:t>
            </a:r>
          </a:p>
          <a:p>
            <a:pPr lvl="0"/>
            <a:r>
              <a:rPr lang="nb-NO"/>
              <a:t>Tema 3</a:t>
            </a:r>
          </a:p>
        </p:txBody>
      </p:sp>
      <p:sp>
        <p:nvSpPr>
          <p:cNvPr id="28" name="Plassholder for tekst 26">
            <a:extLst>
              <a:ext uri="{FF2B5EF4-FFF2-40B4-BE49-F238E27FC236}">
                <a16:creationId xmlns:a16="http://schemas.microsoft.com/office/drawing/2014/main" id="{656C1EC4-C465-4D16-8221-365C200C31E0}"/>
              </a:ext>
            </a:extLst>
          </p:cNvPr>
          <p:cNvSpPr>
            <a:spLocks noGrp="1"/>
          </p:cNvSpPr>
          <p:nvPr>
            <p:ph type="body" sz="quarter" idx="20" hasCustomPrompt="1"/>
          </p:nvPr>
        </p:nvSpPr>
        <p:spPr>
          <a:xfrm>
            <a:off x="6029292" y="2586178"/>
            <a:ext cx="3814763" cy="1814512"/>
          </a:xfrm>
        </p:spPr>
        <p:txBody>
          <a:bodyPr>
            <a:normAutofit/>
          </a:bodyPr>
          <a:lstStyle>
            <a:lvl1pPr marL="0" indent="0">
              <a:buNone/>
              <a:defRPr sz="1200" baseline="0">
                <a:solidFill>
                  <a:srgbClr val="0D2841"/>
                </a:solidFill>
                <a:latin typeface="Open Sans Regular" panose="020B060603050402020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1 x</a:t>
            </a:r>
          </a:p>
          <a:p>
            <a:pPr lvl="0"/>
            <a:r>
              <a:rPr lang="nb-NO"/>
              <a:t>Side 2</a:t>
            </a:r>
          </a:p>
          <a:p>
            <a:pPr lvl="0"/>
            <a:r>
              <a:rPr lang="nb-NO"/>
              <a:t>Side 3</a:t>
            </a:r>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85797" y="1718409"/>
            <a:ext cx="3814763"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TEMA x</a:t>
            </a:r>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732942"/>
            <a:ext cx="3814763"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SIDE x</a:t>
            </a:r>
          </a:p>
        </p:txBody>
      </p:sp>
      <p:sp>
        <p:nvSpPr>
          <p:cNvPr id="33" name="Plassholder for dato 32">
            <a:extLst>
              <a:ext uri="{FF2B5EF4-FFF2-40B4-BE49-F238E27FC236}">
                <a16:creationId xmlns:a16="http://schemas.microsoft.com/office/drawing/2014/main" id="{9BBFDEEB-8DE4-4894-99EB-78219ACA941C}"/>
              </a:ext>
            </a:extLst>
          </p:cNvPr>
          <p:cNvSpPr>
            <a:spLocks noGrp="1"/>
          </p:cNvSpPr>
          <p:nvPr>
            <p:ph type="dt" sz="half" idx="25"/>
          </p:nvPr>
        </p:nvSpPr>
        <p:spPr/>
        <p:txBody>
          <a:bodyPr/>
          <a:lstStyle/>
          <a:p>
            <a:fld id="{B347897A-ADFB-4281-ADEB-0BA075ABD52E}" type="datetime1">
              <a:rPr lang="nb-NO" smtClean="0"/>
              <a:t>10.03.2026</a:t>
            </a:fld>
            <a:endParaRPr lang="en-US"/>
          </a:p>
        </p:txBody>
      </p:sp>
      <p:sp>
        <p:nvSpPr>
          <p:cNvPr id="34" name="Plassholder for bunntekst 33">
            <a:extLst>
              <a:ext uri="{FF2B5EF4-FFF2-40B4-BE49-F238E27FC236}">
                <a16:creationId xmlns:a16="http://schemas.microsoft.com/office/drawing/2014/main" id="{92E8E1D9-1530-4CE6-8B90-CD11D4F3B341}"/>
              </a:ext>
            </a:extLst>
          </p:cNvPr>
          <p:cNvSpPr>
            <a:spLocks noGrp="1"/>
          </p:cNvSpPr>
          <p:nvPr>
            <p:ph type="ftr" sz="quarter" idx="26"/>
          </p:nvPr>
        </p:nvSpPr>
        <p:spPr/>
        <p:txBody>
          <a:bodyPr/>
          <a:lstStyle/>
          <a:p>
            <a:r>
              <a:rPr lang="en-US"/>
              <a:t>Pensum Asset Management</a:t>
            </a:r>
          </a:p>
        </p:txBody>
      </p:sp>
      <p:sp>
        <p:nvSpPr>
          <p:cNvPr id="35" name="Plassholder for lysbildenummer 34">
            <a:extLst>
              <a:ext uri="{FF2B5EF4-FFF2-40B4-BE49-F238E27FC236}">
                <a16:creationId xmlns:a16="http://schemas.microsoft.com/office/drawing/2014/main" id="{E905F41E-9AA1-472A-B9C8-7301FE2447D9}"/>
              </a:ext>
            </a:extLst>
          </p:cNvPr>
          <p:cNvSpPr>
            <a:spLocks noGrp="1"/>
          </p:cNvSpPr>
          <p:nvPr>
            <p:ph type="sldNum" sz="quarter" idx="27"/>
          </p:nvPr>
        </p:nvSpPr>
        <p:spPr/>
        <p:txBody>
          <a:bodyPr/>
          <a:lstStyle>
            <a:lvl1pPr>
              <a:defRPr/>
            </a:lvl1pPr>
          </a:lstStyle>
          <a:p>
            <a:fld id="{5A1C069C-C3D9-4EFC-9EA6-606175A0C49A}" type="slidenum">
              <a:rPr lang="en-US" smtClean="0"/>
              <a:pPr/>
              <a:t>‹#›</a:t>
            </a:fld>
            <a:endParaRPr lang="en-US"/>
          </a:p>
        </p:txBody>
      </p:sp>
      <p:pic>
        <p:nvPicPr>
          <p:cNvPr id="16" name="Bilde 15" descr="Et bilde som inneholder tekst&#10;&#10;Automatisk generert beskrivelse">
            <a:extLst>
              <a:ext uri="{FF2B5EF4-FFF2-40B4-BE49-F238E27FC236}">
                <a16:creationId xmlns:a16="http://schemas.microsoft.com/office/drawing/2014/main" id="{4DCF2301-4CC7-4020-8215-6A5B12D35C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7" name="Plassholder for tekst 26">
            <a:extLst>
              <a:ext uri="{FF2B5EF4-FFF2-40B4-BE49-F238E27FC236}">
                <a16:creationId xmlns:a16="http://schemas.microsoft.com/office/drawing/2014/main" id="{1E736600-8C5E-4FC8-B6AB-108047F9CBB0}"/>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22763867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kst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2110928"/>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2110929"/>
            <a:ext cx="4744855"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2497524"/>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9935947"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pic>
        <p:nvPicPr>
          <p:cNvPr id="13" name="Bilde 12" descr="Et bilde som inneholder tekst&#10;&#10;Automatisk generert beskrivelse">
            <a:extLst>
              <a:ext uri="{FF2B5EF4-FFF2-40B4-BE49-F238E27FC236}">
                <a16:creationId xmlns:a16="http://schemas.microsoft.com/office/drawing/2014/main" id="{62133301-DCC9-40BB-A1C0-2EB0CD9F08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897406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ekst u ingress_2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0" y="1353111"/>
            <a:ext cx="474485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6029292" y="1353112"/>
            <a:ext cx="4744856"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199"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6029292" y="1739707"/>
            <a:ext cx="4744856"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pic>
        <p:nvPicPr>
          <p:cNvPr id="13" name="Bilde 12" descr="Et bilde som inneholder tekst&#10;&#10;Automatisk generert beskrivelse">
            <a:extLst>
              <a:ext uri="{FF2B5EF4-FFF2-40B4-BE49-F238E27FC236}">
                <a16:creationId xmlns:a16="http://schemas.microsoft.com/office/drawing/2014/main" id="{62133301-DCC9-40BB-A1C0-2EB0CD9F08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4" name="Plassholder for tekst 26">
            <a:extLst>
              <a:ext uri="{FF2B5EF4-FFF2-40B4-BE49-F238E27FC236}">
                <a16:creationId xmlns:a16="http://schemas.microsoft.com/office/drawing/2014/main" id="{D4A86CA7-EF5C-4A9C-86E7-8970C2B59A88}"/>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nb-NO" err="1"/>
              <a:t>X</a:t>
            </a:r>
            <a:r>
              <a:rPr lang="nb-NO"/>
              <a:t> Overskrift </a:t>
            </a:r>
            <a:r>
              <a:rPr lang="nb-NO" err="1"/>
              <a:t>X</a:t>
            </a:r>
            <a:endParaRPr lang="nb-NO"/>
          </a:p>
        </p:txBody>
      </p:sp>
    </p:spTree>
    <p:extLst>
      <p:ext uri="{BB962C8B-B14F-4D97-AF65-F5344CB8AC3E}">
        <p14:creationId xmlns:p14="http://schemas.microsoft.com/office/powerpoint/2010/main" val="11271522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ekst_3 kolonner_punktvis">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838201" y="2110928"/>
            <a:ext cx="3026434"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30" name="Plassholder for tekst 26">
            <a:extLst>
              <a:ext uri="{FF2B5EF4-FFF2-40B4-BE49-F238E27FC236}">
                <a16:creationId xmlns:a16="http://schemas.microsoft.com/office/drawing/2014/main" id="{E5633867-6C46-4F4E-8FFA-76B47BF2E7DB}"/>
              </a:ext>
            </a:extLst>
          </p:cNvPr>
          <p:cNvSpPr>
            <a:spLocks noGrp="1"/>
          </p:cNvSpPr>
          <p:nvPr>
            <p:ph type="body" sz="quarter" idx="22" hasCustomPrompt="1"/>
          </p:nvPr>
        </p:nvSpPr>
        <p:spPr>
          <a:xfrm>
            <a:off x="4504428" y="2108384"/>
            <a:ext cx="3026434" cy="374945"/>
          </a:xfrm>
        </p:spPr>
        <p:txBody>
          <a:bodyPr>
            <a:normAutofit/>
          </a:bodyPr>
          <a:lstStyle>
            <a:lvl1pPr marL="0" indent="0">
              <a:buNone/>
              <a:defRPr lang="nb-NO" sz="1400" b="1" kern="1200" spc="60" dirty="0" smtClean="0">
                <a:solidFill>
                  <a:srgbClr val="CF826C"/>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2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838200" y="2497524"/>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2" name="Plassholder for tekst 9">
            <a:extLst>
              <a:ext uri="{FF2B5EF4-FFF2-40B4-BE49-F238E27FC236}">
                <a16:creationId xmlns:a16="http://schemas.microsoft.com/office/drawing/2014/main" id="{AD2273ED-E45B-4CB6-8ECB-53211DF14B59}"/>
              </a:ext>
            </a:extLst>
          </p:cNvPr>
          <p:cNvSpPr>
            <a:spLocks noGrp="1"/>
          </p:cNvSpPr>
          <p:nvPr>
            <p:ph type="body" sz="quarter" idx="26" hasCustomPrompt="1"/>
          </p:nvPr>
        </p:nvSpPr>
        <p:spPr>
          <a:xfrm>
            <a:off x="4504429"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13" name="Plassholder for tekst 26">
            <a:extLst>
              <a:ext uri="{FF2B5EF4-FFF2-40B4-BE49-F238E27FC236}">
                <a16:creationId xmlns:a16="http://schemas.microsoft.com/office/drawing/2014/main" id="{49B91298-F4EB-4F7D-9B82-C3D58B9DA1B5}"/>
              </a:ext>
            </a:extLst>
          </p:cNvPr>
          <p:cNvSpPr>
            <a:spLocks noGrp="1"/>
          </p:cNvSpPr>
          <p:nvPr>
            <p:ph type="body" sz="quarter" idx="28" hasCustomPrompt="1"/>
          </p:nvPr>
        </p:nvSpPr>
        <p:spPr>
          <a:xfrm>
            <a:off x="8170655" y="2108384"/>
            <a:ext cx="3026434" cy="374945"/>
          </a:xfrm>
        </p:spPr>
        <p:txBody>
          <a:bodyPr>
            <a:normAutofit/>
          </a:bodyPr>
          <a:lstStyle>
            <a:lvl1pPr marL="0" indent="0">
              <a:buNone/>
              <a:defRPr lang="nb-NO" sz="1400" b="1" kern="1200" spc="60" dirty="0" smtClean="0">
                <a:solidFill>
                  <a:srgbClr val="B1B3B3"/>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3 </a:t>
            </a:r>
            <a:r>
              <a:rPr lang="nb-NO" err="1"/>
              <a:t>X</a:t>
            </a:r>
            <a:endParaRPr lang="nb-NO"/>
          </a:p>
        </p:txBody>
      </p:sp>
      <p:sp>
        <p:nvSpPr>
          <p:cNvPr id="14" name="Plassholder for tekst 9">
            <a:extLst>
              <a:ext uri="{FF2B5EF4-FFF2-40B4-BE49-F238E27FC236}">
                <a16:creationId xmlns:a16="http://schemas.microsoft.com/office/drawing/2014/main" id="{6A2E6D1A-C466-4966-9EFB-D9CB946D1D78}"/>
              </a:ext>
            </a:extLst>
          </p:cNvPr>
          <p:cNvSpPr>
            <a:spLocks noGrp="1"/>
          </p:cNvSpPr>
          <p:nvPr>
            <p:ph type="body" sz="quarter" idx="29" hasCustomPrompt="1"/>
          </p:nvPr>
        </p:nvSpPr>
        <p:spPr>
          <a:xfrm>
            <a:off x="8170656" y="2494980"/>
            <a:ext cx="3026434"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pic>
        <p:nvPicPr>
          <p:cNvPr id="16" name="Bilde 15" descr="Et bilde som inneholder tekst&#10;&#10;Automatisk generert beskrivelse">
            <a:extLst>
              <a:ext uri="{FF2B5EF4-FFF2-40B4-BE49-F238E27FC236}">
                <a16:creationId xmlns:a16="http://schemas.microsoft.com/office/drawing/2014/main" id="{3BAF1902-B092-4434-9131-B59123EE60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9" name="Plassholder for tekst 26">
            <a:extLst>
              <a:ext uri="{FF2B5EF4-FFF2-40B4-BE49-F238E27FC236}">
                <a16:creationId xmlns:a16="http://schemas.microsoft.com/office/drawing/2014/main" id="{E6DB492D-8E64-4CA8-A560-AF99CA27908D}"/>
              </a:ext>
            </a:extLst>
          </p:cNvPr>
          <p:cNvSpPr>
            <a:spLocks noGrp="1"/>
          </p:cNvSpPr>
          <p:nvPr>
            <p:ph type="body" sz="quarter" idx="30"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
        <p:nvSpPr>
          <p:cNvPr id="15" name="Plassholder for tekst 26">
            <a:extLst>
              <a:ext uri="{FF2B5EF4-FFF2-40B4-BE49-F238E27FC236}">
                <a16:creationId xmlns:a16="http://schemas.microsoft.com/office/drawing/2014/main" id="{3762A3A9-599C-43D2-A308-319E07686D4C}"/>
              </a:ext>
            </a:extLst>
          </p:cNvPr>
          <p:cNvSpPr>
            <a:spLocks noGrp="1"/>
          </p:cNvSpPr>
          <p:nvPr>
            <p:ph type="body" sz="quarter" idx="31" hasCustomPrompt="1"/>
          </p:nvPr>
        </p:nvSpPr>
        <p:spPr>
          <a:xfrm>
            <a:off x="910895" y="1030217"/>
            <a:ext cx="9255242" cy="374946"/>
          </a:xfrm>
        </p:spPr>
        <p:txBody>
          <a:bodyPr>
            <a:noAutofit/>
          </a:bodyPr>
          <a:lstStyle>
            <a:lvl1pPr marL="0" indent="0">
              <a:buNone/>
              <a:defRPr lang="nb-NO" sz="1300" b="0"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a:t>
            </a:r>
            <a:r>
              <a:rPr lang="nb-NO" err="1"/>
              <a:t>X</a:t>
            </a:r>
            <a:endParaRPr lang="nb-NO"/>
          </a:p>
        </p:txBody>
      </p:sp>
    </p:spTree>
    <p:extLst>
      <p:ext uri="{BB962C8B-B14F-4D97-AF65-F5344CB8AC3E}">
        <p14:creationId xmlns:p14="http://schemas.microsoft.com/office/powerpoint/2010/main" val="24900333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martArt m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14" name="Bilde 13" descr="Et bilde som inneholder tekst&#10;&#10;Automatisk generert beskrivelse">
            <a:extLst>
              <a:ext uri="{FF2B5EF4-FFF2-40B4-BE49-F238E27FC236}">
                <a16:creationId xmlns:a16="http://schemas.microsoft.com/office/drawing/2014/main" id="{C6E902B2-A9A1-475B-BDB2-3F03852C44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7" name="Plassholder for SmartArt 16">
            <a:extLst>
              <a:ext uri="{FF2B5EF4-FFF2-40B4-BE49-F238E27FC236}">
                <a16:creationId xmlns:a16="http://schemas.microsoft.com/office/drawing/2014/main" id="{F398656F-96C9-4168-9129-BA8F889F838C}"/>
              </a:ext>
            </a:extLst>
          </p:cNvPr>
          <p:cNvSpPr>
            <a:spLocks noGrp="1"/>
          </p:cNvSpPr>
          <p:nvPr>
            <p:ph type="dgm" sz="quarter" idx="26"/>
          </p:nvPr>
        </p:nvSpPr>
        <p:spPr>
          <a:xfrm>
            <a:off x="588963" y="1395413"/>
            <a:ext cx="6802437" cy="4600575"/>
          </a:xfrm>
        </p:spPr>
        <p:txBody>
          <a:bodyPr/>
          <a:lstStyle/>
          <a:p>
            <a:endParaRPr lang="nb-NO"/>
          </a:p>
        </p:txBody>
      </p:sp>
      <p:sp>
        <p:nvSpPr>
          <p:cNvPr id="18" name="Plassholder for tekst 26">
            <a:extLst>
              <a:ext uri="{FF2B5EF4-FFF2-40B4-BE49-F238E27FC236}">
                <a16:creationId xmlns:a16="http://schemas.microsoft.com/office/drawing/2014/main" id="{94EB2165-EF87-4A86-BFBE-CD3EE76FABB6}"/>
              </a:ext>
            </a:extLst>
          </p:cNvPr>
          <p:cNvSpPr>
            <a:spLocks noGrp="1"/>
          </p:cNvSpPr>
          <p:nvPr>
            <p:ph type="body" sz="quarter" idx="21" hasCustomPrompt="1"/>
          </p:nvPr>
        </p:nvSpPr>
        <p:spPr>
          <a:xfrm>
            <a:off x="7964865" y="1395413"/>
            <a:ext cx="3388936"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0" name="Plassholder for tekst 9">
            <a:extLst>
              <a:ext uri="{FF2B5EF4-FFF2-40B4-BE49-F238E27FC236}">
                <a16:creationId xmlns:a16="http://schemas.microsoft.com/office/drawing/2014/main" id="{85348A62-9F06-44C3-BA47-3C5CD146ABAA}"/>
              </a:ext>
            </a:extLst>
          </p:cNvPr>
          <p:cNvSpPr>
            <a:spLocks noGrp="1"/>
          </p:cNvSpPr>
          <p:nvPr>
            <p:ph type="body" sz="quarter" idx="27" hasCustomPrompt="1"/>
          </p:nvPr>
        </p:nvSpPr>
        <p:spPr>
          <a:xfrm>
            <a:off x="7964864" y="1773330"/>
            <a:ext cx="3388935" cy="4222658"/>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23" name="Plassholder for tekst 26">
            <a:extLst>
              <a:ext uri="{FF2B5EF4-FFF2-40B4-BE49-F238E27FC236}">
                <a16:creationId xmlns:a16="http://schemas.microsoft.com/office/drawing/2014/main" id="{B1F8BC31-BFAB-4FAB-B00B-17A8245D1593}"/>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36713647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igur med tekst til høyre">
    <p:bg>
      <p:bgPr>
        <a:solidFill>
          <a:srgbClr val="F5F5F5"/>
        </a:solidFill>
        <a:effectLst/>
      </p:bgPr>
    </p:bg>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D8E1B39E-4182-4AC4-8F8B-7ECFB9562FC5}"/>
              </a:ext>
            </a:extLst>
          </p:cNvPr>
          <p:cNvSpPr>
            <a:spLocks noGrp="1"/>
          </p:cNvSpPr>
          <p:nvPr>
            <p:ph type="dt" sz="half" idx="10"/>
          </p:nvPr>
        </p:nvSpPr>
        <p:spPr/>
        <p:txBody>
          <a:bodyPr/>
          <a:lstStyle/>
          <a:p>
            <a:fld id="{544B53CF-3E32-4B9A-89F1-84638DB92EA5}" type="datetime1">
              <a:rPr lang="nb-NO" smtClean="0"/>
              <a:t>10.03.2026</a:t>
            </a:fld>
            <a:endParaRPr lang="en-US"/>
          </a:p>
        </p:txBody>
      </p:sp>
      <p:sp>
        <p:nvSpPr>
          <p:cNvPr id="4" name="Plassholder for bunntekst 3">
            <a:extLst>
              <a:ext uri="{FF2B5EF4-FFF2-40B4-BE49-F238E27FC236}">
                <a16:creationId xmlns:a16="http://schemas.microsoft.com/office/drawing/2014/main" id="{B6069C4F-7D7E-4F40-9D4A-DF421FDCB707}"/>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9ADF4BAC-456A-4972-BE93-50D0EF9E2C36}"/>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29" name="Plassholder for tekst 26">
            <a:extLst>
              <a:ext uri="{FF2B5EF4-FFF2-40B4-BE49-F238E27FC236}">
                <a16:creationId xmlns:a16="http://schemas.microsoft.com/office/drawing/2014/main" id="{B08C1076-959C-4CF6-82DE-6C78E5724AA3}"/>
              </a:ext>
            </a:extLst>
          </p:cNvPr>
          <p:cNvSpPr>
            <a:spLocks noGrp="1"/>
          </p:cNvSpPr>
          <p:nvPr>
            <p:ph type="body" sz="quarter" idx="21" hasCustomPrompt="1"/>
          </p:nvPr>
        </p:nvSpPr>
        <p:spPr>
          <a:xfrm>
            <a:off x="6608945" y="1973937"/>
            <a:ext cx="4744855" cy="374946"/>
          </a:xfrm>
        </p:spPr>
        <p:txBody>
          <a:bodyPr>
            <a:normAutofit/>
          </a:bodyPr>
          <a:lstStyle>
            <a:lvl1pPr marL="0" indent="0">
              <a:buNone/>
              <a:defRPr lang="nb-NO" sz="1400" b="1" kern="1200" spc="60" dirty="0" smtClean="0">
                <a:solidFill>
                  <a:srgbClr val="4F8AA9"/>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BOLK 1 </a:t>
            </a:r>
            <a:r>
              <a:rPr lang="nb-NO" err="1"/>
              <a:t>X</a:t>
            </a:r>
            <a:endParaRPr lang="nb-NO"/>
          </a:p>
        </p:txBody>
      </p:sp>
      <p:sp>
        <p:nvSpPr>
          <p:cNvPr id="23" name="Rectangle 8">
            <a:extLst>
              <a:ext uri="{FF2B5EF4-FFF2-40B4-BE49-F238E27FC236}">
                <a16:creationId xmlns:a16="http://schemas.microsoft.com/office/drawing/2014/main" id="{40BCCB42-E025-48C5-B25E-19120771797D}"/>
              </a:ext>
            </a:extLst>
          </p:cNvPr>
          <p:cNvSpPr/>
          <p:nvPr userDrawn="1"/>
        </p:nvSpPr>
        <p:spPr>
          <a:xfrm>
            <a:off x="751537" y="983690"/>
            <a:ext cx="36000" cy="468000"/>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sp>
        <p:nvSpPr>
          <p:cNvPr id="10" name="Plassholder for tekst 9">
            <a:extLst>
              <a:ext uri="{FF2B5EF4-FFF2-40B4-BE49-F238E27FC236}">
                <a16:creationId xmlns:a16="http://schemas.microsoft.com/office/drawing/2014/main" id="{105A16CD-AC8A-412E-9F72-4E1330846F2A}"/>
              </a:ext>
            </a:extLst>
          </p:cNvPr>
          <p:cNvSpPr>
            <a:spLocks noGrp="1"/>
          </p:cNvSpPr>
          <p:nvPr>
            <p:ph type="body" sz="quarter" idx="25" hasCustomPrompt="1"/>
          </p:nvPr>
        </p:nvSpPr>
        <p:spPr>
          <a:xfrm>
            <a:off x="6608944" y="2367158"/>
            <a:ext cx="4744855" cy="3696242"/>
          </a:xfrm>
        </p:spPr>
        <p:txBody>
          <a:bodyPr>
            <a:normAutofit/>
          </a:bodyPr>
          <a:lstStyle>
            <a:lvl1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1pPr>
            <a:lvl2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2pPr>
            <a:lvl3pPr marL="914400" indent="0">
              <a:buClr>
                <a:srgbClr val="4F8AA9"/>
              </a:buClr>
              <a:buNone/>
              <a:defRPr sz="1200">
                <a:solidFill>
                  <a:srgbClr val="0D2841"/>
                </a:solidFill>
                <a:latin typeface="Open Sans Regular" panose="020B0606030504020204" charset="0"/>
                <a:ea typeface="Open Sans Regular" panose="020B0606030504020204" charset="0"/>
                <a:cs typeface="Open Sans Regular" panose="020B0606030504020204" charset="0"/>
              </a:defRPr>
            </a:lvl3pPr>
            <a:lvl4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4pPr>
            <a:lvl5pPr>
              <a:buClr>
                <a:srgbClr val="4F8AA9"/>
              </a:buClr>
              <a:defRPr sz="1200">
                <a:solidFill>
                  <a:srgbClr val="0D2841"/>
                </a:solidFill>
                <a:latin typeface="Open Sans Regular" panose="020B0606030504020204" charset="0"/>
                <a:ea typeface="Open Sans Regular" panose="020B0606030504020204" charset="0"/>
                <a:cs typeface="Open Sans Regular" panose="020B0606030504020204" charset="0"/>
              </a:defRPr>
            </a:lvl5pPr>
          </a:lstStyle>
          <a:p>
            <a:pPr lvl="0"/>
            <a:r>
              <a:rPr lang="nb-NO" err="1"/>
              <a:t>X</a:t>
            </a:r>
            <a:r>
              <a:rPr lang="nb-NO"/>
              <a:t> Tekst 1 </a:t>
            </a:r>
            <a:r>
              <a:rPr lang="nb-NO" err="1"/>
              <a:t>X</a:t>
            </a:r>
            <a:endParaRPr lang="nb-NO"/>
          </a:p>
          <a:p>
            <a:pPr lvl="1"/>
            <a:r>
              <a:rPr lang="nb-NO"/>
              <a:t>Undertekst 1</a:t>
            </a:r>
          </a:p>
          <a:p>
            <a:pPr lvl="0"/>
            <a:r>
              <a:rPr lang="nb-NO"/>
              <a:t>Tekst 2</a:t>
            </a:r>
          </a:p>
          <a:p>
            <a:pPr lvl="1"/>
            <a:r>
              <a:rPr lang="nb-NO"/>
              <a:t>Undertekst 2</a:t>
            </a:r>
          </a:p>
        </p:txBody>
      </p:sp>
      <p:sp>
        <p:nvSpPr>
          <p:cNvPr id="33" name="Plassholder for tekst 26">
            <a:extLst>
              <a:ext uri="{FF2B5EF4-FFF2-40B4-BE49-F238E27FC236}">
                <a16:creationId xmlns:a16="http://schemas.microsoft.com/office/drawing/2014/main" id="{52684034-1661-4016-90CB-7270A961B60D}"/>
              </a:ext>
            </a:extLst>
          </p:cNvPr>
          <p:cNvSpPr>
            <a:spLocks noGrp="1"/>
          </p:cNvSpPr>
          <p:nvPr>
            <p:ph type="body" sz="quarter" idx="27" hasCustomPrompt="1"/>
          </p:nvPr>
        </p:nvSpPr>
        <p:spPr>
          <a:xfrm>
            <a:off x="838200" y="983690"/>
            <a:ext cx="10515600" cy="468000"/>
          </a:xfrm>
        </p:spPr>
        <p:txBody>
          <a:bodyPr>
            <a:normAutofit/>
          </a:bodyPr>
          <a:lstStyle>
            <a:lvl1pPr marL="0" indent="0">
              <a:buNone/>
              <a:defRPr lang="nb-NO" sz="1300" b="1" kern="1200" spc="60" dirty="0" smtClean="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Ingress x</a:t>
            </a:r>
          </a:p>
        </p:txBody>
      </p:sp>
      <p:pic>
        <p:nvPicPr>
          <p:cNvPr id="16" name="Bilde 15" descr="Et bilde som inneholder tekst&#10;&#10;Automatisk generert beskrivelse">
            <a:extLst>
              <a:ext uri="{FF2B5EF4-FFF2-40B4-BE49-F238E27FC236}">
                <a16:creationId xmlns:a16="http://schemas.microsoft.com/office/drawing/2014/main" id="{D536A81C-F786-47E9-A4EC-F293F8307E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8" name="Plassholder for tekst 26">
            <a:extLst>
              <a:ext uri="{FF2B5EF4-FFF2-40B4-BE49-F238E27FC236}">
                <a16:creationId xmlns:a16="http://schemas.microsoft.com/office/drawing/2014/main" id="{F26854B0-7F12-471E-B99D-5BFAD60A7294}"/>
              </a:ext>
            </a:extLst>
          </p:cNvPr>
          <p:cNvSpPr>
            <a:spLocks noGrp="1"/>
          </p:cNvSpPr>
          <p:nvPr>
            <p:ph type="body" sz="quarter" idx="28"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err="1"/>
              <a:t>X</a:t>
            </a:r>
            <a:r>
              <a:rPr lang="nb-NO"/>
              <a:t> Overskrift </a:t>
            </a:r>
            <a:r>
              <a:rPr lang="nb-NO" err="1"/>
              <a:t>X</a:t>
            </a:r>
            <a:endParaRPr lang="nb-NO"/>
          </a:p>
        </p:txBody>
      </p:sp>
    </p:spTree>
    <p:extLst>
      <p:ext uri="{BB962C8B-B14F-4D97-AF65-F5344CB8AC3E}">
        <p14:creationId xmlns:p14="http://schemas.microsoft.com/office/powerpoint/2010/main" val="212275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sp>
        <p:nvSpPr>
          <p:cNvPr id="7" name="object 7">
            <a:extLst>
              <a:ext uri="{FF2B5EF4-FFF2-40B4-BE49-F238E27FC236}">
                <a16:creationId xmlns:a16="http://schemas.microsoft.com/office/drawing/2014/main" id="{D6F1F97F-D4B5-40A4-83B5-C64B96A97772}"/>
              </a:ext>
            </a:extLst>
          </p:cNvPr>
          <p:cNvSpPr txBox="1"/>
          <p:nvPr userDrawn="1"/>
        </p:nvSpPr>
        <p:spPr>
          <a:xfrm>
            <a:off x="884555" y="1264786"/>
            <a:ext cx="9097645" cy="2950359"/>
          </a:xfrm>
          <a:prstGeom prst="rect">
            <a:avLst/>
          </a:prstGeom>
        </p:spPr>
        <p:txBody>
          <a:bodyPr vert="horz" wrap="square" lIns="0" tIns="12700" rIns="0" bIns="0" rtlCol="0">
            <a:spAutoFit/>
          </a:bodyPr>
          <a:lstStyle/>
          <a:p>
            <a:pPr marL="12700" marR="5080">
              <a:lnSpc>
                <a:spcPct val="111200"/>
              </a:lnSpc>
              <a:spcBef>
                <a:spcPts val="100"/>
              </a:spcBef>
            </a:pPr>
            <a:r>
              <a:rPr sz="1600">
                <a:solidFill>
                  <a:srgbClr val="0D2841"/>
                </a:solidFill>
                <a:latin typeface="Open Sans Regular" panose="020B0606030504020204" charset="0"/>
                <a:ea typeface="Open Sans Regular" panose="020B0606030504020204" charset="0"/>
                <a:cs typeface="Open Sans Regular" panose="020B0606030504020204" charset="0"/>
              </a:rPr>
              <a:t>Historisk avkastning er ingen garanti for fremtidig avkastning. Fremtidig avkastning vil blant annet avhenge av  markedsutviklingen, forvalternes dyktighet, fondenes risiko samt kostnader ved forvaltning. Avkastningen kan bli  negativ som følge av kurstap. Pensum Asset Management anser at informasjonen i denne presentasjonen kommer fra  kilder som er pålitelige, men kan likevel ikke garantere at informasjonen til enhver tid er fullstendig, korrekt eller  tilgjengelig. Pensum Asset Management fraskriver seg således ethvert ansvar for feil og mangler.</a:t>
            </a:r>
          </a:p>
          <a:p>
            <a:pPr>
              <a:lnSpc>
                <a:spcPct val="100000"/>
              </a:lnSpc>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a:lnSpc>
                <a:spcPct val="100000"/>
              </a:lnSpc>
              <a:spcBef>
                <a:spcPts val="35"/>
              </a:spcBef>
            </a:pPr>
            <a:endParaRPr sz="1600">
              <a:solidFill>
                <a:srgbClr val="0D2841"/>
              </a:solidFill>
              <a:latin typeface="Open Sans Regular" panose="020B0606030504020204" charset="0"/>
              <a:ea typeface="Open Sans Regular" panose="020B0606030504020204" charset="0"/>
              <a:cs typeface="Open Sans Regular" panose="020B0606030504020204" charset="0"/>
            </a:endParaRPr>
          </a:p>
          <a:p>
            <a:pPr marL="12700" marR="810895">
              <a:lnSpc>
                <a:spcPct val="111000"/>
              </a:lnSpc>
            </a:pPr>
            <a:r>
              <a:rPr sz="1600">
                <a:solidFill>
                  <a:srgbClr val="0D2841"/>
                </a:solidFill>
                <a:latin typeface="Open Sans Regular" panose="020B0606030504020204" charset="0"/>
                <a:ea typeface="Open Sans Regular" panose="020B0606030504020204" charset="0"/>
                <a:cs typeface="Open Sans Regular" panose="020B0606030504020204" charset="0"/>
              </a:rPr>
              <a:t>Informasjonen i denne presentasjonen er ikke ment som en kjøps- eller salgsanbefaling, og Pensum Asset  Management fraskriver seg dermed ethvert ansvar for eventuelle tap fra handler utført som følge av denne  presentasjonen.</a:t>
            </a:r>
          </a:p>
        </p:txBody>
      </p:sp>
      <p:sp>
        <p:nvSpPr>
          <p:cNvPr id="8" name="Rectangle 8">
            <a:extLst>
              <a:ext uri="{FF2B5EF4-FFF2-40B4-BE49-F238E27FC236}">
                <a16:creationId xmlns:a16="http://schemas.microsoft.com/office/drawing/2014/main" id="{C2C39B3D-10B8-467F-8189-FDF230C17712}"/>
              </a:ext>
            </a:extLst>
          </p:cNvPr>
          <p:cNvSpPr/>
          <p:nvPr userDrawn="1"/>
        </p:nvSpPr>
        <p:spPr>
          <a:xfrm>
            <a:off x="705593" y="1264786"/>
            <a:ext cx="45719" cy="295035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CF826C"/>
              </a:highlight>
            </a:endParaRPr>
          </a:p>
        </p:txBody>
      </p:sp>
      <p:pic>
        <p:nvPicPr>
          <p:cNvPr id="10" name="Bilde 9" descr="Et bilde som inneholder tekst&#10;&#10;Automatisk generert beskrivelse">
            <a:extLst>
              <a:ext uri="{FF2B5EF4-FFF2-40B4-BE49-F238E27FC236}">
                <a16:creationId xmlns:a16="http://schemas.microsoft.com/office/drawing/2014/main" id="{70A3839F-9783-43D2-A15C-ABEB334698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2" name="Plassholder for tekst 26">
            <a:extLst>
              <a:ext uri="{FF2B5EF4-FFF2-40B4-BE49-F238E27FC236}">
                <a16:creationId xmlns:a16="http://schemas.microsoft.com/office/drawing/2014/main" id="{D88C97D1-0B59-4615-A7D6-32FC829CD549}"/>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Ansvarsfraskrivelse</a:t>
            </a:r>
          </a:p>
        </p:txBody>
      </p:sp>
    </p:spTree>
    <p:extLst>
      <p:ext uri="{BB962C8B-B14F-4D97-AF65-F5344CB8AC3E}">
        <p14:creationId xmlns:p14="http://schemas.microsoft.com/office/powerpoint/2010/main" val="1190036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ontorer">
    <p:spTree>
      <p:nvGrpSpPr>
        <p:cNvPr id="1" name=""/>
        <p:cNvGrpSpPr/>
        <p:nvPr/>
      </p:nvGrpSpPr>
      <p:grpSpPr>
        <a:xfrm>
          <a:off x="0" y="0"/>
          <a:ext cx="0" cy="0"/>
          <a:chOff x="0" y="0"/>
          <a:chExt cx="0" cy="0"/>
        </a:xfrm>
      </p:grpSpPr>
      <p:sp>
        <p:nvSpPr>
          <p:cNvPr id="3" name="Plassholder for dato 2">
            <a:extLst>
              <a:ext uri="{FF2B5EF4-FFF2-40B4-BE49-F238E27FC236}">
                <a16:creationId xmlns:a16="http://schemas.microsoft.com/office/drawing/2014/main" id="{11BC0202-29FE-42FF-AF4B-2C4C660D4D26}"/>
              </a:ext>
            </a:extLst>
          </p:cNvPr>
          <p:cNvSpPr>
            <a:spLocks noGrp="1"/>
          </p:cNvSpPr>
          <p:nvPr>
            <p:ph type="dt" sz="half" idx="10"/>
          </p:nvPr>
        </p:nvSpPr>
        <p:spPr/>
        <p:txBody>
          <a:bodyPr/>
          <a:lstStyle/>
          <a:p>
            <a:fld id="{E31318B7-3E92-496A-9EDD-EC73CABD4D77}" type="datetime1">
              <a:rPr lang="nb-NO" smtClean="0"/>
              <a:t>10.03.2026</a:t>
            </a:fld>
            <a:endParaRPr lang="en-US"/>
          </a:p>
        </p:txBody>
      </p:sp>
      <p:sp>
        <p:nvSpPr>
          <p:cNvPr id="4" name="Plassholder for bunntekst 3">
            <a:extLst>
              <a:ext uri="{FF2B5EF4-FFF2-40B4-BE49-F238E27FC236}">
                <a16:creationId xmlns:a16="http://schemas.microsoft.com/office/drawing/2014/main" id="{34C3BD94-04D8-45AE-8AF7-F5537C7DCEB5}"/>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BC99E92F-9BB9-4FE4-AA47-824B9A99F41D}"/>
              </a:ext>
            </a:extLst>
          </p:cNvPr>
          <p:cNvSpPr>
            <a:spLocks noGrp="1"/>
          </p:cNvSpPr>
          <p:nvPr>
            <p:ph type="sldNum" sz="quarter" idx="12"/>
          </p:nvPr>
        </p:nvSpPr>
        <p:spPr/>
        <p:txBody>
          <a:bodyPr/>
          <a:lstStyle/>
          <a:p>
            <a:fld id="{530A68A1-2222-4891-8273-9FD73004E852}" type="slidenum">
              <a:rPr lang="en-US" smtClean="0"/>
              <a:pPr/>
              <a:t>‹#›</a:t>
            </a:fld>
            <a:endParaRPr lang="en-US"/>
          </a:p>
        </p:txBody>
      </p:sp>
      <p:pic>
        <p:nvPicPr>
          <p:cNvPr id="10" name="Bilde 9" descr="Et bilde som inneholder tekst&#10;&#10;Automatisk generert beskrivelse">
            <a:extLst>
              <a:ext uri="{FF2B5EF4-FFF2-40B4-BE49-F238E27FC236}">
                <a16:creationId xmlns:a16="http://schemas.microsoft.com/office/drawing/2014/main" id="{70A3839F-9783-43D2-A15C-ABEB334698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6849" y="-161355"/>
            <a:ext cx="2355980" cy="1145936"/>
          </a:xfrm>
          <a:prstGeom prst="rect">
            <a:avLst/>
          </a:prstGeom>
        </p:spPr>
      </p:pic>
      <p:sp>
        <p:nvSpPr>
          <p:cNvPr id="13" name="Plassholder for tekst 26">
            <a:extLst>
              <a:ext uri="{FF2B5EF4-FFF2-40B4-BE49-F238E27FC236}">
                <a16:creationId xmlns:a16="http://schemas.microsoft.com/office/drawing/2014/main" id="{2D42A5DA-19E8-41E0-829B-18B372CA70DF}"/>
              </a:ext>
            </a:extLst>
          </p:cNvPr>
          <p:cNvSpPr>
            <a:spLocks noGrp="1"/>
          </p:cNvSpPr>
          <p:nvPr>
            <p:ph type="body" sz="quarter" idx="25" hasCustomPrompt="1"/>
          </p:nvPr>
        </p:nvSpPr>
        <p:spPr>
          <a:xfrm>
            <a:off x="588813" y="411613"/>
            <a:ext cx="9255242" cy="374946"/>
          </a:xfrm>
        </p:spPr>
        <p:txBody>
          <a:bodyPr>
            <a:noAutofit/>
          </a:bodyPr>
          <a:lstStyle>
            <a:lvl1pPr marL="0" inden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a:defRPr sz="1200" baseline="0">
                <a:solidFill>
                  <a:srgbClr val="0D2841"/>
                </a:solidFill>
                <a:latin typeface="Open Sans Regular" panose="020B0606030504020204" charset="0"/>
              </a:defRPr>
            </a:lvl2pPr>
            <a:lvl3pPr>
              <a:defRPr sz="1200" baseline="0">
                <a:solidFill>
                  <a:srgbClr val="0D2841"/>
                </a:solidFill>
                <a:latin typeface="Open Sans Regular" panose="020B0606030504020204" charset="0"/>
              </a:defRPr>
            </a:lvl3pPr>
            <a:lvl4pPr>
              <a:defRPr sz="1200" baseline="0">
                <a:solidFill>
                  <a:srgbClr val="0D2841"/>
                </a:solidFill>
                <a:latin typeface="Open Sans Regular" panose="020B0606030504020204" charset="0"/>
              </a:defRPr>
            </a:lvl4pPr>
            <a:lvl5pPr>
              <a:defRPr sz="1200" baseline="0">
                <a:solidFill>
                  <a:srgbClr val="0D2841"/>
                </a:solidFill>
                <a:latin typeface="Open Sans Regular" panose="020B0606030504020204" charset="0"/>
              </a:defRPr>
            </a:lvl5pPr>
          </a:lstStyle>
          <a:p>
            <a:pPr lvl="0"/>
            <a:r>
              <a:rPr lang="nb-NO"/>
              <a:t>Kontorer</a:t>
            </a:r>
          </a:p>
        </p:txBody>
      </p:sp>
      <p:graphicFrame>
        <p:nvGraphicFramePr>
          <p:cNvPr id="6" name="Diagram 5">
            <a:extLst>
              <a:ext uri="{FF2B5EF4-FFF2-40B4-BE49-F238E27FC236}">
                <a16:creationId xmlns:a16="http://schemas.microsoft.com/office/drawing/2014/main" id="{F581E30F-CDB5-4C41-9E75-7012F2AC5EEF}"/>
              </a:ext>
            </a:extLst>
          </p:cNvPr>
          <p:cNvGraphicFramePr/>
          <p:nvPr userDrawn="1">
            <p:extLst>
              <p:ext uri="{D42A27DB-BD31-4B8C-83A1-F6EECF244321}">
                <p14:modId xmlns:p14="http://schemas.microsoft.com/office/powerpoint/2010/main" val="3528348051"/>
              </p:ext>
            </p:extLst>
          </p:nvPr>
        </p:nvGraphicFramePr>
        <p:xfrm>
          <a:off x="1005731" y="1324303"/>
          <a:ext cx="9856710" cy="35314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65771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8829B15-EDD8-47AA-BF8D-93A53B67CB44}"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grpSp>
        <p:nvGrpSpPr>
          <p:cNvPr id="6" name="Group 5"/>
          <p:cNvGrpSpPr/>
          <p:nvPr userDrawn="1"/>
        </p:nvGrpSpPr>
        <p:grpSpPr>
          <a:xfrm>
            <a:off x="10701189" y="0"/>
            <a:ext cx="900000" cy="900000"/>
            <a:chOff x="5379492" y="0"/>
            <a:chExt cx="1433015" cy="1433015"/>
          </a:xfrm>
        </p:grpSpPr>
        <p:sp>
          <p:nvSpPr>
            <p:cNvPr id="7" name="Round Same Side Corner Rectangle 6"/>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Picture Placeholder 9"/>
          <p:cNvSpPr>
            <a:spLocks noGrp="1"/>
          </p:cNvSpPr>
          <p:nvPr>
            <p:ph type="pic" sz="quarter" idx="13"/>
          </p:nvPr>
        </p:nvSpPr>
        <p:spPr>
          <a:xfrm>
            <a:off x="838200" y="709636"/>
            <a:ext cx="3856630" cy="5077015"/>
          </a:xfrm>
        </p:spPr>
        <p:txBody>
          <a:bodyPr>
            <a:normAutofit/>
          </a:bodyPr>
          <a:lstStyle>
            <a:lvl1pPr>
              <a:defRPr sz="1800">
                <a:latin typeface="Open Sans Regular" panose="020B0606030504020204" pitchFamily="34" charset="0"/>
                <a:ea typeface="Open Sans Regular" panose="020B0606030504020204" pitchFamily="34" charset="0"/>
                <a:cs typeface="Open Sans Regular" panose="020B0606030504020204" pitchFamily="34" charset="0"/>
              </a:defRPr>
            </a:lvl1pPr>
          </a:lstStyle>
          <a:p>
            <a:endParaRPr lang="en-US"/>
          </a:p>
        </p:txBody>
      </p:sp>
    </p:spTree>
    <p:extLst>
      <p:ext uri="{BB962C8B-B14F-4D97-AF65-F5344CB8AC3E}">
        <p14:creationId xmlns:p14="http://schemas.microsoft.com/office/powerpoint/2010/main" val="13091255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5F5F5"/>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71D25D-341A-4C57-AA72-4F514FF028FC}" type="datetime1">
              <a:rPr lang="nb-NO" smtClean="0"/>
              <a:t>10.03.2026</a:t>
            </a:fld>
            <a:endParaRPr lang="en-US"/>
          </a:p>
        </p:txBody>
      </p:sp>
      <p:sp>
        <p:nvSpPr>
          <p:cNvPr id="3" name="Footer Placeholder 2"/>
          <p:cNvSpPr>
            <a:spLocks noGrp="1"/>
          </p:cNvSpPr>
          <p:nvPr>
            <p:ph type="ftr" sz="quarter" idx="11"/>
          </p:nvPr>
        </p:nvSpPr>
        <p:spPr/>
        <p:txBody>
          <a:bodyPr/>
          <a:lstStyle/>
          <a:p>
            <a:r>
              <a:rPr lang="en-US"/>
              <a:t>Pensum Asset Management</a:t>
            </a:r>
          </a:p>
        </p:txBody>
      </p:sp>
      <p:sp>
        <p:nvSpPr>
          <p:cNvPr id="4" name="Slide Number Placeholder 3"/>
          <p:cNvSpPr>
            <a:spLocks noGrp="1"/>
          </p:cNvSpPr>
          <p:nvPr>
            <p:ph type="sldNum" sz="quarter" idx="12"/>
          </p:nvPr>
        </p:nvSpPr>
        <p:spPr/>
        <p:txBody>
          <a:bodyPr/>
          <a:lstStyle/>
          <a:p>
            <a:fld id="{530A68A1-2222-4891-8273-9FD73004E852}" type="slidenum">
              <a:rPr lang="en-US" smtClean="0"/>
              <a:t>‹#›</a:t>
            </a:fld>
            <a:endParaRPr lang="en-US"/>
          </a:p>
        </p:txBody>
      </p:sp>
      <p:sp>
        <p:nvSpPr>
          <p:cNvPr id="9" name="Picture Placeholder 8"/>
          <p:cNvSpPr>
            <a:spLocks noGrp="1"/>
          </p:cNvSpPr>
          <p:nvPr>
            <p:ph type="pic" sz="quarter" idx="13"/>
          </p:nvPr>
        </p:nvSpPr>
        <p:spPr>
          <a:xfrm>
            <a:off x="818014"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0" name="Picture Placeholder 8"/>
          <p:cNvSpPr>
            <a:spLocks noGrp="1"/>
          </p:cNvSpPr>
          <p:nvPr>
            <p:ph type="pic" sz="quarter" idx="14"/>
          </p:nvPr>
        </p:nvSpPr>
        <p:spPr>
          <a:xfrm>
            <a:off x="4574560"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1" name="Picture Placeholder 8"/>
          <p:cNvSpPr>
            <a:spLocks noGrp="1"/>
          </p:cNvSpPr>
          <p:nvPr>
            <p:ph type="pic" sz="quarter" idx="15"/>
          </p:nvPr>
        </p:nvSpPr>
        <p:spPr>
          <a:xfrm>
            <a:off x="8331107" y="3872099"/>
            <a:ext cx="3049587" cy="1479550"/>
          </a:xfrm>
        </p:spPr>
        <p:txBody>
          <a:bodyPr>
            <a:normAutofit/>
          </a:bodyPr>
          <a:lstStyle>
            <a:lvl1pPr>
              <a:defRPr sz="18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sp>
        <p:nvSpPr>
          <p:cNvPr id="12" name="Rectangle 11"/>
          <p:cNvSpPr/>
          <p:nvPr userDrawn="1"/>
        </p:nvSpPr>
        <p:spPr>
          <a:xfrm>
            <a:off x="818014" y="5351649"/>
            <a:ext cx="3049586" cy="45719"/>
          </a:xfrm>
          <a:prstGeom prst="rect">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4574561" y="5351649"/>
            <a:ext cx="3049586" cy="45719"/>
          </a:xfrm>
          <a:prstGeom prst="rect">
            <a:avLst/>
          </a:prstGeom>
          <a:solidFill>
            <a:srgbClr val="CF8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a:off x="8331108" y="5351649"/>
            <a:ext cx="3049586" cy="45719"/>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userDrawn="1"/>
        </p:nvGrpSpPr>
        <p:grpSpPr>
          <a:xfrm>
            <a:off x="10701189" y="0"/>
            <a:ext cx="900000" cy="900000"/>
            <a:chOff x="5379492" y="0"/>
            <a:chExt cx="1433015" cy="1433015"/>
          </a:xfrm>
        </p:grpSpPr>
        <p:sp>
          <p:nvSpPr>
            <p:cNvPr id="19" name="Round Same Side Corner Rectangle 18"/>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26209515"/>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A529E0F-A7EF-48C8-AE44-1844F8408D4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8" name="Title 1"/>
          <p:cNvSpPr>
            <a:spLocks noGrp="1"/>
          </p:cNvSpPr>
          <p:nvPr>
            <p:ph type="title"/>
          </p:nvPr>
        </p:nvSpPr>
        <p:spPr>
          <a:xfrm>
            <a:off x="2918012" y="4592588"/>
            <a:ext cx="6355976" cy="759341"/>
          </a:xfrm>
        </p:spPr>
        <p:txBody>
          <a:bodyPr>
            <a:noAutofit/>
          </a:bodyPr>
          <a:lstStyle>
            <a:lvl1pPr algn="ctr">
              <a:defRPr sz="400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spTree>
    <p:extLst>
      <p:ext uri="{BB962C8B-B14F-4D97-AF65-F5344CB8AC3E}">
        <p14:creationId xmlns:p14="http://schemas.microsoft.com/office/powerpoint/2010/main" val="23738071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CE0226-C107-4966-B9BB-3B5D8C70897A}"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grpSp>
        <p:nvGrpSpPr>
          <p:cNvPr id="9" name="Group 8"/>
          <p:cNvGrpSpPr/>
          <p:nvPr userDrawn="1"/>
        </p:nvGrpSpPr>
        <p:grpSpPr>
          <a:xfrm>
            <a:off x="530055" y="0"/>
            <a:ext cx="900000" cy="900000"/>
            <a:chOff x="5379492" y="0"/>
            <a:chExt cx="1433015" cy="1433015"/>
          </a:xfrm>
        </p:grpSpPr>
        <p:sp>
          <p:nvSpPr>
            <p:cNvPr id="10" name="Round Same Side Corner Rectangle 9"/>
            <p:cNvSpPr/>
            <p:nvPr userDrawn="1"/>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https://o.remove.bg/downloads/b29e96dd-f472-4a60-a098-f92fad661090/Pensum_Logo_2021_H__yde_M__rk_Bla_%C3%A8-removebg-preview.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Bilde 5">
            <a:extLst>
              <a:ext uri="{FF2B5EF4-FFF2-40B4-BE49-F238E27FC236}">
                <a16:creationId xmlns:a16="http://schemas.microsoft.com/office/drawing/2014/main" id="{5B8272D0-EC20-48D4-BA03-5CA41DB7ED0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10250" y="1409369"/>
            <a:ext cx="2203200" cy="1071624"/>
          </a:xfrm>
          <a:prstGeom prst="rect">
            <a:avLst/>
          </a:prstGeom>
        </p:spPr>
      </p:pic>
      <p:pic>
        <p:nvPicPr>
          <p:cNvPr id="8" name="Bilde 7" descr="Et bilde som inneholder tekst&#10;&#10;Automatisk generert beskrivelse">
            <a:extLst>
              <a:ext uri="{FF2B5EF4-FFF2-40B4-BE49-F238E27FC236}">
                <a16:creationId xmlns:a16="http://schemas.microsoft.com/office/drawing/2014/main" id="{24109C82-DFE9-446E-88C5-02D66386BBE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138340" y="2893188"/>
            <a:ext cx="2203200" cy="1071624"/>
          </a:xfrm>
          <a:prstGeom prst="rect">
            <a:avLst/>
          </a:prstGeom>
        </p:spPr>
      </p:pic>
      <p:pic>
        <p:nvPicPr>
          <p:cNvPr id="13" name="Bilde 12">
            <a:extLst>
              <a:ext uri="{FF2B5EF4-FFF2-40B4-BE49-F238E27FC236}">
                <a16:creationId xmlns:a16="http://schemas.microsoft.com/office/drawing/2014/main" id="{AC2ABCDA-038A-4AB4-BD43-319DF22D0B9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132576" y="574095"/>
            <a:ext cx="1792224" cy="871728"/>
          </a:xfrm>
          <a:prstGeom prst="rect">
            <a:avLst/>
          </a:prstGeom>
        </p:spPr>
      </p:pic>
      <p:pic>
        <p:nvPicPr>
          <p:cNvPr id="15" name="Bilde 14" descr="Et bilde som inneholder tekst&#10;&#10;Automatisk generert beskrivelse">
            <a:extLst>
              <a:ext uri="{FF2B5EF4-FFF2-40B4-BE49-F238E27FC236}">
                <a16:creationId xmlns:a16="http://schemas.microsoft.com/office/drawing/2014/main" id="{FF67BEEF-1447-4DE2-9284-47C58C41D84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88800" y="-87590"/>
            <a:ext cx="2203200" cy="1071624"/>
          </a:xfrm>
          <a:prstGeom prst="rect">
            <a:avLst/>
          </a:prstGeom>
        </p:spPr>
      </p:pic>
      <p:pic>
        <p:nvPicPr>
          <p:cNvPr id="17" name="Bilde 16" descr="Et bilde som inneholder tekst&#10;&#10;Automatisk generert beskrivelse">
            <a:extLst>
              <a:ext uri="{FF2B5EF4-FFF2-40B4-BE49-F238E27FC236}">
                <a16:creationId xmlns:a16="http://schemas.microsoft.com/office/drawing/2014/main" id="{14AE95D4-DF48-4796-B360-9EB315F73428}"/>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989389" y="-87590"/>
            <a:ext cx="2202611" cy="1071338"/>
          </a:xfrm>
          <a:prstGeom prst="rect">
            <a:avLst/>
          </a:prstGeom>
        </p:spPr>
      </p:pic>
    </p:spTree>
    <p:extLst>
      <p:ext uri="{BB962C8B-B14F-4D97-AF65-F5344CB8AC3E}">
        <p14:creationId xmlns:p14="http://schemas.microsoft.com/office/powerpoint/2010/main" val="28994674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2FE42F0-9107-4691-AA8C-931929F5647E}"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pic>
        <p:nvPicPr>
          <p:cNvPr id="6" name="Bilde 5" descr="Et bilde som inneholder tekst&#10;&#10;Automatisk generert beskrivelse">
            <a:extLst>
              <a:ext uri="{FF2B5EF4-FFF2-40B4-BE49-F238E27FC236}">
                <a16:creationId xmlns:a16="http://schemas.microsoft.com/office/drawing/2014/main" id="{576990BF-2418-4A77-B7D8-8C61EFCCC8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82721" y="-106444"/>
            <a:ext cx="2137560" cy="1039697"/>
          </a:xfrm>
          <a:prstGeom prst="rect">
            <a:avLst/>
          </a:prstGeom>
        </p:spPr>
      </p:pic>
    </p:spTree>
    <p:extLst>
      <p:ext uri="{BB962C8B-B14F-4D97-AF65-F5344CB8AC3E}">
        <p14:creationId xmlns:p14="http://schemas.microsoft.com/office/powerpoint/2010/main" val="25972864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E655BA2-E872-4800-94C0-20AC6A627AE2}"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pPr/>
              <a:t>‹#›</a:t>
            </a:fld>
            <a:endParaRPr lang="en-US"/>
          </a:p>
        </p:txBody>
      </p:sp>
      <p:grpSp>
        <p:nvGrpSpPr>
          <p:cNvPr id="6" name="Group 5"/>
          <p:cNvGrpSpPr/>
          <p:nvPr userDrawn="1"/>
        </p:nvGrpSpPr>
        <p:grpSpPr>
          <a:xfrm>
            <a:off x="10701189" y="0"/>
            <a:ext cx="900000" cy="900000"/>
            <a:chOff x="5379492" y="0"/>
            <a:chExt cx="1433015" cy="1433015"/>
          </a:xfrm>
        </p:grpSpPr>
        <p:sp>
          <p:nvSpPr>
            <p:cNvPr id="7" name="Round Same Side Corner Rectangle 6"/>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8"/>
          <p:cNvSpPr/>
          <p:nvPr userDrawn="1"/>
        </p:nvSpPr>
        <p:spPr>
          <a:xfrm>
            <a:off x="0" y="0"/>
            <a:ext cx="2852382" cy="6858000"/>
          </a:xfrm>
          <a:prstGeom prst="rect">
            <a:avLst/>
          </a:prstGeom>
          <a:solidFill>
            <a:srgbClr val="488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07209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rgbClr val="F5F5F5"/>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9352F0D-2F16-48DA-8C49-781F1E9E4B6D}"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sp>
        <p:nvSpPr>
          <p:cNvPr id="10" name="Picture Placeholder 9"/>
          <p:cNvSpPr>
            <a:spLocks noGrp="1"/>
          </p:cNvSpPr>
          <p:nvPr>
            <p:ph type="pic" sz="quarter" idx="13"/>
          </p:nvPr>
        </p:nvSpPr>
        <p:spPr>
          <a:xfrm>
            <a:off x="4251" y="0"/>
            <a:ext cx="4997825" cy="6858000"/>
          </a:xfrm>
        </p:spPr>
        <p:txBody>
          <a:bodyPr>
            <a:normAutofit/>
          </a:bodyPr>
          <a:lstStyle>
            <a:lvl1pPr>
              <a:defRPr sz="2000">
                <a:latin typeface="Open Sans SemiBold" panose="020B0706030804020204" pitchFamily="34" charset="0"/>
                <a:ea typeface="Open Sans SemiBold" panose="020B0706030804020204" pitchFamily="34" charset="0"/>
                <a:cs typeface="Open Sans SemiBold" panose="020B0706030804020204" pitchFamily="34" charset="0"/>
              </a:defRPr>
            </a:lvl1pPr>
          </a:lstStyle>
          <a:p>
            <a:endParaRPr lang="en-US"/>
          </a:p>
        </p:txBody>
      </p:sp>
      <p:grpSp>
        <p:nvGrpSpPr>
          <p:cNvPr id="9" name="Group 8"/>
          <p:cNvGrpSpPr/>
          <p:nvPr userDrawn="1"/>
        </p:nvGrpSpPr>
        <p:grpSpPr>
          <a:xfrm>
            <a:off x="10701189" y="0"/>
            <a:ext cx="900000" cy="900000"/>
            <a:chOff x="5379492" y="0"/>
            <a:chExt cx="1433015" cy="1433015"/>
          </a:xfrm>
        </p:grpSpPr>
        <p:sp>
          <p:nvSpPr>
            <p:cNvPr id="11" name="Round Same Side Corner Rectangle 10"/>
            <p:cNvSpPr/>
            <p:nvPr/>
          </p:nvSpPr>
          <p:spPr>
            <a:xfrm flipV="1">
              <a:off x="5379492" y="0"/>
              <a:ext cx="1433015" cy="1433015"/>
            </a:xfrm>
            <a:prstGeom prst="round2SameRect">
              <a:avLst>
                <a:gd name="adj1" fmla="val 10000"/>
                <a:gd name="adj2" fmla="val 0"/>
              </a:avLst>
            </a:prstGeom>
            <a:solidFill>
              <a:srgbClr val="D8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https://o.remove.bg/downloads/b29e96dd-f472-4a60-a098-f92fad661090/Pensum_Logo_2021_H__yde_M__rk_Bla_%C3%A8-removebg-preview.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463" t="6945" r="11418" b="11708"/>
            <a:stretch/>
          </p:blipFill>
          <p:spPr bwMode="auto">
            <a:xfrm>
              <a:off x="5644224" y="112659"/>
              <a:ext cx="903551" cy="119420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20027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rgbClr val="F5F5F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39035" y="2032421"/>
            <a:ext cx="6113929" cy="777875"/>
          </a:xfrm>
        </p:spPr>
        <p:txBody>
          <a:bodyPr/>
          <a:lstStyle>
            <a:lvl1pPr algn="ctr">
              <a:defRPr>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a:t>
            </a:r>
          </a:p>
        </p:txBody>
      </p:sp>
      <p:sp>
        <p:nvSpPr>
          <p:cNvPr id="3" name="Date Placeholder 2"/>
          <p:cNvSpPr>
            <a:spLocks noGrp="1"/>
          </p:cNvSpPr>
          <p:nvPr>
            <p:ph type="dt" sz="half" idx="10"/>
          </p:nvPr>
        </p:nvSpPr>
        <p:spPr/>
        <p:txBody>
          <a:bodyPr/>
          <a:lstStyle/>
          <a:p>
            <a:fld id="{8F0AD876-C30C-4BA4-BAF6-31EDA4F063F9}" type="datetime1">
              <a:rPr lang="nb-NO" smtClean="0"/>
              <a:t>10.03.2026</a:t>
            </a:fld>
            <a:endParaRPr lang="en-US"/>
          </a:p>
        </p:txBody>
      </p:sp>
      <p:sp>
        <p:nvSpPr>
          <p:cNvPr id="4" name="Footer Placeholder 3"/>
          <p:cNvSpPr>
            <a:spLocks noGrp="1"/>
          </p:cNvSpPr>
          <p:nvPr>
            <p:ph type="ftr" sz="quarter" idx="11"/>
          </p:nvPr>
        </p:nvSpPr>
        <p:spPr/>
        <p:txBody>
          <a:bodyPr/>
          <a:lstStyle/>
          <a:p>
            <a:r>
              <a:rPr lang="en-US"/>
              <a:t>Pensum Asset Management</a:t>
            </a:r>
          </a:p>
        </p:txBody>
      </p:sp>
      <p:sp>
        <p:nvSpPr>
          <p:cNvPr id="5" name="Slide Number Placeholder 4"/>
          <p:cNvSpPr>
            <a:spLocks noGrp="1"/>
          </p:cNvSpPr>
          <p:nvPr>
            <p:ph type="sldNum" sz="quarter" idx="12"/>
          </p:nvPr>
        </p:nvSpPr>
        <p:spPr/>
        <p:txBody>
          <a:bodyPr/>
          <a:lstStyle/>
          <a:p>
            <a:fld id="{530A68A1-2222-4891-8273-9FD73004E852}" type="slidenum">
              <a:rPr lang="en-US" smtClean="0"/>
              <a:t>‹#›</a:t>
            </a:fld>
            <a:endParaRPr lang="en-US"/>
          </a:p>
        </p:txBody>
      </p:sp>
      <p:cxnSp>
        <p:nvCxnSpPr>
          <p:cNvPr id="6" name="Straight Connector 5"/>
          <p:cNvCxnSpPr/>
          <p:nvPr userDrawn="1"/>
        </p:nvCxnSpPr>
        <p:spPr>
          <a:xfrm>
            <a:off x="5315633" y="2863681"/>
            <a:ext cx="1560735" cy="0"/>
          </a:xfrm>
          <a:prstGeom prst="line">
            <a:avLst/>
          </a:prstGeom>
          <a:ln w="28575">
            <a:solidFill>
              <a:srgbClr val="CF826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907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13978942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123D6A"/>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Calibri"/>
                <a:cs typeface="Calibri"/>
              </a:defRPr>
            </a:lvl1pPr>
          </a:lstStyle>
          <a:p>
            <a:pPr marL="38100">
              <a:lnSpc>
                <a:spcPts val="1045"/>
              </a:lnSpc>
            </a:pPr>
            <a:fld id="{81D60167-4931-47E6-BA6A-407CBD079E47}" type="slidenum">
              <a:rPr spc="-5" dirty="0"/>
              <a:t>‹#›</a:t>
            </a:fld>
            <a:endParaRPr spc="-5"/>
          </a:p>
        </p:txBody>
      </p:sp>
    </p:spTree>
    <p:extLst>
      <p:ext uri="{BB962C8B-B14F-4D97-AF65-F5344CB8AC3E}">
        <p14:creationId xmlns:p14="http://schemas.microsoft.com/office/powerpoint/2010/main" val="2882475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269687F-90C6-4A88-9B85-692B4CFBF61F}"/>
              </a:ext>
            </a:extLst>
          </p:cNvPr>
          <p:cNvSpPr>
            <a:spLocks noGrp="1"/>
          </p:cNvSpPr>
          <p:nvPr>
            <p:ph type="ctrTitle" hasCustomPrompt="1"/>
          </p:nvPr>
        </p:nvSpPr>
        <p:spPr>
          <a:xfrm>
            <a:off x="245097" y="778019"/>
            <a:ext cx="10008636" cy="477837"/>
          </a:xfrm>
        </p:spPr>
        <p:txBody>
          <a:bodyPr anchor="b">
            <a:normAutofit/>
          </a:bodyPr>
          <a:lstStyle>
            <a:lvl1pPr algn="l">
              <a:defRPr lang="nb-NO" sz="2500" kern="1200" dirty="0">
                <a:solidFill>
                  <a:srgbClr val="123E6A"/>
                </a:solidFill>
                <a:latin typeface="Georgia" panose="02040502050405020303" pitchFamily="18" charset="0"/>
                <a:ea typeface="+mj-ea"/>
                <a:cs typeface="+mj-cs"/>
              </a:defRPr>
            </a:lvl1pPr>
          </a:lstStyle>
          <a:p>
            <a:r>
              <a:rPr lang="nb-NO"/>
              <a:t>Klikk for tekst</a:t>
            </a:r>
          </a:p>
        </p:txBody>
      </p:sp>
      <p:sp>
        <p:nvSpPr>
          <p:cNvPr id="6" name="Plassholder for lysbildenummer 5">
            <a:extLst>
              <a:ext uri="{FF2B5EF4-FFF2-40B4-BE49-F238E27FC236}">
                <a16:creationId xmlns:a16="http://schemas.microsoft.com/office/drawing/2014/main" id="{9DF46C4A-1F1B-441A-8D4C-00703380D2A6}"/>
              </a:ext>
            </a:extLst>
          </p:cNvPr>
          <p:cNvSpPr>
            <a:spLocks noGrp="1"/>
          </p:cNvSpPr>
          <p:nvPr>
            <p:ph type="sldNum" sz="quarter" idx="12"/>
          </p:nvPr>
        </p:nvSpPr>
        <p:spPr>
          <a:xfrm>
            <a:off x="10686854" y="6402556"/>
            <a:ext cx="1363824" cy="365125"/>
          </a:xfrm>
          <a:prstGeom prst="rect">
            <a:avLst/>
          </a:prstGeom>
        </p:spPr>
        <p:txBody>
          <a:bodyPr/>
          <a:lstStyle>
            <a:lvl1pPr algn="r">
              <a:defRPr sz="1000" baseline="0"/>
            </a:lvl1pPr>
          </a:lstStyle>
          <a:p>
            <a:fld id="{A3C31623-80E9-4986-97C3-23FF5419B69D}" type="slidenum">
              <a:rPr lang="nb-NO" smtClean="0"/>
              <a:pPr/>
              <a:t>‹#›</a:t>
            </a:fld>
            <a:endParaRPr lang="nb-NO"/>
          </a:p>
        </p:txBody>
      </p:sp>
      <p:sp>
        <p:nvSpPr>
          <p:cNvPr id="10" name="TekstSylinder 9">
            <a:extLst>
              <a:ext uri="{FF2B5EF4-FFF2-40B4-BE49-F238E27FC236}">
                <a16:creationId xmlns:a16="http://schemas.microsoft.com/office/drawing/2014/main" id="{7E2285B1-AA0F-4F9C-933F-06D14A3D7BF2}"/>
              </a:ext>
            </a:extLst>
          </p:cNvPr>
          <p:cNvSpPr txBox="1"/>
          <p:nvPr userDrawn="1"/>
        </p:nvSpPr>
        <p:spPr>
          <a:xfrm>
            <a:off x="160256" y="270838"/>
            <a:ext cx="5514392" cy="338554"/>
          </a:xfrm>
          <a:prstGeom prst="rect">
            <a:avLst/>
          </a:prstGeom>
          <a:noFill/>
        </p:spPr>
        <p:txBody>
          <a:bodyPr wrap="square" rtlCol="0">
            <a:spAutoFit/>
          </a:bodyPr>
          <a:lstStyle/>
          <a:p>
            <a:r>
              <a:rPr lang="nb-NO" sz="1600">
                <a:solidFill>
                  <a:srgbClr val="123E6A"/>
                </a:solidFill>
                <a:latin typeface="Georgia" panose="02040502050405020303" pitchFamily="18" charset="0"/>
              </a:rPr>
              <a:t>Pensum Group</a:t>
            </a:r>
          </a:p>
        </p:txBody>
      </p:sp>
      <p:cxnSp>
        <p:nvCxnSpPr>
          <p:cNvPr id="18" name="Rett linje 17">
            <a:extLst>
              <a:ext uri="{FF2B5EF4-FFF2-40B4-BE49-F238E27FC236}">
                <a16:creationId xmlns:a16="http://schemas.microsoft.com/office/drawing/2014/main" id="{A0C4F3C6-2D67-4CB8-B31F-B8C77875A183}"/>
              </a:ext>
            </a:extLst>
          </p:cNvPr>
          <p:cNvCxnSpPr>
            <a:cxnSpLocks/>
          </p:cNvCxnSpPr>
          <p:nvPr userDrawn="1"/>
        </p:nvCxnSpPr>
        <p:spPr>
          <a:xfrm>
            <a:off x="245097" y="653481"/>
            <a:ext cx="11194234" cy="0"/>
          </a:xfrm>
          <a:prstGeom prst="line">
            <a:avLst/>
          </a:prstGeom>
          <a:ln w="22225">
            <a:solidFill>
              <a:srgbClr val="123E6A"/>
            </a:solidFill>
          </a:ln>
        </p:spPr>
        <p:style>
          <a:lnRef idx="1">
            <a:schemeClr val="accent1"/>
          </a:lnRef>
          <a:fillRef idx="0">
            <a:schemeClr val="accent1"/>
          </a:fillRef>
          <a:effectRef idx="0">
            <a:schemeClr val="accent1"/>
          </a:effectRef>
          <a:fontRef idx="minor">
            <a:schemeClr val="tx1"/>
          </a:fontRef>
        </p:style>
      </p:cxnSp>
      <p:sp>
        <p:nvSpPr>
          <p:cNvPr id="25" name="Plassholder for innhold 2">
            <a:extLst>
              <a:ext uri="{FF2B5EF4-FFF2-40B4-BE49-F238E27FC236}">
                <a16:creationId xmlns:a16="http://schemas.microsoft.com/office/drawing/2014/main" id="{F84FA988-D208-480D-96BA-F82BF04E8029}"/>
              </a:ext>
            </a:extLst>
          </p:cNvPr>
          <p:cNvSpPr>
            <a:spLocks noGrp="1"/>
          </p:cNvSpPr>
          <p:nvPr>
            <p:ph sz="half" idx="1"/>
          </p:nvPr>
        </p:nvSpPr>
        <p:spPr>
          <a:xfrm>
            <a:off x="245097" y="1523967"/>
            <a:ext cx="5181600" cy="4351338"/>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pic>
        <p:nvPicPr>
          <p:cNvPr id="8" name="Bilde 7" descr="Et bilde som inneholder skilt, skjorte&#10;&#10;Automatisk generert beskrivelse">
            <a:extLst>
              <a:ext uri="{FF2B5EF4-FFF2-40B4-BE49-F238E27FC236}">
                <a16:creationId xmlns:a16="http://schemas.microsoft.com/office/drawing/2014/main" id="{8A8191CC-29A7-4216-9A7F-283BBBDEC6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4436" y="-68096"/>
            <a:ext cx="734343" cy="778007"/>
          </a:xfrm>
          <a:prstGeom prst="rect">
            <a:avLst/>
          </a:prstGeom>
        </p:spPr>
      </p:pic>
    </p:spTree>
    <p:extLst>
      <p:ext uri="{BB962C8B-B14F-4D97-AF65-F5344CB8AC3E}">
        <p14:creationId xmlns:p14="http://schemas.microsoft.com/office/powerpoint/2010/main" val="1595864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heme" Target="../theme/theme2.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E31318B7-3E92-496A-9EDD-EC73CABD4D77}" type="datetime1">
              <a:rPr lang="nb-NO" smtClean="0"/>
              <a:t>10.03.2026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Pensum Asset Management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530A68A1-2222-4891-8273-9FD73004E852}" type="slidenum">
              <a:rPr lang="en-US" smtClean="0"/>
              <a:pPr/>
              <a:t>‹#›</a:t>
            </a:fld>
            <a:endParaRPr lang="en-US"/>
          </a:p>
        </p:txBody>
      </p:sp>
      <p:pic>
        <p:nvPicPr>
          <p:cNvPr id="7" name="Bilde 6" descr="Et bilde som inneholder Font, skjermbilde, Grafikk, logo&#10;&#10;Automatisk generert beskrivelse">
            <a:extLst>
              <a:ext uri="{FF2B5EF4-FFF2-40B4-BE49-F238E27FC236}">
                <a16:creationId xmlns:a16="http://schemas.microsoft.com/office/drawing/2014/main" id="{ADCD146D-A2EF-56F0-89B8-2EEEE2CB0515}"/>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10537083" y="6327"/>
            <a:ext cx="1650243" cy="1021579"/>
          </a:xfrm>
          <a:prstGeom prst="rect">
            <a:avLst/>
          </a:prstGeom>
        </p:spPr>
      </p:pic>
    </p:spTree>
    <p:extLst>
      <p:ext uri="{BB962C8B-B14F-4D97-AF65-F5344CB8AC3E}">
        <p14:creationId xmlns:p14="http://schemas.microsoft.com/office/powerpoint/2010/main" val="1858050050"/>
      </p:ext>
    </p:extLst>
  </p:cSld>
  <p:clrMap bg1="lt1" tx1="dk1" bg2="lt2" tx2="dk2" accent1="accent1" accent2="accent2" accent3="accent3" accent4="accent4" accent5="accent5" accent6="accent6" hlink="hlink" folHlink="folHlink"/>
  <p:sldLayoutIdLst>
    <p:sldLayoutId id="2147483668" r:id="rId1"/>
    <p:sldLayoutId id="2147483667" r:id="rId2"/>
    <p:sldLayoutId id="2147483666" r:id="rId3"/>
    <p:sldLayoutId id="2147483664" r:id="rId4"/>
    <p:sldLayoutId id="2147483665" r:id="rId5"/>
    <p:sldLayoutId id="2147483674" r:id="rId6"/>
    <p:sldLayoutId id="2147483669" r:id="rId7"/>
    <p:sldLayoutId id="2147483671" r:id="rId8"/>
    <p:sldLayoutId id="2147483670" r:id="rId9"/>
    <p:sldLayoutId id="2147483672" r:id="rId10"/>
    <p:sldLayoutId id="2147483673" r:id="rId11"/>
    <p:sldLayoutId id="2147483662" r:id="rId12"/>
    <p:sldLayoutId id="2147483655" r:id="rId13"/>
    <p:sldLayoutId id="2147483656" r:id="rId14"/>
    <p:sldLayoutId id="2147483657" r:id="rId15"/>
    <p:sldLayoutId id="2147483660" r:id="rId16"/>
    <p:sldLayoutId id="2147483661" r:id="rId17"/>
    <p:sldLayoutId id="2147483658" r:id="rId18"/>
    <p:sldLayoutId id="2147483659" r:id="rId19"/>
    <p:sldLayoutId id="2147483675" r:id="rId20"/>
    <p:sldLayoutId id="2147483677" r:id="rId21"/>
    <p:sldLayoutId id="2147483678" r:id="rId22"/>
    <p:sldLayoutId id="2147483702" r:id="rId2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E31318B7-3E92-496A-9EDD-EC73CABD4D77}" type="datetime1">
              <a:rPr lang="nb-NO" smtClean="0"/>
              <a:t>10.03.2026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Pensum Asset Management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530A68A1-2222-4891-8273-9FD73004E852}" type="slidenum">
              <a:rPr lang="en-US" smtClean="0"/>
              <a:pPr/>
              <a:t>‹#›</a:t>
            </a:fld>
            <a:endParaRPr lang="en-US"/>
          </a:p>
        </p:txBody>
      </p:sp>
    </p:spTree>
    <p:extLst>
      <p:ext uri="{BB962C8B-B14F-4D97-AF65-F5344CB8AC3E}">
        <p14:creationId xmlns:p14="http://schemas.microsoft.com/office/powerpoint/2010/main" val="245458451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7.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4.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e 11">
            <a:extLst>
              <a:ext uri="{FF2B5EF4-FFF2-40B4-BE49-F238E27FC236}">
                <a16:creationId xmlns:a16="http://schemas.microsoft.com/office/drawing/2014/main" id="{45D3B4A6-22B2-06F0-B328-3CE85EFAE609}"/>
              </a:ext>
            </a:extLst>
          </p:cNvPr>
          <p:cNvPicPr>
            <a:picLocks noChangeAspect="1"/>
          </p:cNvPicPr>
          <p:nvPr/>
        </p:nvPicPr>
        <p:blipFill>
          <a:blip r:embed="rId3">
            <a:alphaModFix/>
          </a:blip>
          <a:stretch>
            <a:fillRect/>
          </a:stretch>
        </p:blipFill>
        <p:spPr>
          <a:xfrm flipH="1">
            <a:off x="4969164" y="-16281"/>
            <a:ext cx="7222836" cy="6882493"/>
          </a:xfrm>
          <a:prstGeom prst="rect">
            <a:avLst/>
          </a:prstGeom>
        </p:spPr>
      </p:pic>
      <p:sp>
        <p:nvSpPr>
          <p:cNvPr id="5" name="Ellipse 4">
            <a:extLst>
              <a:ext uri="{FF2B5EF4-FFF2-40B4-BE49-F238E27FC236}">
                <a16:creationId xmlns:a16="http://schemas.microsoft.com/office/drawing/2014/main" id="{E38AACF2-F696-2EC5-CB46-8918A57358ED}"/>
              </a:ext>
            </a:extLst>
          </p:cNvPr>
          <p:cNvSpPr/>
          <p:nvPr/>
        </p:nvSpPr>
        <p:spPr>
          <a:xfrm>
            <a:off x="3186525" y="0"/>
            <a:ext cx="5338641" cy="6858000"/>
          </a:xfrm>
          <a:prstGeom prst="ellipse">
            <a:avLst/>
          </a:prstGeom>
          <a:solidFill>
            <a:schemeClr val="bg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a:ln>
                <a:noFill/>
              </a:ln>
              <a:solidFill>
                <a:srgbClr val="0D2841"/>
              </a:solidFill>
              <a:effectLst/>
              <a:uLnTx/>
              <a:uFillTx/>
              <a:latin typeface="Open Sans Regular"/>
              <a:ea typeface="+mn-ea"/>
              <a:cs typeface="+mn-cs"/>
            </a:endParaRPr>
          </a:p>
        </p:txBody>
      </p:sp>
      <p:sp>
        <p:nvSpPr>
          <p:cNvPr id="8" name="Rektangel 7">
            <a:extLst>
              <a:ext uri="{FF2B5EF4-FFF2-40B4-BE49-F238E27FC236}">
                <a16:creationId xmlns:a16="http://schemas.microsoft.com/office/drawing/2014/main" id="{D98435AE-025C-76FD-50C1-52C17330CEE3}"/>
              </a:ext>
            </a:extLst>
          </p:cNvPr>
          <p:cNvSpPr/>
          <p:nvPr/>
        </p:nvSpPr>
        <p:spPr>
          <a:xfrm>
            <a:off x="-33789" y="0"/>
            <a:ext cx="5818909" cy="6858000"/>
          </a:xfrm>
          <a:prstGeom prst="rect">
            <a:avLst/>
          </a:prstGeom>
          <a:solidFill>
            <a:schemeClr val="bg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b-NO" sz="1800" b="0" i="0" u="none" strike="noStrike" kern="1200" cap="none" spc="0" normalizeH="0" baseline="0" noProof="0">
              <a:ln>
                <a:noFill/>
              </a:ln>
              <a:solidFill>
                <a:srgbClr val="F5F5F5"/>
              </a:solidFill>
              <a:effectLst/>
              <a:uLnTx/>
              <a:uFillTx/>
              <a:latin typeface="Open Sans Regular"/>
              <a:ea typeface="+mn-ea"/>
              <a:cs typeface="+mn-cs"/>
            </a:endParaRPr>
          </a:p>
        </p:txBody>
      </p:sp>
      <p:sp>
        <p:nvSpPr>
          <p:cNvPr id="10" name="Title 1">
            <a:extLst>
              <a:ext uri="{FF2B5EF4-FFF2-40B4-BE49-F238E27FC236}">
                <a16:creationId xmlns:a16="http://schemas.microsoft.com/office/drawing/2014/main" id="{9145F038-BFD8-368E-9DB0-F3025EA2345C}"/>
              </a:ext>
            </a:extLst>
          </p:cNvPr>
          <p:cNvSpPr txBox="1">
            <a:spLocks/>
          </p:cNvSpPr>
          <p:nvPr/>
        </p:nvSpPr>
        <p:spPr>
          <a:xfrm>
            <a:off x="961757" y="2518492"/>
            <a:ext cx="7197131" cy="892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dirty="0" err="1">
                <a:ln>
                  <a:noFill/>
                </a:ln>
                <a:solidFill>
                  <a:srgbClr val="0D2841"/>
                </a:solidFill>
                <a:effectLst/>
                <a:uLnTx/>
                <a:uFillTx/>
                <a:latin typeface="Open Sans Light"/>
                <a:ea typeface="+mj-ea"/>
                <a:cs typeface="+mj-cs"/>
              </a:rPr>
              <a:t>Investeringsforslag</a:t>
            </a:r>
            <a:r>
              <a:rPr kumimoji="0" lang="en-US" sz="3200" b="1" i="0" u="none" strike="noStrike" kern="1200" cap="none" spc="0" normalizeH="0" baseline="0" noProof="0" dirty="0">
                <a:ln>
                  <a:noFill/>
                </a:ln>
                <a:solidFill>
                  <a:srgbClr val="0D2841"/>
                </a:solidFill>
                <a:effectLst/>
                <a:uLnTx/>
                <a:uFillTx/>
                <a:latin typeface="Open Sans Light"/>
                <a:ea typeface="+mj-ea"/>
                <a:cs typeface="+mj-cs"/>
              </a:rPr>
              <a:t> - </a:t>
            </a:r>
            <a:r>
              <a:rPr kumimoji="0" lang="en-US" sz="3200" b="1" i="0" u="none" strike="noStrike" kern="1200" cap="none" spc="0" normalizeH="0" baseline="0" noProof="0" dirty="0" err="1">
                <a:ln>
                  <a:noFill/>
                </a:ln>
                <a:solidFill>
                  <a:srgbClr val="0D2841"/>
                </a:solidFill>
                <a:effectLst/>
                <a:uLnTx/>
                <a:uFillTx/>
                <a:latin typeface="Open Sans Light"/>
                <a:ea typeface="+mj-ea"/>
                <a:cs typeface="+mj-cs"/>
              </a:rPr>
              <a:t>aksjedel</a:t>
            </a:r>
            <a:endParaRPr kumimoji="0" lang="en-US" sz="3200" b="1" i="0" u="none" strike="noStrike" kern="1200" cap="none" spc="0" normalizeH="0" baseline="0" noProof="0" dirty="0">
              <a:ln>
                <a:noFill/>
              </a:ln>
              <a:solidFill>
                <a:srgbClr val="0D2841"/>
              </a:solidFill>
              <a:effectLst/>
              <a:uLnTx/>
              <a:uFillTx/>
              <a:latin typeface="Open Sans Light"/>
              <a:ea typeface="+mj-ea"/>
              <a:cs typeface="+mj-cs"/>
            </a:endParaRPr>
          </a:p>
        </p:txBody>
      </p:sp>
      <p:sp>
        <p:nvSpPr>
          <p:cNvPr id="7" name="TekstSylinder 6">
            <a:extLst>
              <a:ext uri="{FF2B5EF4-FFF2-40B4-BE49-F238E27FC236}">
                <a16:creationId xmlns:a16="http://schemas.microsoft.com/office/drawing/2014/main" id="{C85F59A5-BF06-541A-B748-7308FBF1BA1C}"/>
              </a:ext>
            </a:extLst>
          </p:cNvPr>
          <p:cNvSpPr txBox="1"/>
          <p:nvPr/>
        </p:nvSpPr>
        <p:spPr>
          <a:xfrm>
            <a:off x="1057162" y="3427882"/>
            <a:ext cx="3121890" cy="354777"/>
          </a:xfrm>
          <a:prstGeom prst="rect">
            <a:avLst/>
          </a:prstGeom>
        </p:spPr>
        <p:txBody>
          <a:bodyPr wrap="square" lIns="0" tIns="0" rIns="0" bIns="0" rtlCol="0" anchor="t">
            <a:sp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lang="nb-NO" sz="2000"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Kunde XXX</a:t>
            </a:r>
            <a:endParaRPr kumimoji="0" lang="nb-NO" sz="2000" b="0" i="0" u="none" strike="noStrike" kern="1200" cap="none" spc="59" normalizeH="0" baseline="0" noProof="0" dirty="0">
              <a:ln>
                <a:noFill/>
              </a:ln>
              <a:solidFill>
                <a:srgbClr val="2E3D36"/>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endParaRPr>
          </a:p>
        </p:txBody>
      </p:sp>
      <p:sp>
        <p:nvSpPr>
          <p:cNvPr id="11" name="TekstSylinder 10">
            <a:extLst>
              <a:ext uri="{FF2B5EF4-FFF2-40B4-BE49-F238E27FC236}">
                <a16:creationId xmlns:a16="http://schemas.microsoft.com/office/drawing/2014/main" id="{316DC68B-B7E4-AEE3-DA21-916A592026E8}"/>
              </a:ext>
            </a:extLst>
          </p:cNvPr>
          <p:cNvSpPr txBox="1"/>
          <p:nvPr/>
        </p:nvSpPr>
        <p:spPr>
          <a:xfrm>
            <a:off x="1057162" y="3956546"/>
            <a:ext cx="3625674" cy="328231"/>
          </a:xfrm>
          <a:prstGeom prst="rect">
            <a:avLst/>
          </a:prstGeom>
        </p:spPr>
        <p:txBody>
          <a:bodyPr wrap="square" lIns="0" tIns="0" rIns="0" bIns="0" rtlCol="0" anchor="t">
            <a:spAutoFit/>
          </a:bodyPr>
          <a:lstStyle/>
          <a:p>
            <a:pPr marL="0" marR="0" lvl="0" indent="0" algn="l" defTabSz="914400" rtl="0" eaLnBrk="1" fontAlgn="auto" latinLnBrk="0" hangingPunct="1">
              <a:lnSpc>
                <a:spcPts val="3000"/>
              </a:lnSpc>
              <a:spcBef>
                <a:spcPts val="0"/>
              </a:spcBef>
              <a:spcAft>
                <a:spcPts val="0"/>
              </a:spcAft>
              <a:buClrTx/>
              <a:buSzTx/>
              <a:buFontTx/>
              <a:buNone/>
              <a:tabLst/>
              <a:defRPr/>
            </a:pPr>
            <a:r>
              <a:rPr lang="nb-NO" sz="1100"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August</a:t>
            </a:r>
            <a:r>
              <a:rPr kumimoji="0" lang="nb-NO" sz="1100" b="0" i="0" u="none" strike="noStrike" kern="1200" cap="none" spc="59" normalizeH="0" baseline="0" noProof="0" dirty="0">
                <a:ln>
                  <a:noFill/>
                </a:ln>
                <a:solidFill>
                  <a:srgbClr val="2E3D36"/>
                </a:solidFill>
                <a:effectLst/>
                <a:uLnTx/>
                <a:uFillTx/>
                <a:latin typeface="Open Sans Regular" panose="020B0606030504020204" pitchFamily="34" charset="0"/>
                <a:ea typeface="Open Sans Regular" panose="020B0606030504020204" pitchFamily="34" charset="0"/>
                <a:cs typeface="Open Sans Regular" panose="020B0606030504020204" pitchFamily="34" charset="0"/>
              </a:rPr>
              <a:t> 2025</a:t>
            </a:r>
          </a:p>
        </p:txBody>
      </p:sp>
      <p:cxnSp>
        <p:nvCxnSpPr>
          <p:cNvPr id="2" name="Rett linje 1">
            <a:extLst>
              <a:ext uri="{FF2B5EF4-FFF2-40B4-BE49-F238E27FC236}">
                <a16:creationId xmlns:a16="http://schemas.microsoft.com/office/drawing/2014/main" id="{64AB1210-C872-31F1-5539-5C7AF2D0B188}"/>
              </a:ext>
            </a:extLst>
          </p:cNvPr>
          <p:cNvCxnSpPr>
            <a:cxnSpLocks/>
          </p:cNvCxnSpPr>
          <p:nvPr/>
        </p:nvCxnSpPr>
        <p:spPr>
          <a:xfrm>
            <a:off x="1057162" y="3250447"/>
            <a:ext cx="651489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Bilde 3">
            <a:extLst>
              <a:ext uri="{FF2B5EF4-FFF2-40B4-BE49-F238E27FC236}">
                <a16:creationId xmlns:a16="http://schemas.microsoft.com/office/drawing/2014/main" id="{93E3A046-FF62-BA57-C555-D079EE5900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88800" y="-16281"/>
            <a:ext cx="2203200" cy="1071624"/>
          </a:xfrm>
          <a:prstGeom prst="rect">
            <a:avLst/>
          </a:prstGeom>
        </p:spPr>
      </p:pic>
    </p:spTree>
    <p:extLst>
      <p:ext uri="{BB962C8B-B14F-4D97-AF65-F5344CB8AC3E}">
        <p14:creationId xmlns:p14="http://schemas.microsoft.com/office/powerpoint/2010/main" val="574417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AAD4-E94F-DBAC-98A0-CACE4651020E}"/>
            </a:ext>
          </a:extLst>
        </p:cNvPr>
        <p:cNvGrpSpPr/>
        <p:nvPr/>
      </p:nvGrpSpPr>
      <p:grpSpPr>
        <a:xfrm>
          <a:off x="0" y="0"/>
          <a:ext cx="0" cy="0"/>
          <a:chOff x="0" y="0"/>
          <a:chExt cx="0" cy="0"/>
        </a:xfrm>
      </p:grpSpPr>
      <p:sp>
        <p:nvSpPr>
          <p:cNvPr id="29" name="object 29">
            <a:extLst>
              <a:ext uri="{FF2B5EF4-FFF2-40B4-BE49-F238E27FC236}">
                <a16:creationId xmlns:a16="http://schemas.microsoft.com/office/drawing/2014/main" id="{9BC30B5B-E296-1C06-EF9B-875A80556BA4}"/>
              </a:ext>
            </a:extLst>
          </p:cNvPr>
          <p:cNvSpPr txBox="1"/>
          <p:nvPr/>
        </p:nvSpPr>
        <p:spPr>
          <a:xfrm>
            <a:off x="11855762" y="6459579"/>
            <a:ext cx="140335" cy="152400"/>
          </a:xfrm>
          <a:prstGeom prst="rect">
            <a:avLst/>
          </a:prstGeom>
        </p:spPr>
        <p:txBody>
          <a:bodyPr vert="horz" wrap="square" lIns="0" tIns="0" rIns="0" bIns="0" rtlCol="0">
            <a:spAutoFit/>
          </a:bodyPr>
          <a:lstStyle/>
          <a:p>
            <a:pPr marL="38100">
              <a:lnSpc>
                <a:spcPts val="1045"/>
              </a:lnSpc>
            </a:pPr>
            <a:fld id="{81D60167-4931-47E6-BA6A-407CBD079E47}" type="slidenum">
              <a:rPr sz="1000" spc="-5" dirty="0">
                <a:latin typeface="Calibri"/>
                <a:cs typeface="Calibri"/>
              </a:rPr>
              <a:t>2</a:t>
            </a:fld>
            <a:endParaRPr sz="1000">
              <a:latin typeface="Calibri"/>
              <a:cs typeface="Calibri"/>
            </a:endParaRPr>
          </a:p>
        </p:txBody>
      </p:sp>
      <p:sp>
        <p:nvSpPr>
          <p:cNvPr id="30" name="TextBox 17">
            <a:extLst>
              <a:ext uri="{FF2B5EF4-FFF2-40B4-BE49-F238E27FC236}">
                <a16:creationId xmlns:a16="http://schemas.microsoft.com/office/drawing/2014/main" id="{EEF02F0D-B8AD-AE52-49E0-D28346D5E096}"/>
              </a:ext>
            </a:extLst>
          </p:cNvPr>
          <p:cNvSpPr txBox="1"/>
          <p:nvPr/>
        </p:nvSpPr>
        <p:spPr>
          <a:xfrm>
            <a:off x="2030080" y="1911284"/>
            <a:ext cx="2543710" cy="354777"/>
          </a:xfrm>
          <a:prstGeom prst="rect">
            <a:avLst/>
          </a:prstGeom>
          <a:noFill/>
        </p:spPr>
        <p:txBody>
          <a:bodyPr wrap="none" lIns="0" tIns="0" rIns="0" bIns="0" rtlCol="0" anchor="t">
            <a:spAutoFit/>
          </a:bodyPr>
          <a:lstStyle/>
          <a:p>
            <a:pPr>
              <a:lnSpc>
                <a:spcPts val="3000"/>
              </a:lnSpc>
            </a:pPr>
            <a:r>
              <a:rPr lang="nb-NO" sz="2000" b="1" spc="59">
                <a:ea typeface="Open Sans Regular" panose="020B0606030504020204" pitchFamily="34" charset="0"/>
                <a:cs typeface="Calibri" panose="020F0502020204030204" pitchFamily="34" charset="0"/>
              </a:rPr>
              <a:t>Forslag til portefølje</a:t>
            </a:r>
            <a:endParaRPr lang="en-US" sz="2000" b="1" spc="59">
              <a:ea typeface="Open Sans Regular" panose="020B0606030504020204" pitchFamily="34" charset="0"/>
              <a:cs typeface="Calibri" panose="020F0502020204030204" pitchFamily="34" charset="0"/>
            </a:endParaRPr>
          </a:p>
        </p:txBody>
      </p:sp>
      <p:sp>
        <p:nvSpPr>
          <p:cNvPr id="3" name="Ellipse 2">
            <a:extLst>
              <a:ext uri="{FF2B5EF4-FFF2-40B4-BE49-F238E27FC236}">
                <a16:creationId xmlns:a16="http://schemas.microsoft.com/office/drawing/2014/main" id="{8C3A5C68-5514-9B02-4C58-991DDF29E151}"/>
              </a:ext>
            </a:extLst>
          </p:cNvPr>
          <p:cNvSpPr/>
          <p:nvPr/>
        </p:nvSpPr>
        <p:spPr>
          <a:xfrm>
            <a:off x="1103586" y="1737893"/>
            <a:ext cx="712076" cy="701561"/>
          </a:xfrm>
          <a:prstGeom prst="ellipse">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nb-NO" sz="3600" dirty="0">
              <a:solidFill>
                <a:schemeClr val="tx1"/>
              </a:solidFill>
              <a:latin typeface="+mj-lt"/>
            </a:endParaRPr>
          </a:p>
        </p:txBody>
      </p:sp>
      <p:cxnSp>
        <p:nvCxnSpPr>
          <p:cNvPr id="4" name="Rett linje 3">
            <a:extLst>
              <a:ext uri="{FF2B5EF4-FFF2-40B4-BE49-F238E27FC236}">
                <a16:creationId xmlns:a16="http://schemas.microsoft.com/office/drawing/2014/main" id="{47E09CDA-96FF-79E4-FA6C-6D818F15C82C}"/>
              </a:ext>
            </a:extLst>
          </p:cNvPr>
          <p:cNvCxnSpPr>
            <a:cxnSpLocks/>
          </p:cNvCxnSpPr>
          <p:nvPr/>
        </p:nvCxnSpPr>
        <p:spPr>
          <a:xfrm>
            <a:off x="732618" y="2631702"/>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3952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9838E605-72B0-482F-BF8E-AE951E8BC20D}"/>
              </a:ext>
            </a:extLst>
          </p:cNvPr>
          <p:cNvSpPr>
            <a:spLocks noGrp="1"/>
          </p:cNvSpPr>
          <p:nvPr>
            <p:ph type="body" sz="quarter" idx="25"/>
          </p:nvPr>
        </p:nvSpPr>
        <p:spPr/>
        <p:txBody>
          <a:bodyPr/>
          <a:lstStyle/>
          <a:p>
            <a:r>
              <a:rPr lang="nb-NO" dirty="0"/>
              <a:t>Forslag til Allokering</a:t>
            </a:r>
          </a:p>
        </p:txBody>
      </p:sp>
      <p:sp>
        <p:nvSpPr>
          <p:cNvPr id="3" name="Plassholder for dato 2">
            <a:extLst>
              <a:ext uri="{FF2B5EF4-FFF2-40B4-BE49-F238E27FC236}">
                <a16:creationId xmlns:a16="http://schemas.microsoft.com/office/drawing/2014/main" id="{5DFD2860-AE98-92AC-158A-71EB243D9E20}"/>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4F84D1D8-5E59-021A-07E7-CAB50074858E}"/>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1AC0E0F2-5E66-E101-8FE6-2EF29D4F8BED}"/>
              </a:ext>
            </a:extLst>
          </p:cNvPr>
          <p:cNvSpPr>
            <a:spLocks noGrp="1"/>
          </p:cNvSpPr>
          <p:nvPr>
            <p:ph type="sldNum" sz="quarter" idx="12"/>
          </p:nvPr>
        </p:nvSpPr>
        <p:spPr/>
        <p:txBody>
          <a:bodyPr/>
          <a:lstStyle/>
          <a:p>
            <a:fld id="{530A68A1-2222-4891-8273-9FD73004E852}" type="slidenum">
              <a:rPr lang="en-US" smtClean="0"/>
              <a:pPr/>
              <a:t>3</a:t>
            </a:fld>
            <a:endParaRPr lang="en-US"/>
          </a:p>
        </p:txBody>
      </p:sp>
      <p:sp>
        <p:nvSpPr>
          <p:cNvPr id="9" name="TekstSylinder 8">
            <a:extLst>
              <a:ext uri="{FF2B5EF4-FFF2-40B4-BE49-F238E27FC236}">
                <a16:creationId xmlns:a16="http://schemas.microsoft.com/office/drawing/2014/main" id="{BD105CC1-B5F1-AB03-1F30-7D2E351B0259}"/>
              </a:ext>
            </a:extLst>
          </p:cNvPr>
          <p:cNvSpPr txBox="1"/>
          <p:nvPr/>
        </p:nvSpPr>
        <p:spPr>
          <a:xfrm>
            <a:off x="5408764" y="1312796"/>
            <a:ext cx="6399608" cy="4953023"/>
          </a:xfrm>
          <a:prstGeom prst="rect">
            <a:avLst/>
          </a:prstGeom>
        </p:spPr>
        <p:txBody>
          <a:bodyPr wrap="square" lIns="0" tIns="0" rIns="0" bIns="0" rtlCol="0" anchor="t">
            <a:spAutoFit/>
          </a:bodyPr>
          <a:lstStyle/>
          <a:p>
            <a:pPr>
              <a:lnSpc>
                <a:spcPct val="150000"/>
              </a:lnSpc>
            </a:pP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I aksjedelen foreslår vi at halvparten plasseres i en global base, Pensum Globale Aksjer. Porteføljen består i dag av 6 aktivt forvaltede fond, hvor de to største posisjonene utgjør fundamentet i konstruksjonen; Guinness Global Equity Income og Acadian Global Equity. Førstnevnte er en konsentrert portefølje på i overkant av 30 aksjer, forvaltningen er fundamentalt forankret og i tillegg til solide balanser ser man etter selskaper med godt potensiale for utbyttevekst. Denne delvis defensive strategien har hatt stor suksess. I tospann med Guinness har vi valgt ut Acadian Global Equity, også her er det balansen og fundamentale forhold som er avgjørende, men man benytter her en systematisk tilnærming, det vil si kvantitative modeller som velger ut aksjer etter en hel del kriterier. Disse to mandatene utfyller hverandre godt og utgjør en trygg, bred base. I tillegg har vi valgt ut noen mer spissede fond med god forventet oppside versus risikotakning. I tillegg til de 50 % plassert i Pensum Globale Aksjer anbefaler vi 30 % i Pensum Norge og 20 % i Pensum Nordic Banking </a:t>
            </a:r>
            <a:r>
              <a:rPr lang="nb-NO" sz="1199" spc="59" dirty="0" err="1">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Sector</a:t>
            </a:r>
            <a:r>
              <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rPr>
              <a:t>. I sum mener vi disse investeringene utgjør en god eksponering mot globale og norske aksjer, porteføljen er ment å skape god utvikling over tid og samtidig ha fokus på nedsidebeskyttelse. Se gjerne egne rapporter for mer detaljert beskrivelse av alle porteføljene.</a:t>
            </a:r>
          </a:p>
        </p:txBody>
      </p:sp>
      <p:pic>
        <p:nvPicPr>
          <p:cNvPr id="8" name="Bilde 7">
            <a:extLst>
              <a:ext uri="{FF2B5EF4-FFF2-40B4-BE49-F238E27FC236}">
                <a16:creationId xmlns:a16="http://schemas.microsoft.com/office/drawing/2014/main" id="{FD1B0AD3-84AF-6F0B-E28F-D11FDA4383A9}"/>
              </a:ext>
            </a:extLst>
          </p:cNvPr>
          <p:cNvPicPr>
            <a:picLocks noChangeAspect="1"/>
          </p:cNvPicPr>
          <p:nvPr/>
        </p:nvPicPr>
        <p:blipFill>
          <a:blip r:embed="rId2"/>
          <a:stretch>
            <a:fillRect/>
          </a:stretch>
        </p:blipFill>
        <p:spPr>
          <a:xfrm>
            <a:off x="588813" y="1312796"/>
            <a:ext cx="4171950" cy="1924050"/>
          </a:xfrm>
          <a:prstGeom prst="rect">
            <a:avLst/>
          </a:prstGeom>
          <a:ln>
            <a:solidFill>
              <a:schemeClr val="tx1"/>
            </a:solidFill>
          </a:ln>
        </p:spPr>
      </p:pic>
      <p:pic>
        <p:nvPicPr>
          <p:cNvPr id="12" name="Bilde 11">
            <a:extLst>
              <a:ext uri="{FF2B5EF4-FFF2-40B4-BE49-F238E27FC236}">
                <a16:creationId xmlns:a16="http://schemas.microsoft.com/office/drawing/2014/main" id="{F443344D-84FD-1AEA-19E6-DCF39DE2807E}"/>
              </a:ext>
            </a:extLst>
          </p:cNvPr>
          <p:cNvPicPr>
            <a:picLocks noChangeAspect="1"/>
          </p:cNvPicPr>
          <p:nvPr/>
        </p:nvPicPr>
        <p:blipFill>
          <a:blip r:embed="rId3"/>
          <a:stretch>
            <a:fillRect/>
          </a:stretch>
        </p:blipFill>
        <p:spPr>
          <a:xfrm>
            <a:off x="932444" y="3501009"/>
            <a:ext cx="3484688" cy="2591178"/>
          </a:xfrm>
          <a:prstGeom prst="rect">
            <a:avLst/>
          </a:prstGeom>
        </p:spPr>
      </p:pic>
    </p:spTree>
    <p:extLst>
      <p:ext uri="{BB962C8B-B14F-4D97-AF65-F5344CB8AC3E}">
        <p14:creationId xmlns:p14="http://schemas.microsoft.com/office/powerpoint/2010/main" val="415435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9093-0A65-4D0F-C63A-4166A20F54E4}"/>
            </a:ext>
          </a:extLst>
        </p:cNvPr>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09FC5B09-B0E8-11BC-CC69-96126D22501E}"/>
              </a:ext>
            </a:extLst>
          </p:cNvPr>
          <p:cNvSpPr>
            <a:spLocks noGrp="1"/>
          </p:cNvSpPr>
          <p:nvPr>
            <p:ph type="body" sz="quarter" idx="25"/>
          </p:nvPr>
        </p:nvSpPr>
        <p:spPr/>
        <p:txBody>
          <a:bodyPr/>
          <a:lstStyle/>
          <a:p>
            <a:r>
              <a:rPr lang="nb-NO" dirty="0"/>
              <a:t>Eksponering</a:t>
            </a:r>
          </a:p>
        </p:txBody>
      </p:sp>
      <p:sp>
        <p:nvSpPr>
          <p:cNvPr id="3" name="Plassholder for dato 2">
            <a:extLst>
              <a:ext uri="{FF2B5EF4-FFF2-40B4-BE49-F238E27FC236}">
                <a16:creationId xmlns:a16="http://schemas.microsoft.com/office/drawing/2014/main" id="{F9906FC2-262F-0F1E-87E3-F48A9E9E449A}"/>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D2E87B31-4AB5-49FA-EEDB-D13791919EDD}"/>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02DB956E-3FFE-F153-12BF-EA2EAF44AC80}"/>
              </a:ext>
            </a:extLst>
          </p:cNvPr>
          <p:cNvSpPr>
            <a:spLocks noGrp="1"/>
          </p:cNvSpPr>
          <p:nvPr>
            <p:ph type="sldNum" sz="quarter" idx="12"/>
          </p:nvPr>
        </p:nvSpPr>
        <p:spPr/>
        <p:txBody>
          <a:bodyPr/>
          <a:lstStyle/>
          <a:p>
            <a:fld id="{530A68A1-2222-4891-8273-9FD73004E852}" type="slidenum">
              <a:rPr lang="en-US" smtClean="0"/>
              <a:pPr/>
              <a:t>4</a:t>
            </a:fld>
            <a:endParaRPr lang="en-US"/>
          </a:p>
        </p:txBody>
      </p:sp>
      <p:pic>
        <p:nvPicPr>
          <p:cNvPr id="11" name="Bilde 10">
            <a:extLst>
              <a:ext uri="{FF2B5EF4-FFF2-40B4-BE49-F238E27FC236}">
                <a16:creationId xmlns:a16="http://schemas.microsoft.com/office/drawing/2014/main" id="{3CB7BAD1-3429-908D-F883-FADEE3E9415C}"/>
              </a:ext>
            </a:extLst>
          </p:cNvPr>
          <p:cNvPicPr>
            <a:picLocks noChangeAspect="1"/>
          </p:cNvPicPr>
          <p:nvPr/>
        </p:nvPicPr>
        <p:blipFill>
          <a:blip r:embed="rId2"/>
          <a:stretch>
            <a:fillRect/>
          </a:stretch>
        </p:blipFill>
        <p:spPr>
          <a:xfrm>
            <a:off x="1403629" y="1188508"/>
            <a:ext cx="9527755" cy="2448722"/>
          </a:xfrm>
          <a:prstGeom prst="rect">
            <a:avLst/>
          </a:prstGeom>
          <a:ln>
            <a:solidFill>
              <a:schemeClr val="bg2"/>
            </a:solidFill>
          </a:ln>
        </p:spPr>
      </p:pic>
      <p:sp>
        <p:nvSpPr>
          <p:cNvPr id="15" name="Rektangel: avrundede hjørner 14">
            <a:extLst>
              <a:ext uri="{FF2B5EF4-FFF2-40B4-BE49-F238E27FC236}">
                <a16:creationId xmlns:a16="http://schemas.microsoft.com/office/drawing/2014/main" id="{D601CC69-581E-D271-B863-E4E59FAC661D}"/>
              </a:ext>
            </a:extLst>
          </p:cNvPr>
          <p:cNvSpPr/>
          <p:nvPr/>
        </p:nvSpPr>
        <p:spPr>
          <a:xfrm>
            <a:off x="697459" y="1188508"/>
            <a:ext cx="533816" cy="244872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vert="vert270" rtlCol="0" anchor="ctr"/>
          <a:lstStyle/>
          <a:p>
            <a:pPr algn="ctr"/>
            <a:r>
              <a:rPr lang="nb-NO" dirty="0">
                <a:solidFill>
                  <a:schemeClr val="accent1"/>
                </a:solidFill>
              </a:rPr>
              <a:t>Porteføljeforslag</a:t>
            </a:r>
          </a:p>
        </p:txBody>
      </p:sp>
      <p:pic>
        <p:nvPicPr>
          <p:cNvPr id="17" name="Bilde 16">
            <a:extLst>
              <a:ext uri="{FF2B5EF4-FFF2-40B4-BE49-F238E27FC236}">
                <a16:creationId xmlns:a16="http://schemas.microsoft.com/office/drawing/2014/main" id="{4F218CA6-83E4-BEF1-B0ED-9AB753DCAF21}"/>
              </a:ext>
            </a:extLst>
          </p:cNvPr>
          <p:cNvPicPr>
            <a:picLocks noChangeAspect="1"/>
          </p:cNvPicPr>
          <p:nvPr/>
        </p:nvPicPr>
        <p:blipFill>
          <a:blip r:embed="rId3"/>
          <a:stretch>
            <a:fillRect/>
          </a:stretch>
        </p:blipFill>
        <p:spPr>
          <a:xfrm>
            <a:off x="1403629" y="3791216"/>
            <a:ext cx="9527755" cy="2478839"/>
          </a:xfrm>
          <a:prstGeom prst="rect">
            <a:avLst/>
          </a:prstGeom>
          <a:ln>
            <a:solidFill>
              <a:schemeClr val="bg2"/>
            </a:solidFill>
          </a:ln>
        </p:spPr>
      </p:pic>
      <p:sp>
        <p:nvSpPr>
          <p:cNvPr id="18" name="Rektangel: avrundede hjørner 17">
            <a:extLst>
              <a:ext uri="{FF2B5EF4-FFF2-40B4-BE49-F238E27FC236}">
                <a16:creationId xmlns:a16="http://schemas.microsoft.com/office/drawing/2014/main" id="{0276654C-52B2-F3D7-0956-25A0293484E4}"/>
              </a:ext>
            </a:extLst>
          </p:cNvPr>
          <p:cNvSpPr/>
          <p:nvPr/>
        </p:nvSpPr>
        <p:spPr>
          <a:xfrm>
            <a:off x="697459" y="3807459"/>
            <a:ext cx="533816" cy="246259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vert="vert270" rtlCol="0" anchor="ctr"/>
          <a:lstStyle/>
          <a:p>
            <a:pPr algn="ctr"/>
            <a:r>
              <a:rPr lang="nb-NO" dirty="0">
                <a:solidFill>
                  <a:schemeClr val="accent1"/>
                </a:solidFill>
              </a:rPr>
              <a:t>Verdensindeksen</a:t>
            </a:r>
          </a:p>
        </p:txBody>
      </p:sp>
    </p:spTree>
    <p:extLst>
      <p:ext uri="{BB962C8B-B14F-4D97-AF65-F5344CB8AC3E}">
        <p14:creationId xmlns:p14="http://schemas.microsoft.com/office/powerpoint/2010/main" val="4285085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FE069-FDD2-012F-621E-8D78F97110D4}"/>
            </a:ext>
          </a:extLst>
        </p:cNvPr>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014048D9-1174-77E7-17D4-47568AAD608F}"/>
              </a:ext>
            </a:extLst>
          </p:cNvPr>
          <p:cNvSpPr>
            <a:spLocks noGrp="1"/>
          </p:cNvSpPr>
          <p:nvPr>
            <p:ph type="body" sz="quarter" idx="25"/>
          </p:nvPr>
        </p:nvSpPr>
        <p:spPr/>
        <p:txBody>
          <a:bodyPr/>
          <a:lstStyle/>
          <a:p>
            <a:r>
              <a:rPr lang="nb-NO" dirty="0"/>
              <a:t>Stil</a:t>
            </a:r>
          </a:p>
        </p:txBody>
      </p:sp>
      <p:sp>
        <p:nvSpPr>
          <p:cNvPr id="3" name="Plassholder for dato 2">
            <a:extLst>
              <a:ext uri="{FF2B5EF4-FFF2-40B4-BE49-F238E27FC236}">
                <a16:creationId xmlns:a16="http://schemas.microsoft.com/office/drawing/2014/main" id="{7F38143A-644E-1E6D-8907-6E54A2AA2245}"/>
              </a:ext>
            </a:extLst>
          </p:cNvPr>
          <p:cNvSpPr>
            <a:spLocks noGrp="1"/>
          </p:cNvSpPr>
          <p:nvPr>
            <p:ph type="dt" sz="half" idx="10"/>
          </p:nvPr>
        </p:nvSpPr>
        <p:spPr/>
        <p:txBody>
          <a:bodyPr/>
          <a:lstStyle/>
          <a:p>
            <a:fld id="{CA6A5C66-06B2-4041-BFF8-1CF8C5FDAEDD}" type="datetime1">
              <a:rPr lang="nb-NO" smtClean="0"/>
              <a:t>10.03.2026</a:t>
            </a:fld>
            <a:endParaRPr lang="en-US"/>
          </a:p>
        </p:txBody>
      </p:sp>
      <p:sp>
        <p:nvSpPr>
          <p:cNvPr id="4" name="Plassholder for bunntekst 3">
            <a:extLst>
              <a:ext uri="{FF2B5EF4-FFF2-40B4-BE49-F238E27FC236}">
                <a16:creationId xmlns:a16="http://schemas.microsoft.com/office/drawing/2014/main" id="{F41012AD-A43F-E788-10A7-F656F9009F71}"/>
              </a:ext>
            </a:extLst>
          </p:cNvPr>
          <p:cNvSpPr>
            <a:spLocks noGrp="1"/>
          </p:cNvSpPr>
          <p:nvPr>
            <p:ph type="ftr" sz="quarter" idx="11"/>
          </p:nvPr>
        </p:nvSpPr>
        <p:spPr/>
        <p:txBody>
          <a:bodyPr/>
          <a:lstStyle/>
          <a:p>
            <a:r>
              <a:rPr lang="en-US"/>
              <a:t>Pensum Asset Management</a:t>
            </a:r>
          </a:p>
        </p:txBody>
      </p:sp>
      <p:sp>
        <p:nvSpPr>
          <p:cNvPr id="5" name="Plassholder for lysbildenummer 4">
            <a:extLst>
              <a:ext uri="{FF2B5EF4-FFF2-40B4-BE49-F238E27FC236}">
                <a16:creationId xmlns:a16="http://schemas.microsoft.com/office/drawing/2014/main" id="{0F64BB5B-1A3E-E43D-2746-C0D9074A9409}"/>
              </a:ext>
            </a:extLst>
          </p:cNvPr>
          <p:cNvSpPr>
            <a:spLocks noGrp="1"/>
          </p:cNvSpPr>
          <p:nvPr>
            <p:ph type="sldNum" sz="quarter" idx="12"/>
          </p:nvPr>
        </p:nvSpPr>
        <p:spPr/>
        <p:txBody>
          <a:bodyPr/>
          <a:lstStyle/>
          <a:p>
            <a:fld id="{530A68A1-2222-4891-8273-9FD73004E852}" type="slidenum">
              <a:rPr lang="en-US" smtClean="0"/>
              <a:pPr/>
              <a:t>5</a:t>
            </a:fld>
            <a:endParaRPr lang="en-US"/>
          </a:p>
        </p:txBody>
      </p:sp>
      <p:pic>
        <p:nvPicPr>
          <p:cNvPr id="7" name="Bilde 6">
            <a:extLst>
              <a:ext uri="{FF2B5EF4-FFF2-40B4-BE49-F238E27FC236}">
                <a16:creationId xmlns:a16="http://schemas.microsoft.com/office/drawing/2014/main" id="{548A894F-D960-BFBB-9399-D92B087F9AAD}"/>
              </a:ext>
            </a:extLst>
          </p:cNvPr>
          <p:cNvPicPr>
            <a:picLocks noChangeAspect="1"/>
          </p:cNvPicPr>
          <p:nvPr/>
        </p:nvPicPr>
        <p:blipFill>
          <a:blip r:embed="rId2"/>
          <a:stretch>
            <a:fillRect/>
          </a:stretch>
        </p:blipFill>
        <p:spPr>
          <a:xfrm>
            <a:off x="588813" y="1115737"/>
            <a:ext cx="9007860" cy="5146149"/>
          </a:xfrm>
          <a:prstGeom prst="rect">
            <a:avLst/>
          </a:prstGeom>
        </p:spPr>
      </p:pic>
    </p:spTree>
    <p:extLst>
      <p:ext uri="{BB962C8B-B14F-4D97-AF65-F5344CB8AC3E}">
        <p14:creationId xmlns:p14="http://schemas.microsoft.com/office/powerpoint/2010/main" val="3590454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1BEE4-3B90-0097-7A28-07A52E359E5D}"/>
            </a:ext>
          </a:extLst>
        </p:cNvPr>
        <p:cNvGrpSpPr/>
        <p:nvPr/>
      </p:nvGrpSpPr>
      <p:grpSpPr>
        <a:xfrm>
          <a:off x="0" y="0"/>
          <a:ext cx="0" cy="0"/>
          <a:chOff x="0" y="0"/>
          <a:chExt cx="0" cy="0"/>
        </a:xfrm>
      </p:grpSpPr>
      <p:sp>
        <p:nvSpPr>
          <p:cNvPr id="3" name="Plassholder for tekst 1">
            <a:extLst>
              <a:ext uri="{FF2B5EF4-FFF2-40B4-BE49-F238E27FC236}">
                <a16:creationId xmlns:a16="http://schemas.microsoft.com/office/drawing/2014/main" id="{0F6E5782-70EE-CA09-4DF5-91DB74CB8C5F}"/>
              </a:ext>
            </a:extLst>
          </p:cNvPr>
          <p:cNvSpPr txBox="1">
            <a:spLocks/>
          </p:cNvSpPr>
          <p:nvPr/>
        </p:nvSpPr>
        <p:spPr>
          <a:xfrm>
            <a:off x="588813" y="411613"/>
            <a:ext cx="9255242" cy="3749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b-NO" dirty="0"/>
              <a:t>Viktig informasjon om avkastningshistorikken</a:t>
            </a:r>
          </a:p>
        </p:txBody>
      </p:sp>
      <p:sp>
        <p:nvSpPr>
          <p:cNvPr id="4" name="TekstSylinder 3">
            <a:extLst>
              <a:ext uri="{FF2B5EF4-FFF2-40B4-BE49-F238E27FC236}">
                <a16:creationId xmlns:a16="http://schemas.microsoft.com/office/drawing/2014/main" id="{EA5F45B6-1F9A-6F36-5D21-046AE285905C}"/>
              </a:ext>
            </a:extLst>
          </p:cNvPr>
          <p:cNvSpPr txBox="1"/>
          <p:nvPr/>
        </p:nvSpPr>
        <p:spPr>
          <a:xfrm>
            <a:off x="715224" y="1276539"/>
            <a:ext cx="8754701" cy="3600986"/>
          </a:xfrm>
          <a:prstGeom prst="rect">
            <a:avLst/>
          </a:prstGeom>
        </p:spPr>
        <p:txBody>
          <a:bodyPr wrap="square" lIns="0" tIns="0" rIns="0" bIns="0" rtlCol="0" anchor="t">
            <a:spAutoFit/>
          </a:bodyPr>
          <a:lstStyle/>
          <a:p>
            <a:r>
              <a:rPr lang="nb-NO" dirty="0"/>
              <a:t>I og med at enkelte posisjoner har kortere historikk enn vist i grafene over har vi gjort en tilnærming som følger:</a:t>
            </a:r>
          </a:p>
          <a:p>
            <a:endParaRPr lang="nb-NO" dirty="0"/>
          </a:p>
          <a:p>
            <a:r>
              <a:rPr lang="nb-NO" dirty="0"/>
              <a:t>For den norske aksjeeksponeringen er Pensum Norge benyttet fra oppstart av fondet i november 2023. Før denne tid er det benyttet diskresjonære mandater forvaltet av samme forvalter som nå forvalter Pensum Norge; 2/3 Pensum Norske Aksjer Utbytte og 1/3 Pensum Norske Aksjer Vekst.</a:t>
            </a:r>
          </a:p>
          <a:p>
            <a:endParaRPr lang="nb-NO" dirty="0"/>
          </a:p>
          <a:p>
            <a:r>
              <a:rPr lang="nb-NO" dirty="0"/>
              <a:t>For eksponeringen mot nordisk banksektor er Pensum Nordic Banking </a:t>
            </a:r>
            <a:r>
              <a:rPr lang="nb-NO" dirty="0" err="1"/>
              <a:t>Sector</a:t>
            </a:r>
            <a:r>
              <a:rPr lang="nb-NO" dirty="0"/>
              <a:t> benyttet fra oppstart av fondet i februar 2025. Fra mars 2020 er det diskresjonære </a:t>
            </a:r>
            <a:r>
              <a:rPr lang="nb-NO" dirty="0" err="1"/>
              <a:t>mandatat</a:t>
            </a:r>
            <a:r>
              <a:rPr lang="nb-NO" dirty="0"/>
              <a:t> Pensum Sparebank+ benyttet, et mandat med samme forvalter som i Pensum Nordic Banking </a:t>
            </a:r>
            <a:r>
              <a:rPr lang="nb-NO" dirty="0" err="1"/>
              <a:t>Sector</a:t>
            </a:r>
            <a:r>
              <a:rPr lang="nb-NO" dirty="0"/>
              <a:t>. Før mars 2020 er indeksen OSE Bank </a:t>
            </a:r>
            <a:r>
              <a:rPr lang="nb-NO" dirty="0" err="1"/>
              <a:t>Certificates</a:t>
            </a:r>
            <a:r>
              <a:rPr lang="nb-NO" dirty="0"/>
              <a:t> </a:t>
            </a:r>
            <a:r>
              <a:rPr lang="nb-NO"/>
              <a:t>benyttet.</a:t>
            </a:r>
            <a:endParaRPr lang="nb-NO" sz="1199" spc="59" dirty="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endParaRPr>
          </a:p>
        </p:txBody>
      </p:sp>
    </p:spTree>
    <p:extLst>
      <p:ext uri="{BB962C8B-B14F-4D97-AF65-F5344CB8AC3E}">
        <p14:creationId xmlns:p14="http://schemas.microsoft.com/office/powerpoint/2010/main" val="3597290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esentation Sudio Pag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471" y="0"/>
            <a:ext cx="8875058"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AAD4-E94F-DBAC-98A0-CACE4651020E}"/>
            </a:ext>
          </a:extLst>
        </p:cNvPr>
        <p:cNvGrpSpPr/>
        <p:nvPr/>
      </p:nvGrpSpPr>
      <p:grpSpPr>
        <a:xfrm>
          <a:off x="0" y="0"/>
          <a:ext cx="0" cy="0"/>
          <a:chOff x="0" y="0"/>
          <a:chExt cx="0" cy="0"/>
        </a:xfrm>
      </p:grpSpPr>
      <p:sp>
        <p:nvSpPr>
          <p:cNvPr id="29" name="object 29">
            <a:extLst>
              <a:ext uri="{FF2B5EF4-FFF2-40B4-BE49-F238E27FC236}">
                <a16:creationId xmlns:a16="http://schemas.microsoft.com/office/drawing/2014/main" id="{9BC30B5B-E296-1C06-EF9B-875A80556BA4}"/>
              </a:ext>
            </a:extLst>
          </p:cNvPr>
          <p:cNvSpPr txBox="1"/>
          <p:nvPr/>
        </p:nvSpPr>
        <p:spPr>
          <a:xfrm>
            <a:off x="11855762" y="6459579"/>
            <a:ext cx="140335" cy="152400"/>
          </a:xfrm>
          <a:prstGeom prst="rect">
            <a:avLst/>
          </a:prstGeom>
        </p:spPr>
        <p:txBody>
          <a:bodyPr vert="horz" wrap="square" lIns="0" tIns="0" rIns="0" bIns="0" rtlCol="0">
            <a:spAutoFit/>
          </a:bodyPr>
          <a:lstStyle/>
          <a:p>
            <a:pPr marL="38100">
              <a:lnSpc>
                <a:spcPts val="1045"/>
              </a:lnSpc>
            </a:pPr>
            <a:fld id="{81D60167-4931-47E6-BA6A-407CBD079E47}" type="slidenum">
              <a:rPr sz="1000" spc="-5" dirty="0">
                <a:latin typeface="Calibri"/>
                <a:cs typeface="Calibri"/>
              </a:rPr>
              <a:t>12</a:t>
            </a:fld>
            <a:endParaRPr sz="1000">
              <a:latin typeface="Calibri"/>
              <a:cs typeface="Calibri"/>
            </a:endParaRPr>
          </a:p>
        </p:txBody>
      </p:sp>
      <p:sp>
        <p:nvSpPr>
          <p:cNvPr id="30" name="TextBox 17">
            <a:extLst>
              <a:ext uri="{FF2B5EF4-FFF2-40B4-BE49-F238E27FC236}">
                <a16:creationId xmlns:a16="http://schemas.microsoft.com/office/drawing/2014/main" id="{EEF02F0D-B8AD-AE52-49E0-D28346D5E096}"/>
              </a:ext>
            </a:extLst>
          </p:cNvPr>
          <p:cNvSpPr txBox="1"/>
          <p:nvPr/>
        </p:nvSpPr>
        <p:spPr>
          <a:xfrm>
            <a:off x="2030080" y="1911284"/>
            <a:ext cx="2444515" cy="354777"/>
          </a:xfrm>
          <a:prstGeom prst="rect">
            <a:avLst/>
          </a:prstGeom>
          <a:noFill/>
        </p:spPr>
        <p:txBody>
          <a:bodyPr wrap="none" lIns="0" tIns="0" rIns="0" bIns="0" rtlCol="0" anchor="t">
            <a:spAutoFit/>
          </a:bodyPr>
          <a:lstStyle/>
          <a:p>
            <a:pPr>
              <a:lnSpc>
                <a:spcPts val="3000"/>
              </a:lnSpc>
            </a:pPr>
            <a:r>
              <a:rPr lang="nb-NO" sz="2000" b="1" spc="59">
                <a:ea typeface="Open Sans Regular" panose="020B0606030504020204" pitchFamily="34" charset="0"/>
                <a:cs typeface="Calibri" panose="020F0502020204030204" pitchFamily="34" charset="0"/>
              </a:rPr>
              <a:t>Forvaltningsteamet</a:t>
            </a:r>
            <a:endParaRPr lang="en-US" sz="2000" b="1" spc="59">
              <a:ea typeface="Open Sans Regular" panose="020B0606030504020204" pitchFamily="34" charset="0"/>
              <a:cs typeface="Calibri" panose="020F0502020204030204" pitchFamily="34" charset="0"/>
            </a:endParaRPr>
          </a:p>
        </p:txBody>
      </p:sp>
      <p:sp>
        <p:nvSpPr>
          <p:cNvPr id="3" name="Ellipse 2">
            <a:extLst>
              <a:ext uri="{FF2B5EF4-FFF2-40B4-BE49-F238E27FC236}">
                <a16:creationId xmlns:a16="http://schemas.microsoft.com/office/drawing/2014/main" id="{8C3A5C68-5514-9B02-4C58-991DDF29E151}"/>
              </a:ext>
            </a:extLst>
          </p:cNvPr>
          <p:cNvSpPr/>
          <p:nvPr/>
        </p:nvSpPr>
        <p:spPr>
          <a:xfrm>
            <a:off x="1103586" y="1737893"/>
            <a:ext cx="712076" cy="701561"/>
          </a:xfrm>
          <a:prstGeom prst="ellipse">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nb-NO" sz="3600" dirty="0">
              <a:solidFill>
                <a:schemeClr val="tx1"/>
              </a:solidFill>
              <a:latin typeface="+mj-lt"/>
            </a:endParaRPr>
          </a:p>
        </p:txBody>
      </p:sp>
      <p:cxnSp>
        <p:nvCxnSpPr>
          <p:cNvPr id="4" name="Rett linje 3">
            <a:extLst>
              <a:ext uri="{FF2B5EF4-FFF2-40B4-BE49-F238E27FC236}">
                <a16:creationId xmlns:a16="http://schemas.microsoft.com/office/drawing/2014/main" id="{7DEDD01D-77E0-4218-8929-083132C4EDA2}"/>
              </a:ext>
            </a:extLst>
          </p:cNvPr>
          <p:cNvCxnSpPr>
            <a:cxnSpLocks/>
          </p:cNvCxnSpPr>
          <p:nvPr/>
        </p:nvCxnSpPr>
        <p:spPr>
          <a:xfrm>
            <a:off x="732618" y="2631702"/>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88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E77FE-F936-95DD-B282-AE00F404B79B}"/>
            </a:ext>
          </a:extLst>
        </p:cNvPr>
        <p:cNvGrpSpPr/>
        <p:nvPr/>
      </p:nvGrpSpPr>
      <p:grpSpPr>
        <a:xfrm>
          <a:off x="0" y="0"/>
          <a:ext cx="0" cy="0"/>
          <a:chOff x="0" y="0"/>
          <a:chExt cx="0" cy="0"/>
        </a:xfrm>
      </p:grpSpPr>
      <p:cxnSp>
        <p:nvCxnSpPr>
          <p:cNvPr id="6" name="Rett linje 5">
            <a:extLst>
              <a:ext uri="{FF2B5EF4-FFF2-40B4-BE49-F238E27FC236}">
                <a16:creationId xmlns:a16="http://schemas.microsoft.com/office/drawing/2014/main" id="{1D8D49D7-637F-B409-9071-A100BFEE956D}"/>
              </a:ext>
            </a:extLst>
          </p:cNvPr>
          <p:cNvCxnSpPr>
            <a:cxnSpLocks/>
          </p:cNvCxnSpPr>
          <p:nvPr/>
        </p:nvCxnSpPr>
        <p:spPr>
          <a:xfrm>
            <a:off x="707855" y="959920"/>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6">
            <a:extLst>
              <a:ext uri="{FF2B5EF4-FFF2-40B4-BE49-F238E27FC236}">
                <a16:creationId xmlns:a16="http://schemas.microsoft.com/office/drawing/2014/main" id="{CB55EAD5-02CC-FECB-9C9D-54B4E80E8B4A}"/>
              </a:ext>
            </a:extLst>
          </p:cNvPr>
          <p:cNvSpPr txBox="1">
            <a:spLocks/>
          </p:cNvSpPr>
          <p:nvPr/>
        </p:nvSpPr>
        <p:spPr>
          <a:xfrm>
            <a:off x="634995" y="508268"/>
            <a:ext cx="9255242" cy="37494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lang="nb-NO" sz="3000" b="0" kern="1200" spc="60" dirty="0" smtClean="0">
                <a:solidFill>
                  <a:srgbClr val="0D2841"/>
                </a:solidFill>
                <a:latin typeface="+mj-lt"/>
                <a:ea typeface="Open Sans Regular" panose="020B0606030504020204" pitchFamily="34" charset="0"/>
                <a:cs typeface="Open Sans Regular"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baseline="0">
                <a:solidFill>
                  <a:srgbClr val="0D2841"/>
                </a:solidFill>
                <a:latin typeface="Open Sans Regular" panose="020B060603050402020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b-NO" sz="2500"/>
              <a:t>Forvaltningen</a:t>
            </a:r>
          </a:p>
        </p:txBody>
      </p:sp>
      <p:sp>
        <p:nvSpPr>
          <p:cNvPr id="10" name="Plassholder for lysbildenummer 5">
            <a:extLst>
              <a:ext uri="{FF2B5EF4-FFF2-40B4-BE49-F238E27FC236}">
                <a16:creationId xmlns:a16="http://schemas.microsoft.com/office/drawing/2014/main" id="{F2C0FD81-D751-91AC-720A-D84223DCE503}"/>
              </a:ext>
            </a:extLst>
          </p:cNvPr>
          <p:cNvSpPr>
            <a:spLocks noGrp="1"/>
          </p:cNvSpPr>
          <p:nvPr>
            <p:ph type="sldNum" sz="quarter" idx="12"/>
          </p:nvPr>
        </p:nvSpPr>
        <p:spPr>
          <a:xfrm>
            <a:off x="9248115" y="6356350"/>
            <a:ext cx="2743200" cy="365125"/>
          </a:xfrm>
        </p:spPr>
        <p:txBody>
          <a:bodyPr/>
          <a:lstStyle/>
          <a:p>
            <a:fld id="{530A68A1-2222-4891-8273-9FD73004E852}" type="slidenum">
              <a:rPr lang="en-US" smtClean="0">
                <a:solidFill>
                  <a:schemeClr val="tx2">
                    <a:lumMod val="50000"/>
                  </a:schemeClr>
                </a:solidFill>
              </a:rPr>
              <a:pPr/>
              <a:t>13</a:t>
            </a:fld>
            <a:endParaRPr lang="en-US">
              <a:solidFill>
                <a:schemeClr val="tx2">
                  <a:lumMod val="50000"/>
                </a:schemeClr>
              </a:solidFill>
            </a:endParaRPr>
          </a:p>
        </p:txBody>
      </p:sp>
      <p:pic>
        <p:nvPicPr>
          <p:cNvPr id="3" name="Bilde 2" descr="Et bilde som inneholder klær, person, sko, mann&#10;&#10;Automatisk generert beskrivelse">
            <a:extLst>
              <a:ext uri="{FF2B5EF4-FFF2-40B4-BE49-F238E27FC236}">
                <a16:creationId xmlns:a16="http://schemas.microsoft.com/office/drawing/2014/main" id="{0701CA64-5583-E707-F0A5-03C1A025A6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1359" y="1291110"/>
            <a:ext cx="7097609" cy="4734050"/>
          </a:xfrm>
          <a:prstGeom prst="rect">
            <a:avLst/>
          </a:prstGeom>
        </p:spPr>
      </p:pic>
    </p:spTree>
    <p:extLst>
      <p:ext uri="{BB962C8B-B14F-4D97-AF65-F5344CB8AC3E}">
        <p14:creationId xmlns:p14="http://schemas.microsoft.com/office/powerpoint/2010/main" val="2985582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5B33-638B-AFE7-CADC-3CAB143E431C}"/>
            </a:ext>
          </a:extLst>
        </p:cNvPr>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F7A4ECD6-A8BF-5CB7-4702-F713504D5B1C}"/>
              </a:ext>
            </a:extLst>
          </p:cNvPr>
          <p:cNvSpPr>
            <a:spLocks noGrp="1"/>
          </p:cNvSpPr>
          <p:nvPr>
            <p:ph type="body" sz="quarter" idx="25"/>
          </p:nvPr>
        </p:nvSpPr>
        <p:spPr>
          <a:xfrm>
            <a:off x="634633" y="476260"/>
            <a:ext cx="9255242" cy="374946"/>
          </a:xfrm>
        </p:spPr>
        <p:txBody>
          <a:bodyPr/>
          <a:lstStyle/>
          <a:p>
            <a:r>
              <a:rPr lang="nb-NO" sz="2500"/>
              <a:t>Forvaltningsteam – bakgrunn og erfaring</a:t>
            </a:r>
          </a:p>
        </p:txBody>
      </p:sp>
      <p:sp>
        <p:nvSpPr>
          <p:cNvPr id="5" name="Plassholder for lysbildenummer 4">
            <a:extLst>
              <a:ext uri="{FF2B5EF4-FFF2-40B4-BE49-F238E27FC236}">
                <a16:creationId xmlns:a16="http://schemas.microsoft.com/office/drawing/2014/main" id="{0E742ABB-494A-EBA9-4CAD-A010EAFD98C9}"/>
              </a:ext>
            </a:extLst>
          </p:cNvPr>
          <p:cNvSpPr>
            <a:spLocks noGrp="1"/>
          </p:cNvSpPr>
          <p:nvPr>
            <p:ph type="sldNum" sz="quarter" idx="12"/>
          </p:nvPr>
        </p:nvSpPr>
        <p:spPr>
          <a:xfrm>
            <a:off x="9244343" y="6350158"/>
            <a:ext cx="2743200" cy="365125"/>
          </a:xfrm>
        </p:spPr>
        <p:txBody>
          <a:bodyPr/>
          <a:lstStyle/>
          <a:p>
            <a:fld id="{530A68A1-2222-4891-8273-9FD73004E852}" type="slidenum">
              <a:rPr lang="en-US" smtClean="0">
                <a:solidFill>
                  <a:schemeClr val="tx2">
                    <a:lumMod val="50000"/>
                  </a:schemeClr>
                </a:solidFill>
              </a:rPr>
              <a:pPr/>
              <a:t>14</a:t>
            </a:fld>
            <a:endParaRPr lang="en-US">
              <a:solidFill>
                <a:schemeClr val="tx2">
                  <a:lumMod val="50000"/>
                </a:schemeClr>
              </a:solidFill>
            </a:endParaRPr>
          </a:p>
        </p:txBody>
      </p:sp>
      <p:cxnSp>
        <p:nvCxnSpPr>
          <p:cNvPr id="10" name="Rett linje 9">
            <a:extLst>
              <a:ext uri="{FF2B5EF4-FFF2-40B4-BE49-F238E27FC236}">
                <a16:creationId xmlns:a16="http://schemas.microsoft.com/office/drawing/2014/main" id="{EF46D062-9087-069E-48A3-99088D291254}"/>
              </a:ext>
            </a:extLst>
          </p:cNvPr>
          <p:cNvCxnSpPr>
            <a:cxnSpLocks/>
          </p:cNvCxnSpPr>
          <p:nvPr/>
        </p:nvCxnSpPr>
        <p:spPr>
          <a:xfrm>
            <a:off x="707855" y="959920"/>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Plassholder for lysbildenummer 4">
            <a:extLst>
              <a:ext uri="{FF2B5EF4-FFF2-40B4-BE49-F238E27FC236}">
                <a16:creationId xmlns:a16="http://schemas.microsoft.com/office/drawing/2014/main" id="{49E151A3-ABB0-18D6-1D5B-4329D650B936}"/>
              </a:ext>
            </a:extLst>
          </p:cNvPr>
          <p:cNvSpPr txBox="1">
            <a:spLocks/>
          </p:cNvSpPr>
          <p:nvPr/>
        </p:nvSpPr>
        <p:spPr>
          <a:xfrm>
            <a:off x="9244343" y="635015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30A68A1-2222-4891-8273-9FD73004E852}" type="slidenum">
              <a:rPr lang="en-US" smtClean="0">
                <a:solidFill>
                  <a:schemeClr val="tx2">
                    <a:lumMod val="50000"/>
                  </a:schemeClr>
                </a:solidFill>
              </a:rPr>
              <a:pPr/>
              <a:t>14</a:t>
            </a:fld>
            <a:endParaRPr lang="en-US">
              <a:solidFill>
                <a:schemeClr val="tx2">
                  <a:lumMod val="50000"/>
                </a:schemeClr>
              </a:solidFill>
            </a:endParaRPr>
          </a:p>
        </p:txBody>
      </p:sp>
      <p:sp>
        <p:nvSpPr>
          <p:cNvPr id="7" name="Frihåndsform: figur 6">
            <a:extLst>
              <a:ext uri="{FF2B5EF4-FFF2-40B4-BE49-F238E27FC236}">
                <a16:creationId xmlns:a16="http://schemas.microsoft.com/office/drawing/2014/main" id="{29CDC125-138F-09D8-DD94-C6CEEC0E563E}"/>
              </a:ext>
            </a:extLst>
          </p:cNvPr>
          <p:cNvSpPr/>
          <p:nvPr/>
        </p:nvSpPr>
        <p:spPr>
          <a:xfrm>
            <a:off x="5314414" y="1364928"/>
            <a:ext cx="1623728"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0634" tIns="70634" rIns="70634" bIns="70634" numCol="1" spcCol="1270" anchor="ctr" anchorCtr="0">
            <a:noAutofit/>
          </a:bodyPr>
          <a:lstStyle/>
          <a:p>
            <a:pPr marL="0" lvl="0" indent="0" defTabSz="622300">
              <a:lnSpc>
                <a:spcPct val="90000"/>
              </a:lnSpc>
              <a:spcBef>
                <a:spcPct val="0"/>
              </a:spcBef>
              <a:spcAft>
                <a:spcPct val="35000"/>
              </a:spcAft>
              <a:buNone/>
            </a:pPr>
            <a:r>
              <a:rPr lang="nb-NO" sz="9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rPr>
              <a:t>KÅRE PETTERSEN</a:t>
            </a:r>
          </a:p>
          <a:p>
            <a:pPr marL="0" lvl="0" indent="0" defTabSz="622300">
              <a:lnSpc>
                <a:spcPct val="90000"/>
              </a:lnSpc>
              <a:spcBef>
                <a:spcPct val="0"/>
              </a:spcBef>
              <a:spcAft>
                <a:spcPct val="35000"/>
              </a:spcAft>
              <a:buNone/>
            </a:pPr>
            <a:r>
              <a:rPr lang="nb-NO" sz="9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rPr>
              <a:t>INVESTERINGSDIREKTØR</a:t>
            </a:r>
            <a:endParaRPr lang="nb-NO" sz="9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8" name="Frihåndsform: figur 7">
            <a:extLst>
              <a:ext uri="{FF2B5EF4-FFF2-40B4-BE49-F238E27FC236}">
                <a16:creationId xmlns:a16="http://schemas.microsoft.com/office/drawing/2014/main" id="{B8C7605F-856F-8F2C-57C1-49933157BD77}"/>
              </a:ext>
            </a:extLst>
          </p:cNvPr>
          <p:cNvSpPr/>
          <p:nvPr/>
        </p:nvSpPr>
        <p:spPr>
          <a:xfrm>
            <a:off x="5306924" y="1646800"/>
            <a:ext cx="1913245" cy="1667746"/>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endParaRPr lang="nb-NO" sz="800">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Makro – Norge &amp; Fondsporteføljer</a:t>
            </a:r>
          </a:p>
          <a:p>
            <a:endParaRPr lang="nb-NO" sz="800">
              <a:ea typeface="Open Sans SemiBold" panose="020B0706030804020204" pitchFamily="34" charset="0"/>
              <a:cs typeface="Open Sans SemiBold" panose="020B0706030804020204" pitchFamily="34" charset="0"/>
            </a:endParaRPr>
          </a:p>
          <a:p>
            <a:r>
              <a:rPr lang="nb-NO" sz="800">
                <a:ea typeface="Open Sans SemiBold" panose="020B0706030804020204" pitchFamily="34" charset="0"/>
                <a:cs typeface="Open Sans SemiBold" panose="020B0706030804020204" pitchFamily="34" charset="0"/>
              </a:rPr>
              <a:t>Kåre Pettersen har jobbet i finanssektoren innen rådgivning, ledelse og forvaltning siden 1998. Han er utdannet økonom og revisor.</a:t>
            </a:r>
          </a:p>
          <a:p>
            <a:r>
              <a:rPr lang="nb-NO" sz="800">
                <a:ea typeface="Open Sans SemiBold" panose="020B0706030804020204" pitchFamily="34" charset="0"/>
                <a:cs typeface="Open Sans SemiBold" panose="020B0706030804020204" pitchFamily="34" charset="0"/>
              </a:rPr>
              <a:t>Pettersen begynte i Pensum i 2014 og har ledet forvaltningsavdelingen siden november 2015, med hovedoppgaver knyttet til norske aksjer og global allokering.</a:t>
            </a:r>
          </a:p>
        </p:txBody>
      </p:sp>
      <p:cxnSp>
        <p:nvCxnSpPr>
          <p:cNvPr id="9" name="Rett linje 8">
            <a:extLst>
              <a:ext uri="{FF2B5EF4-FFF2-40B4-BE49-F238E27FC236}">
                <a16:creationId xmlns:a16="http://schemas.microsoft.com/office/drawing/2014/main" id="{89590842-A575-C045-FED6-6C7E6309DAB6}"/>
              </a:ext>
            </a:extLst>
          </p:cNvPr>
          <p:cNvCxnSpPr>
            <a:cxnSpLocks/>
          </p:cNvCxnSpPr>
          <p:nvPr/>
        </p:nvCxnSpPr>
        <p:spPr>
          <a:xfrm>
            <a:off x="5377688" y="1697257"/>
            <a:ext cx="1560454"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rihåndsform: figur 14">
            <a:extLst>
              <a:ext uri="{FF2B5EF4-FFF2-40B4-BE49-F238E27FC236}">
                <a16:creationId xmlns:a16="http://schemas.microsoft.com/office/drawing/2014/main" id="{B39B8755-5AC3-0D72-6A50-0C55BC0E967C}"/>
              </a:ext>
            </a:extLst>
          </p:cNvPr>
          <p:cNvSpPr/>
          <p:nvPr/>
        </p:nvSpPr>
        <p:spPr>
          <a:xfrm>
            <a:off x="504559" y="1159898"/>
            <a:ext cx="2428222" cy="697578"/>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104924" tIns="104924" rIns="104924" bIns="104924" numCol="1" spcCol="1270" anchor="ctr" anchorCtr="0">
            <a:noAutofit/>
          </a:bodyPr>
          <a:lstStyle/>
          <a:p>
            <a:pPr marL="0" lvl="0" indent="0" defTabSz="102235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NORA DAMÅS</a:t>
            </a:r>
            <a:endPar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marL="0" lvl="0" indent="0" defTabSz="102235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p>
        </p:txBody>
      </p:sp>
      <p:sp>
        <p:nvSpPr>
          <p:cNvPr id="19" name="Frihåndsform: figur 18">
            <a:extLst>
              <a:ext uri="{FF2B5EF4-FFF2-40B4-BE49-F238E27FC236}">
                <a16:creationId xmlns:a16="http://schemas.microsoft.com/office/drawing/2014/main" id="{6AA0CE0E-FB49-BA5D-8F2D-39D441EDBC41}"/>
              </a:ext>
            </a:extLst>
          </p:cNvPr>
          <p:cNvSpPr/>
          <p:nvPr/>
        </p:nvSpPr>
        <p:spPr>
          <a:xfrm>
            <a:off x="504559" y="1688058"/>
            <a:ext cx="1894464" cy="1658603"/>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Makr</a:t>
            </a:r>
            <a:r>
              <a:rPr lang="nb-NO" sz="8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o - Fondsporteføljer</a:t>
            </a:r>
            <a:endPar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a:ea typeface="Open Sans SemiBold" panose="020B0706030804020204" pitchFamily="34" charset="0"/>
                <a:cs typeface="Open Sans SemiBold" panose="020B0706030804020204" pitchFamily="34" charset="0"/>
              </a:rPr>
              <a:t>Nora Damås har 19 års erfaring i finansbransjen. Hun startet som aksjetrader i Rosenlund ASA før hun jobbet 10 år i Formuesforvaltning med fokus på fondsseleksjon. Etter det ledet Nora forvaltningen i </a:t>
            </a:r>
            <a:r>
              <a:rPr lang="nb-NO" sz="800" err="1">
                <a:ea typeface="Open Sans SemiBold" panose="020B0706030804020204" pitchFamily="34" charset="0"/>
                <a:cs typeface="Open Sans SemiBold" panose="020B0706030804020204" pitchFamily="34" charset="0"/>
              </a:rPr>
              <a:t>Zenith</a:t>
            </a:r>
            <a:r>
              <a:rPr lang="nb-NO" sz="800">
                <a:ea typeface="Open Sans SemiBold" panose="020B0706030804020204" pitchFamily="34" charset="0"/>
                <a:cs typeface="Open Sans SemiBold" panose="020B0706030804020204" pitchFamily="34" charset="0"/>
              </a:rPr>
              <a:t> Fonds før hun i 2019 startet i Pensum Asset Management. </a:t>
            </a:r>
          </a:p>
          <a:p>
            <a:pPr marL="12700" marR="6350"/>
            <a:r>
              <a:rPr lang="nb-NO" sz="800">
                <a:ea typeface="Open Sans SemiBold" panose="020B0706030804020204" pitchFamily="34" charset="0"/>
                <a:cs typeface="Open Sans SemiBold" panose="020B0706030804020204" pitchFamily="34" charset="0"/>
              </a:rPr>
              <a:t>Nora har en mastergrad i finansiell økonomi fra NTNU.</a:t>
            </a:r>
          </a:p>
        </p:txBody>
      </p:sp>
      <p:cxnSp>
        <p:nvCxnSpPr>
          <p:cNvPr id="20" name="Rett linje 19">
            <a:extLst>
              <a:ext uri="{FF2B5EF4-FFF2-40B4-BE49-F238E27FC236}">
                <a16:creationId xmlns:a16="http://schemas.microsoft.com/office/drawing/2014/main" id="{A533AC35-C6C3-A7E3-E0C6-A7FF0884D3DB}"/>
              </a:ext>
            </a:extLst>
          </p:cNvPr>
          <p:cNvCxnSpPr>
            <a:cxnSpLocks/>
          </p:cNvCxnSpPr>
          <p:nvPr/>
        </p:nvCxnSpPr>
        <p:spPr>
          <a:xfrm>
            <a:off x="582467" y="1699005"/>
            <a:ext cx="171124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Frihåndsform: figur 23">
            <a:extLst>
              <a:ext uri="{FF2B5EF4-FFF2-40B4-BE49-F238E27FC236}">
                <a16:creationId xmlns:a16="http://schemas.microsoft.com/office/drawing/2014/main" id="{B349B4B0-29FE-0737-71F6-F9F9C12229A3}"/>
              </a:ext>
            </a:extLst>
          </p:cNvPr>
          <p:cNvSpPr/>
          <p:nvPr/>
        </p:nvSpPr>
        <p:spPr>
          <a:xfrm>
            <a:off x="483369" y="4177883"/>
            <a:ext cx="1610224"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TROND OMDAL</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25" name="Frihåndsform: figur 24">
            <a:extLst>
              <a:ext uri="{FF2B5EF4-FFF2-40B4-BE49-F238E27FC236}">
                <a16:creationId xmlns:a16="http://schemas.microsoft.com/office/drawing/2014/main" id="{840E5071-7D74-1F55-8FAC-A4CE3FF02DB8}"/>
              </a:ext>
            </a:extLst>
          </p:cNvPr>
          <p:cNvSpPr/>
          <p:nvPr/>
        </p:nvSpPr>
        <p:spPr>
          <a:xfrm>
            <a:off x="470698" y="4519466"/>
            <a:ext cx="1827143" cy="1577131"/>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lnSpc>
                <a:spcPct val="100000"/>
              </a:lnSpc>
            </a:pPr>
            <a:endParaRPr lang="nb-NO" sz="800">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Energi </a:t>
            </a:r>
          </a:p>
          <a:p>
            <a:pPr marL="12700" marR="6350">
              <a:lnSpc>
                <a:spcPct val="100000"/>
              </a:lnSpc>
            </a:pPr>
            <a:endParaRPr lang="nb-NO" sz="800">
              <a:ea typeface="Open Sans SemiBold" panose="020B0706030804020204" pitchFamily="34" charset="0"/>
              <a:cs typeface="Open Sans SemiBold" panose="020B0706030804020204" pitchFamily="34" charset="0"/>
            </a:endParaRPr>
          </a:p>
          <a:p>
            <a:pPr marL="12700" marR="6350">
              <a:lnSpc>
                <a:spcPct val="100000"/>
              </a:lnSpc>
            </a:pPr>
            <a:r>
              <a:rPr lang="nb-NO" sz="800">
                <a:ea typeface="Open Sans SemiBold" panose="020B0706030804020204" pitchFamily="34" charset="0"/>
                <a:cs typeface="Open Sans SemiBold" panose="020B0706030804020204" pitchFamily="34" charset="0"/>
              </a:rPr>
              <a:t>Trond Omdal har 14 års erfaring som oljeanalytiker i Nordea,  Arctic, Pareto og Fearnley. Han har i tillegg jobbet 15 år i oljeindustrien for ConocoPhillips, Statoil (</a:t>
            </a:r>
            <a:r>
              <a:rPr lang="nb-NO" sz="800" err="1">
                <a:ea typeface="Open Sans SemiBold" panose="020B0706030804020204" pitchFamily="34" charset="0"/>
                <a:cs typeface="Open Sans SemiBold" panose="020B0706030804020204" pitchFamily="34" charset="0"/>
              </a:rPr>
              <a:t>Equinor</a:t>
            </a:r>
            <a:r>
              <a:rPr lang="nb-NO" sz="800">
                <a:ea typeface="Open Sans SemiBold" panose="020B0706030804020204" pitchFamily="34" charset="0"/>
                <a:cs typeface="Open Sans SemiBold" panose="020B0706030804020204" pitchFamily="34" charset="0"/>
              </a:rPr>
              <a:t>) og OKEA, samt fire år som bedriftsrådgiver for </a:t>
            </a:r>
            <a:r>
              <a:rPr lang="nb-NO" sz="800" err="1">
                <a:ea typeface="Open Sans SemiBold" panose="020B0706030804020204" pitchFamily="34" charset="0"/>
                <a:cs typeface="Open Sans SemiBold" panose="020B0706030804020204" pitchFamily="34" charset="0"/>
              </a:rPr>
              <a:t>PwC</a:t>
            </a:r>
            <a:r>
              <a:rPr lang="nb-NO" sz="800">
                <a:ea typeface="Open Sans SemiBold" panose="020B0706030804020204" pitchFamily="34" charset="0"/>
                <a:cs typeface="Open Sans SemiBold" panose="020B0706030804020204" pitchFamily="34" charset="0"/>
              </a:rPr>
              <a:t> og </a:t>
            </a:r>
            <a:r>
              <a:rPr lang="nb-NO" sz="800" err="1">
                <a:ea typeface="Open Sans SemiBold" panose="020B0706030804020204" pitchFamily="34" charset="0"/>
                <a:cs typeface="Open Sans SemiBold" panose="020B0706030804020204" pitchFamily="34" charset="0"/>
              </a:rPr>
              <a:t>Cap</a:t>
            </a:r>
            <a:r>
              <a:rPr lang="nb-NO" sz="800">
                <a:ea typeface="Open Sans SemiBold" panose="020B0706030804020204" pitchFamily="34" charset="0"/>
                <a:cs typeface="Open Sans SemiBold" panose="020B0706030804020204" pitchFamily="34" charset="0"/>
              </a:rPr>
              <a:t> Gemini. Omdal er utdannet siviløkonom fra Norges Handelshøyskole i Bergen.</a:t>
            </a:r>
          </a:p>
        </p:txBody>
      </p:sp>
      <p:cxnSp>
        <p:nvCxnSpPr>
          <p:cNvPr id="26" name="Rett linje 25">
            <a:extLst>
              <a:ext uri="{FF2B5EF4-FFF2-40B4-BE49-F238E27FC236}">
                <a16:creationId xmlns:a16="http://schemas.microsoft.com/office/drawing/2014/main" id="{4118B847-D9AE-9BAE-322C-E93FF7077D0A}"/>
              </a:ext>
            </a:extLst>
          </p:cNvPr>
          <p:cNvCxnSpPr>
            <a:cxnSpLocks/>
          </p:cNvCxnSpPr>
          <p:nvPr/>
        </p:nvCxnSpPr>
        <p:spPr>
          <a:xfrm>
            <a:off x="553224" y="4540122"/>
            <a:ext cx="1610224"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Frihåndsform: figur 26">
            <a:extLst>
              <a:ext uri="{FF2B5EF4-FFF2-40B4-BE49-F238E27FC236}">
                <a16:creationId xmlns:a16="http://schemas.microsoft.com/office/drawing/2014/main" id="{0E1845D9-C22B-D856-4C4D-0FE95D5770D1}"/>
              </a:ext>
            </a:extLst>
          </p:cNvPr>
          <p:cNvSpPr/>
          <p:nvPr/>
        </p:nvSpPr>
        <p:spPr>
          <a:xfrm>
            <a:off x="2996272" y="1364928"/>
            <a:ext cx="1805646"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J. PETER ANDERSLAND</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28" name="Frihåndsform: figur 27">
            <a:extLst>
              <a:ext uri="{FF2B5EF4-FFF2-40B4-BE49-F238E27FC236}">
                <a16:creationId xmlns:a16="http://schemas.microsoft.com/office/drawing/2014/main" id="{748696D4-52E4-869E-D151-0146EE30F0FE}"/>
              </a:ext>
            </a:extLst>
          </p:cNvPr>
          <p:cNvSpPr/>
          <p:nvPr/>
        </p:nvSpPr>
        <p:spPr>
          <a:xfrm>
            <a:off x="2965610" y="1696524"/>
            <a:ext cx="1858903" cy="1733898"/>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0" lvl="0" indent="0" algn="l" defTabSz="488950">
              <a:lnSpc>
                <a:spcPct val="90000"/>
              </a:lnSpc>
              <a:spcBef>
                <a:spcPct val="0"/>
              </a:spcBef>
              <a:spcAft>
                <a:spcPct val="35000"/>
              </a:spcAft>
              <a:buNone/>
            </a:pPr>
            <a:endParaRPr lang="nb-NO" sz="800" kern="1200">
              <a:latin typeface="+mn-lt"/>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a:t>
            </a:r>
            <a:r>
              <a:rPr lang="nb-NO" sz="800" kern="1200" err="1">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hedge</a:t>
            </a:r>
            <a:endPar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marL="12700" marR="6350"/>
            <a:endParaRPr lang="nb-NO" sz="800" kern="1200">
              <a:latin typeface="+mn-lt"/>
              <a:ea typeface="Open Sans SemiBold" panose="020B0706030804020204" pitchFamily="34" charset="0"/>
              <a:cs typeface="Open Sans SemiBold" panose="020B0706030804020204" pitchFamily="34" charset="0"/>
            </a:endParaRPr>
          </a:p>
          <a:p>
            <a:pPr marL="0" lvl="0" indent="0" algn="l" defTabSz="488950">
              <a:lnSpc>
                <a:spcPct val="90000"/>
              </a:lnSpc>
              <a:spcBef>
                <a:spcPct val="0"/>
              </a:spcBef>
              <a:spcAft>
                <a:spcPct val="35000"/>
              </a:spcAft>
              <a:buNone/>
            </a:pPr>
            <a:r>
              <a:rPr lang="nb-NO" sz="800" kern="1200">
                <a:latin typeface="+mn-lt"/>
                <a:ea typeface="Open Sans SemiBold" panose="020B0706030804020204" pitchFamily="34" charset="0"/>
                <a:cs typeface="Open Sans SemiBold" panose="020B0706030804020204" pitchFamily="34" charset="0"/>
              </a:rPr>
              <a:t>J. Peter Andersland har mer enn 30 års erfaring fra analyse av global økonomi, råvare og kapitalmarkedene. Han har forvaltet både </a:t>
            </a:r>
            <a:r>
              <a:rPr lang="nb-NO" sz="800" kern="1200" err="1">
                <a:latin typeface="+mn-lt"/>
                <a:ea typeface="Open Sans SemiBold" panose="020B0706030804020204" pitchFamily="34" charset="0"/>
                <a:cs typeface="Open Sans SemiBold" panose="020B0706030804020204" pitchFamily="34" charset="0"/>
              </a:rPr>
              <a:t>long</a:t>
            </a:r>
            <a:r>
              <a:rPr lang="nb-NO" sz="800" kern="1200">
                <a:latin typeface="+mn-lt"/>
                <a:ea typeface="Open Sans SemiBold" panose="020B0706030804020204" pitchFamily="34" charset="0"/>
                <a:cs typeface="Open Sans SemiBold" panose="020B0706030804020204" pitchFamily="34" charset="0"/>
              </a:rPr>
              <a:t>/</a:t>
            </a:r>
            <a:r>
              <a:rPr lang="nb-NO" sz="800" kern="1200" err="1">
                <a:latin typeface="+mn-lt"/>
                <a:ea typeface="Open Sans SemiBold" panose="020B0706030804020204" pitchFamily="34" charset="0"/>
                <a:cs typeface="Open Sans SemiBold" panose="020B0706030804020204" pitchFamily="34" charset="0"/>
              </a:rPr>
              <a:t>short</a:t>
            </a:r>
            <a:r>
              <a:rPr lang="nb-NO" sz="800" kern="1200">
                <a:latin typeface="+mn-lt"/>
                <a:ea typeface="Open Sans SemiBold" panose="020B0706030804020204" pitchFamily="34" charset="0"/>
                <a:cs typeface="Open Sans SemiBold" panose="020B0706030804020204" pitchFamily="34" charset="0"/>
              </a:rPr>
              <a:t> og P/E investeringer innen aksjer, råvarer, renter og kreditt siden år 2000. Han har vært analysesjef og aksjesjef i Christiania Markets (Nordea) og </a:t>
            </a:r>
            <a:r>
              <a:rPr lang="nb-NO" sz="800" kern="1200" err="1">
                <a:latin typeface="+mn-lt"/>
                <a:ea typeface="Open Sans SemiBold" panose="020B0706030804020204" pitchFamily="34" charset="0"/>
                <a:cs typeface="Open Sans SemiBold" panose="020B0706030804020204" pitchFamily="34" charset="0"/>
              </a:rPr>
              <a:t>Svenska</a:t>
            </a:r>
            <a:r>
              <a:rPr lang="nb-NO" sz="800" kern="1200">
                <a:latin typeface="+mn-lt"/>
                <a:ea typeface="Open Sans SemiBold" panose="020B0706030804020204" pitchFamily="34" charset="0"/>
                <a:cs typeface="Open Sans SemiBold" panose="020B0706030804020204" pitchFamily="34" charset="0"/>
              </a:rPr>
              <a:t> Handelsbanken. I 1999 etablerte han </a:t>
            </a:r>
            <a:r>
              <a:rPr lang="nb-NO" sz="800" kern="1200" err="1">
                <a:latin typeface="+mn-lt"/>
                <a:ea typeface="Open Sans SemiBold" panose="020B0706030804020204" pitchFamily="34" charset="0"/>
                <a:cs typeface="Open Sans SemiBold" panose="020B0706030804020204" pitchFamily="34" charset="0"/>
              </a:rPr>
              <a:t>Sector</a:t>
            </a:r>
            <a:r>
              <a:rPr lang="nb-NO" sz="800" kern="1200">
                <a:latin typeface="+mn-lt"/>
                <a:ea typeface="Open Sans SemiBold" panose="020B0706030804020204" pitchFamily="34" charset="0"/>
                <a:cs typeface="Open Sans SemiBold" panose="020B0706030804020204" pitchFamily="34" charset="0"/>
              </a:rPr>
              <a:t> Asset Management.    Andersland har en MBA fra Pacific </a:t>
            </a:r>
            <a:r>
              <a:rPr lang="nb-NO" sz="800" kern="1200" err="1">
                <a:latin typeface="+mn-lt"/>
                <a:ea typeface="Open Sans SemiBold" panose="020B0706030804020204" pitchFamily="34" charset="0"/>
                <a:cs typeface="Open Sans SemiBold" panose="020B0706030804020204" pitchFamily="34" charset="0"/>
              </a:rPr>
              <a:t>Lutheran</a:t>
            </a:r>
            <a:r>
              <a:rPr lang="nb-NO" sz="800" kern="1200">
                <a:latin typeface="+mn-lt"/>
                <a:ea typeface="Open Sans SemiBold" panose="020B0706030804020204" pitchFamily="34" charset="0"/>
                <a:cs typeface="Open Sans SemiBold" panose="020B0706030804020204" pitchFamily="34" charset="0"/>
              </a:rPr>
              <a:t> </a:t>
            </a:r>
            <a:r>
              <a:rPr lang="nb-NO" sz="800" kern="1200" err="1">
                <a:latin typeface="+mn-lt"/>
                <a:ea typeface="Open Sans SemiBold" panose="020B0706030804020204" pitchFamily="34" charset="0"/>
                <a:cs typeface="Open Sans SemiBold" panose="020B0706030804020204" pitchFamily="34" charset="0"/>
              </a:rPr>
              <a:t>University</a:t>
            </a:r>
            <a:r>
              <a:rPr lang="nb-NO" sz="800" kern="1200">
                <a:latin typeface="+mn-lt"/>
                <a:ea typeface="Open Sans SemiBold" panose="020B0706030804020204" pitchFamily="34" charset="0"/>
                <a:cs typeface="Open Sans SemiBold" panose="020B0706030804020204" pitchFamily="34" charset="0"/>
              </a:rPr>
              <a:t>.</a:t>
            </a:r>
          </a:p>
        </p:txBody>
      </p:sp>
      <p:cxnSp>
        <p:nvCxnSpPr>
          <p:cNvPr id="29" name="Rett linje 28">
            <a:extLst>
              <a:ext uri="{FF2B5EF4-FFF2-40B4-BE49-F238E27FC236}">
                <a16:creationId xmlns:a16="http://schemas.microsoft.com/office/drawing/2014/main" id="{1F160291-3182-B68B-A29C-91C2E17B36DF}"/>
              </a:ext>
            </a:extLst>
          </p:cNvPr>
          <p:cNvCxnSpPr>
            <a:cxnSpLocks/>
          </p:cNvCxnSpPr>
          <p:nvPr/>
        </p:nvCxnSpPr>
        <p:spPr>
          <a:xfrm flipV="1">
            <a:off x="3055105" y="1688058"/>
            <a:ext cx="1746813" cy="8726"/>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0" name="Frihåndsform: figur 29">
            <a:extLst>
              <a:ext uri="{FF2B5EF4-FFF2-40B4-BE49-F238E27FC236}">
                <a16:creationId xmlns:a16="http://schemas.microsoft.com/office/drawing/2014/main" id="{E696FF00-A793-19DA-8B78-5D7EB8B5AA0F}"/>
              </a:ext>
            </a:extLst>
          </p:cNvPr>
          <p:cNvSpPr/>
          <p:nvPr/>
        </p:nvSpPr>
        <p:spPr>
          <a:xfrm>
            <a:off x="2923593" y="4195470"/>
            <a:ext cx="1827143"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EYVIND WIDTH</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1" name="Frihåndsform: figur 30">
            <a:extLst>
              <a:ext uri="{FF2B5EF4-FFF2-40B4-BE49-F238E27FC236}">
                <a16:creationId xmlns:a16="http://schemas.microsoft.com/office/drawing/2014/main" id="{ACBC5F98-9720-2829-61E0-F094A8CAE599}"/>
              </a:ext>
            </a:extLst>
          </p:cNvPr>
          <p:cNvSpPr/>
          <p:nvPr/>
        </p:nvSpPr>
        <p:spPr>
          <a:xfrm>
            <a:off x="2902769" y="4537782"/>
            <a:ext cx="1827143" cy="1733898"/>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Sparebanker</a:t>
            </a:r>
          </a:p>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a:ea typeface="Open Sans SemiBold" panose="020B0706030804020204" pitchFamily="34" charset="0"/>
                <a:cs typeface="Open Sans SemiBold" panose="020B0706030804020204" pitchFamily="34" charset="0"/>
              </a:rPr>
              <a:t>Eyvind Width var tidligere partner og leder for renteavdelingen i ABG Sundal Collier, </a:t>
            </a:r>
            <a:r>
              <a:rPr lang="nb-NO" sz="800" err="1">
                <a:ea typeface="Open Sans SemiBold" panose="020B0706030804020204" pitchFamily="34" charset="0"/>
                <a:cs typeface="Open Sans SemiBold" panose="020B0706030804020204" pitchFamily="34" charset="0"/>
              </a:rPr>
              <a:t>adm</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dir</a:t>
            </a:r>
            <a:r>
              <a:rPr lang="nb-NO" sz="800">
                <a:ea typeface="Open Sans SemiBold" panose="020B0706030804020204" pitchFamily="34" charset="0"/>
                <a:cs typeface="Open Sans SemiBold" panose="020B0706030804020204" pitchFamily="34" charset="0"/>
              </a:rPr>
              <a:t> og forvalter i Fondsfinans Aktiv Forvaltning og obligasjonsmegler i Sparebank 1 Markets. Han innehar lang erfaring med </a:t>
            </a:r>
            <a:r>
              <a:rPr lang="nb-NO" sz="800" err="1">
                <a:ea typeface="Open Sans SemiBold" panose="020B0706030804020204" pitchFamily="34" charset="0"/>
                <a:cs typeface="Open Sans SemiBold" panose="020B0706030804020204" pitchFamily="34" charset="0"/>
              </a:rPr>
              <a:t>family</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offices</a:t>
            </a:r>
            <a:r>
              <a:rPr lang="nb-NO" sz="800">
                <a:ea typeface="Open Sans SemiBold" panose="020B0706030804020204" pitchFamily="34" charset="0"/>
                <a:cs typeface="Open Sans SemiBold" panose="020B0706030804020204" pitchFamily="34" charset="0"/>
              </a:rPr>
              <a:t> og institusjonelle investorer og har i en årrekke forvaltet kapital i sparebanker i Norge. Width er i dag også styremedlem i Pareto Bank.</a:t>
            </a:r>
          </a:p>
        </p:txBody>
      </p:sp>
      <p:cxnSp>
        <p:nvCxnSpPr>
          <p:cNvPr id="32" name="Rett linje 31">
            <a:extLst>
              <a:ext uri="{FF2B5EF4-FFF2-40B4-BE49-F238E27FC236}">
                <a16:creationId xmlns:a16="http://schemas.microsoft.com/office/drawing/2014/main" id="{BFF2402C-E0D2-8D47-25AB-C300FB5EDE7D}"/>
              </a:ext>
            </a:extLst>
          </p:cNvPr>
          <p:cNvCxnSpPr>
            <a:cxnSpLocks/>
          </p:cNvCxnSpPr>
          <p:nvPr/>
        </p:nvCxnSpPr>
        <p:spPr>
          <a:xfrm flipV="1">
            <a:off x="2968120" y="4537782"/>
            <a:ext cx="1670057" cy="159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Frihåndsform: figur 32">
            <a:extLst>
              <a:ext uri="{FF2B5EF4-FFF2-40B4-BE49-F238E27FC236}">
                <a16:creationId xmlns:a16="http://schemas.microsoft.com/office/drawing/2014/main" id="{5CA7570A-28E9-2595-DAEE-3E401E569B3C}"/>
              </a:ext>
            </a:extLst>
          </p:cNvPr>
          <p:cNvSpPr/>
          <p:nvPr/>
        </p:nvSpPr>
        <p:spPr>
          <a:xfrm>
            <a:off x="5293731" y="4206139"/>
            <a:ext cx="1683137"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INGER ANNE VIKRE</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4" name="Frihåndsform: figur 33">
            <a:extLst>
              <a:ext uri="{FF2B5EF4-FFF2-40B4-BE49-F238E27FC236}">
                <a16:creationId xmlns:a16="http://schemas.microsoft.com/office/drawing/2014/main" id="{672437DF-C687-E3F8-E7D8-954F11839FB3}"/>
              </a:ext>
            </a:extLst>
          </p:cNvPr>
          <p:cNvSpPr/>
          <p:nvPr/>
        </p:nvSpPr>
        <p:spPr>
          <a:xfrm>
            <a:off x="5306924" y="4537782"/>
            <a:ext cx="1858903" cy="2098907"/>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Global </a:t>
            </a:r>
            <a:r>
              <a:rPr lang="nb-NO" sz="800" kern="1200" err="1">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hedge</a:t>
            </a:r>
            <a:endPar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endParaRPr lang="nb-NO" sz="80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r>
              <a:rPr lang="nb-NO" sz="800">
                <a:ea typeface="Open Sans SemiBold" panose="020B0706030804020204" pitchFamily="34" charset="0"/>
                <a:cs typeface="Open Sans SemiBold" panose="020B0706030804020204" pitchFamily="34" charset="0"/>
              </a:rPr>
              <a:t>Inger-Anne Vikre begynte sin karriere i </a:t>
            </a:r>
            <a:r>
              <a:rPr lang="nb-NO" sz="800" err="1">
                <a:ea typeface="Open Sans SemiBold" panose="020B0706030804020204" pitchFamily="34" charset="0"/>
                <a:cs typeface="Open Sans SemiBold" panose="020B0706030804020204" pitchFamily="34" charset="0"/>
              </a:rPr>
              <a:t>DnC</a:t>
            </a:r>
            <a:r>
              <a:rPr lang="nb-NO" sz="800">
                <a:ea typeface="Open Sans SemiBold" panose="020B0706030804020204" pitchFamily="34" charset="0"/>
                <a:cs typeface="Open Sans SemiBold" panose="020B0706030804020204" pitchFamily="34" charset="0"/>
              </a:rPr>
              <a:t> (DnB) i 1983 og har over 20 års erfaring fra kapitalmarkedene både som porteføljeforvalter og som trader. Hun begynte i Gjensidige Livsforsikring Kapitalforvaltning i 1998 før hun gikk til </a:t>
            </a:r>
            <a:r>
              <a:rPr lang="nb-NO" sz="800" err="1">
                <a:ea typeface="Open Sans SemiBold" panose="020B0706030804020204" pitchFamily="34" charset="0"/>
                <a:cs typeface="Open Sans SemiBold" panose="020B0706030804020204" pitchFamily="34" charset="0"/>
              </a:rPr>
              <a:t>Sector</a:t>
            </a:r>
            <a:r>
              <a:rPr lang="nb-NO" sz="800">
                <a:ea typeface="Open Sans SemiBold" panose="020B0706030804020204" pitchFamily="34" charset="0"/>
                <a:cs typeface="Open Sans SemiBold" panose="020B0706030804020204" pitchFamily="34" charset="0"/>
              </a:rPr>
              <a:t> Asset Management i 2005. Inger Anne har lang erfaring med </a:t>
            </a:r>
            <a:r>
              <a:rPr lang="nb-NO" sz="800" err="1">
                <a:ea typeface="Open Sans SemiBold" panose="020B0706030804020204" pitchFamily="34" charset="0"/>
                <a:cs typeface="Open Sans SemiBold" panose="020B0706030804020204" pitchFamily="34" charset="0"/>
              </a:rPr>
              <a:t>long</a:t>
            </a:r>
            <a:r>
              <a:rPr lang="nb-NO" sz="800">
                <a:ea typeface="Open Sans SemiBold" panose="020B0706030804020204" pitchFamily="34" charset="0"/>
                <a:cs typeface="Open Sans SemiBold" panose="020B0706030804020204" pitchFamily="34" charset="0"/>
              </a:rPr>
              <a:t>/</a:t>
            </a:r>
            <a:r>
              <a:rPr lang="nb-NO" sz="800" err="1">
                <a:ea typeface="Open Sans SemiBold" panose="020B0706030804020204" pitchFamily="34" charset="0"/>
                <a:cs typeface="Open Sans SemiBold" panose="020B0706030804020204" pitchFamily="34" charset="0"/>
              </a:rPr>
              <a:t>short</a:t>
            </a:r>
            <a:r>
              <a:rPr lang="nb-NO" sz="800">
                <a:ea typeface="Open Sans SemiBold" panose="020B0706030804020204" pitchFamily="34" charset="0"/>
                <a:cs typeface="Open Sans SemiBold" panose="020B0706030804020204" pitchFamily="34" charset="0"/>
              </a:rPr>
              <a:t> forvaltning innen aksjer, renter, kreditt og derivater. Vikre er Siviløkonom med Finans som spesialiseringsretning fra Handelshøyskolen BI.</a:t>
            </a:r>
          </a:p>
        </p:txBody>
      </p:sp>
      <p:cxnSp>
        <p:nvCxnSpPr>
          <p:cNvPr id="37" name="Rett linje 36">
            <a:extLst>
              <a:ext uri="{FF2B5EF4-FFF2-40B4-BE49-F238E27FC236}">
                <a16:creationId xmlns:a16="http://schemas.microsoft.com/office/drawing/2014/main" id="{47794F92-821F-8AF9-00D9-F2571F4372E1}"/>
              </a:ext>
            </a:extLst>
          </p:cNvPr>
          <p:cNvCxnSpPr>
            <a:cxnSpLocks/>
          </p:cNvCxnSpPr>
          <p:nvPr/>
        </p:nvCxnSpPr>
        <p:spPr>
          <a:xfrm flipV="1">
            <a:off x="5377061" y="4531490"/>
            <a:ext cx="1683137" cy="8726"/>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Frihåndsform: figur 37">
            <a:extLst>
              <a:ext uri="{FF2B5EF4-FFF2-40B4-BE49-F238E27FC236}">
                <a16:creationId xmlns:a16="http://schemas.microsoft.com/office/drawing/2014/main" id="{9BB7CC58-D5A5-F4AB-95B3-BC9A71295C93}"/>
              </a:ext>
            </a:extLst>
          </p:cNvPr>
          <p:cNvSpPr/>
          <p:nvPr/>
        </p:nvSpPr>
        <p:spPr>
          <a:xfrm>
            <a:off x="7479990" y="1364928"/>
            <a:ext cx="2042149"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GUNNAR KAPSTAD</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9" name="Frihåndsform: figur 38">
            <a:extLst>
              <a:ext uri="{FF2B5EF4-FFF2-40B4-BE49-F238E27FC236}">
                <a16:creationId xmlns:a16="http://schemas.microsoft.com/office/drawing/2014/main" id="{CCAE6E75-0C94-22CD-F297-5274050F0F77}"/>
              </a:ext>
            </a:extLst>
          </p:cNvPr>
          <p:cNvSpPr/>
          <p:nvPr/>
        </p:nvSpPr>
        <p:spPr>
          <a:xfrm>
            <a:off x="7459829" y="1654166"/>
            <a:ext cx="1913245" cy="2378759"/>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Eiendom</a:t>
            </a:r>
          </a:p>
          <a:p>
            <a:pPr marL="12700" marR="6350"/>
            <a:endParaRPr lang="nb-NO" sz="800">
              <a:ea typeface="Open Sans SemiBold" panose="020B0706030804020204" pitchFamily="34" charset="0"/>
              <a:cs typeface="Open Sans SemiBold" panose="020B0706030804020204" pitchFamily="34" charset="0"/>
            </a:endParaRPr>
          </a:p>
          <a:p>
            <a:pPr marL="12700" marR="6350"/>
            <a:r>
              <a:rPr lang="nb-NO" sz="800">
                <a:ea typeface="Open Sans SemiBold" panose="020B0706030804020204" pitchFamily="34" charset="0"/>
                <a:cs typeface="Open Sans SemiBold" panose="020B0706030804020204" pitchFamily="34" charset="0"/>
              </a:rPr>
              <a:t>Gunnar Kapstad var tidligere eiendomssjef i Norske Liv Eiendom (nå; Nordea Liv), næringsmegler i Eiendoms-</a:t>
            </a:r>
            <a:r>
              <a:rPr lang="nb-NO" sz="800" err="1">
                <a:ea typeface="Open Sans SemiBold" panose="020B0706030804020204" pitchFamily="34" charset="0"/>
                <a:cs typeface="Open Sans SemiBold" panose="020B0706030804020204" pitchFamily="34" charset="0"/>
              </a:rPr>
              <a:t>Consult</a:t>
            </a:r>
            <a:r>
              <a:rPr lang="nb-NO" sz="800">
                <a:ea typeface="Open Sans SemiBold" panose="020B0706030804020204" pitchFamily="34" charset="0"/>
                <a:cs typeface="Open Sans SemiBold" panose="020B0706030804020204" pitchFamily="34" charset="0"/>
              </a:rPr>
              <a:t> (nå: </a:t>
            </a:r>
            <a:r>
              <a:rPr lang="nb-NO" sz="800" err="1">
                <a:ea typeface="Open Sans SemiBold" panose="020B0706030804020204" pitchFamily="34" charset="0"/>
                <a:cs typeface="Open Sans SemiBold" panose="020B0706030804020204" pitchFamily="34" charset="0"/>
              </a:rPr>
              <a:t>Newsec</a:t>
            </a:r>
            <a:r>
              <a:rPr lang="nb-NO" sz="800">
                <a:ea typeface="Open Sans SemiBold" panose="020B0706030804020204" pitchFamily="34" charset="0"/>
                <a:cs typeface="Open Sans SemiBold" panose="020B0706030804020204" pitchFamily="34" charset="0"/>
              </a:rPr>
              <a:t>) og Eiendomsplan Næringsmegling. Fra 2006 var han partner i DTZ </a:t>
            </a:r>
            <a:r>
              <a:rPr lang="nb-NO" sz="800" err="1">
                <a:ea typeface="Open Sans SemiBold" panose="020B0706030804020204" pitchFamily="34" charset="0"/>
                <a:cs typeface="Open Sans SemiBold" panose="020B0706030804020204" pitchFamily="34" charset="0"/>
              </a:rPr>
              <a:t>Corporate</a:t>
            </a:r>
            <a:r>
              <a:rPr lang="nb-NO" sz="800">
                <a:ea typeface="Open Sans SemiBold" panose="020B0706030804020204" pitchFamily="34" charset="0"/>
                <a:cs typeface="Open Sans SemiBold" panose="020B0706030804020204" pitchFamily="34" charset="0"/>
              </a:rPr>
              <a:t> Finance og fra 2011 har han drevet eiendomsforvaltning, megling og investeringsvirksomhet i sitt eget selskap. Han innehar 30 års erfaring med alle deler av verdikjeden (forvaltning, megling, syndikering, finansiering og investering) innen næringseiendom.</a:t>
            </a:r>
          </a:p>
          <a:p>
            <a:pPr marL="12700" marR="6350"/>
            <a:r>
              <a:rPr lang="nb-NO" sz="800">
                <a:ea typeface="Open Sans SemiBold" panose="020B0706030804020204" pitchFamily="34" charset="0"/>
                <a:cs typeface="Open Sans SemiBold" panose="020B0706030804020204" pitchFamily="34" charset="0"/>
              </a:rPr>
              <a:t> </a:t>
            </a:r>
          </a:p>
        </p:txBody>
      </p:sp>
      <p:cxnSp>
        <p:nvCxnSpPr>
          <p:cNvPr id="41" name="Rett linje 40">
            <a:extLst>
              <a:ext uri="{FF2B5EF4-FFF2-40B4-BE49-F238E27FC236}">
                <a16:creationId xmlns:a16="http://schemas.microsoft.com/office/drawing/2014/main" id="{AFAE2635-D253-86B1-4D7B-BFF018A68EAA}"/>
              </a:ext>
            </a:extLst>
          </p:cNvPr>
          <p:cNvCxnSpPr>
            <a:cxnSpLocks/>
          </p:cNvCxnSpPr>
          <p:nvPr/>
        </p:nvCxnSpPr>
        <p:spPr>
          <a:xfrm>
            <a:off x="7528202" y="1719207"/>
            <a:ext cx="179216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42" name="Frihåndsform: figur 41">
            <a:extLst>
              <a:ext uri="{FF2B5EF4-FFF2-40B4-BE49-F238E27FC236}">
                <a16:creationId xmlns:a16="http://schemas.microsoft.com/office/drawing/2014/main" id="{11ACF8BB-6788-8D9B-E1A0-ECC8FF26D6C0}"/>
              </a:ext>
            </a:extLst>
          </p:cNvPr>
          <p:cNvSpPr/>
          <p:nvPr/>
        </p:nvSpPr>
        <p:spPr>
          <a:xfrm>
            <a:off x="7501711" y="4195471"/>
            <a:ext cx="1679736"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BJØRN RISE</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3" name="Frihåndsform: figur 42">
            <a:extLst>
              <a:ext uri="{FF2B5EF4-FFF2-40B4-BE49-F238E27FC236}">
                <a16:creationId xmlns:a16="http://schemas.microsoft.com/office/drawing/2014/main" id="{BBE61F30-37A2-24C2-E6FB-6E7B47F22A1B}"/>
              </a:ext>
            </a:extLst>
          </p:cNvPr>
          <p:cNvSpPr/>
          <p:nvPr/>
        </p:nvSpPr>
        <p:spPr>
          <a:xfrm>
            <a:off x="7511386" y="4517148"/>
            <a:ext cx="1913245" cy="2098906"/>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Energi</a:t>
            </a:r>
          </a:p>
          <a:p>
            <a:pPr defTabSz="488950">
              <a:lnSpc>
                <a:spcPct val="90000"/>
              </a:lnSpc>
              <a:spcBef>
                <a:spcPct val="0"/>
              </a:spcBef>
              <a:spcAft>
                <a:spcPct val="35000"/>
              </a:spcAft>
            </a:pPr>
            <a:endParaRPr lang="nb-NO" sz="80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r>
              <a:rPr lang="nb-NO" sz="800">
                <a:ea typeface="Open Sans SemiBold" panose="020B0706030804020204" pitchFamily="34" charset="0"/>
                <a:cs typeface="Open Sans SemiBold" panose="020B0706030804020204" pitchFamily="34" charset="0"/>
              </a:rPr>
              <a:t>Bjørn Rise har arbeidet som energianalytiker og forvalter siden 1998. Han begynte som energianalytiker hos Tiger Management i New York før han flyttet til London hvor han arbeidet for SEB Asset Managementet, Mitsubishi Trust Investments og energi/</a:t>
            </a:r>
            <a:r>
              <a:rPr lang="nb-NO" sz="800" err="1">
                <a:ea typeface="Open Sans SemiBold" panose="020B0706030804020204" pitchFamily="34" charset="0"/>
                <a:cs typeface="Open Sans SemiBold" panose="020B0706030804020204" pitchFamily="34" charset="0"/>
              </a:rPr>
              <a:t>shippingfondet</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Tufton</a:t>
            </a:r>
            <a:r>
              <a:rPr lang="nb-NO" sz="800">
                <a:ea typeface="Open Sans SemiBold" panose="020B0706030804020204" pitchFamily="34" charset="0"/>
                <a:cs typeface="Open Sans SemiBold" panose="020B0706030804020204" pitchFamily="34" charset="0"/>
              </a:rPr>
              <a:t> </a:t>
            </a:r>
            <a:r>
              <a:rPr lang="nb-NO" sz="800" err="1">
                <a:ea typeface="Open Sans SemiBold" panose="020B0706030804020204" pitchFamily="34" charset="0"/>
                <a:cs typeface="Open Sans SemiBold" panose="020B0706030804020204" pitchFamily="34" charset="0"/>
              </a:rPr>
              <a:t>Oceanic</a:t>
            </a:r>
            <a:r>
              <a:rPr lang="nb-NO" sz="800">
                <a:ea typeface="Open Sans SemiBold" panose="020B0706030804020204" pitchFamily="34" charset="0"/>
                <a:cs typeface="Open Sans SemiBold" panose="020B0706030804020204" pitchFamily="34" charset="0"/>
              </a:rPr>
              <a:t>. På 90-tallet arbeidet han i Norsk Hydros Olje og Gassdivisjon. Bjørn kom til Pensum i slutten av 2020. Rise er utdannet siviløkonom fra NHH.</a:t>
            </a:r>
          </a:p>
        </p:txBody>
      </p:sp>
      <p:cxnSp>
        <p:nvCxnSpPr>
          <p:cNvPr id="44" name="Rett linje 43">
            <a:extLst>
              <a:ext uri="{FF2B5EF4-FFF2-40B4-BE49-F238E27FC236}">
                <a16:creationId xmlns:a16="http://schemas.microsoft.com/office/drawing/2014/main" id="{38E85AEC-ECFC-98C0-50AC-12CB6F928DF1}"/>
              </a:ext>
            </a:extLst>
          </p:cNvPr>
          <p:cNvCxnSpPr>
            <a:cxnSpLocks/>
          </p:cNvCxnSpPr>
          <p:nvPr/>
        </p:nvCxnSpPr>
        <p:spPr>
          <a:xfrm>
            <a:off x="7565728" y="4528121"/>
            <a:ext cx="167112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45" name="Frihåndsform: figur 44">
            <a:extLst>
              <a:ext uri="{FF2B5EF4-FFF2-40B4-BE49-F238E27FC236}">
                <a16:creationId xmlns:a16="http://schemas.microsoft.com/office/drawing/2014/main" id="{03B83AA1-BF59-4AB0-BDD7-FFBEB0976C4D}"/>
              </a:ext>
            </a:extLst>
          </p:cNvPr>
          <p:cNvSpPr/>
          <p:nvPr/>
        </p:nvSpPr>
        <p:spPr>
          <a:xfrm>
            <a:off x="9889875" y="1364928"/>
            <a:ext cx="1679736" cy="354279"/>
          </a:xfrm>
          <a:custGeom>
            <a:avLst/>
            <a:gdLst>
              <a:gd name="connsiteX0" fmla="*/ 0 w 2428222"/>
              <a:gd name="connsiteY0" fmla="*/ 59048 h 354279"/>
              <a:gd name="connsiteX1" fmla="*/ 59048 w 2428222"/>
              <a:gd name="connsiteY1" fmla="*/ 0 h 354279"/>
              <a:gd name="connsiteX2" fmla="*/ 2369174 w 2428222"/>
              <a:gd name="connsiteY2" fmla="*/ 0 h 354279"/>
              <a:gd name="connsiteX3" fmla="*/ 2428222 w 2428222"/>
              <a:gd name="connsiteY3" fmla="*/ 59048 h 354279"/>
              <a:gd name="connsiteX4" fmla="*/ 2428222 w 2428222"/>
              <a:gd name="connsiteY4" fmla="*/ 295231 h 354279"/>
              <a:gd name="connsiteX5" fmla="*/ 2369174 w 2428222"/>
              <a:gd name="connsiteY5" fmla="*/ 354279 h 354279"/>
              <a:gd name="connsiteX6" fmla="*/ 59048 w 2428222"/>
              <a:gd name="connsiteY6" fmla="*/ 354279 h 354279"/>
              <a:gd name="connsiteX7" fmla="*/ 0 w 2428222"/>
              <a:gd name="connsiteY7" fmla="*/ 295231 h 354279"/>
              <a:gd name="connsiteX8" fmla="*/ 0 w 2428222"/>
              <a:gd name="connsiteY8" fmla="*/ 59048 h 35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222" h="354279">
                <a:moveTo>
                  <a:pt x="0" y="59048"/>
                </a:moveTo>
                <a:cubicBezTo>
                  <a:pt x="0" y="26437"/>
                  <a:pt x="26437" y="0"/>
                  <a:pt x="59048" y="0"/>
                </a:cubicBezTo>
                <a:lnTo>
                  <a:pt x="2369174" y="0"/>
                </a:lnTo>
                <a:cubicBezTo>
                  <a:pt x="2401785" y="0"/>
                  <a:pt x="2428222" y="26437"/>
                  <a:pt x="2428222" y="59048"/>
                </a:cubicBezTo>
                <a:lnTo>
                  <a:pt x="2428222" y="295231"/>
                </a:lnTo>
                <a:cubicBezTo>
                  <a:pt x="2428222" y="327842"/>
                  <a:pt x="2401785" y="354279"/>
                  <a:pt x="2369174" y="354279"/>
                </a:cubicBezTo>
                <a:lnTo>
                  <a:pt x="59048" y="354279"/>
                </a:lnTo>
                <a:cubicBezTo>
                  <a:pt x="26437" y="354279"/>
                  <a:pt x="0" y="327842"/>
                  <a:pt x="0" y="295231"/>
                </a:cubicBezTo>
                <a:lnTo>
                  <a:pt x="0" y="59048"/>
                </a:lnTo>
                <a:close/>
              </a:path>
            </a:pathLst>
          </a:custGeom>
          <a:ln>
            <a:noFill/>
          </a:ln>
        </p:spPr>
        <p:style>
          <a:lnRef idx="2">
            <a:schemeClr val="accent4"/>
          </a:lnRef>
          <a:fillRef idx="1">
            <a:schemeClr val="lt1"/>
          </a:fillRef>
          <a:effectRef idx="0">
            <a:schemeClr val="accent4"/>
          </a:effectRef>
          <a:fontRef idx="minor">
            <a:schemeClr val="dk1"/>
          </a:fontRef>
        </p:style>
        <p:txBody>
          <a:bodyPr spcFirstLastPara="0" vert="horz" wrap="square" lIns="78254" tIns="78254" rIns="78254" bIns="78254" numCol="1" spcCol="1270" anchor="ctr" anchorCtr="0">
            <a:noAutofit/>
          </a:bodyPr>
          <a:lstStyle/>
          <a:p>
            <a:pPr marL="0" lvl="0" indent="0" defTabSz="711200">
              <a:lnSpc>
                <a:spcPct val="90000"/>
              </a:lnSpc>
              <a:spcBef>
                <a:spcPct val="0"/>
              </a:spcBef>
              <a:spcAft>
                <a:spcPct val="35000"/>
              </a:spcAft>
              <a:buNone/>
            </a:pPr>
            <a:r>
              <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SIGMUND HÅLAND</a:t>
            </a:r>
          </a:p>
          <a:p>
            <a:pPr marL="0" lvl="0" indent="0" defTabSz="711200">
              <a:lnSpc>
                <a:spcPct val="90000"/>
              </a:lnSpc>
              <a:spcBef>
                <a:spcPct val="0"/>
              </a:spcBef>
              <a:spcAft>
                <a:spcPct val="35000"/>
              </a:spcAft>
              <a:buNone/>
            </a:pPr>
            <a:r>
              <a:rPr lang="nb-NO" sz="9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PORTERFØLJEFORVALTER</a:t>
            </a:r>
            <a:endParaRPr lang="nb-NO" sz="9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46" name="Frihåndsform: figur 45">
            <a:extLst>
              <a:ext uri="{FF2B5EF4-FFF2-40B4-BE49-F238E27FC236}">
                <a16:creationId xmlns:a16="http://schemas.microsoft.com/office/drawing/2014/main" id="{1DFEC050-9C1A-4EA7-4964-89C548A4BAA9}"/>
              </a:ext>
            </a:extLst>
          </p:cNvPr>
          <p:cNvSpPr/>
          <p:nvPr/>
        </p:nvSpPr>
        <p:spPr>
          <a:xfrm>
            <a:off x="9889875" y="1595680"/>
            <a:ext cx="1913245" cy="1769986"/>
          </a:xfrm>
          <a:custGeom>
            <a:avLst/>
            <a:gdLst>
              <a:gd name="connsiteX0" fmla="*/ 0 w 1656144"/>
              <a:gd name="connsiteY0" fmla="*/ 119841 h 1198408"/>
              <a:gd name="connsiteX1" fmla="*/ 119841 w 1656144"/>
              <a:gd name="connsiteY1" fmla="*/ 0 h 1198408"/>
              <a:gd name="connsiteX2" fmla="*/ 1536303 w 1656144"/>
              <a:gd name="connsiteY2" fmla="*/ 0 h 1198408"/>
              <a:gd name="connsiteX3" fmla="*/ 1656144 w 1656144"/>
              <a:gd name="connsiteY3" fmla="*/ 119841 h 1198408"/>
              <a:gd name="connsiteX4" fmla="*/ 1656144 w 1656144"/>
              <a:gd name="connsiteY4" fmla="*/ 1078567 h 1198408"/>
              <a:gd name="connsiteX5" fmla="*/ 1536303 w 1656144"/>
              <a:gd name="connsiteY5" fmla="*/ 1198408 h 1198408"/>
              <a:gd name="connsiteX6" fmla="*/ 119841 w 1656144"/>
              <a:gd name="connsiteY6" fmla="*/ 1198408 h 1198408"/>
              <a:gd name="connsiteX7" fmla="*/ 0 w 1656144"/>
              <a:gd name="connsiteY7" fmla="*/ 1078567 h 1198408"/>
              <a:gd name="connsiteX8" fmla="*/ 0 w 1656144"/>
              <a:gd name="connsiteY8" fmla="*/ 119841 h 11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6144" h="1198408">
                <a:moveTo>
                  <a:pt x="0" y="119841"/>
                </a:moveTo>
                <a:cubicBezTo>
                  <a:pt x="0" y="53655"/>
                  <a:pt x="53655" y="0"/>
                  <a:pt x="119841" y="0"/>
                </a:cubicBezTo>
                <a:lnTo>
                  <a:pt x="1536303" y="0"/>
                </a:lnTo>
                <a:cubicBezTo>
                  <a:pt x="1602489" y="0"/>
                  <a:pt x="1656144" y="53655"/>
                  <a:pt x="1656144" y="119841"/>
                </a:cubicBezTo>
                <a:lnTo>
                  <a:pt x="1656144" y="1078567"/>
                </a:lnTo>
                <a:cubicBezTo>
                  <a:pt x="1656144" y="1144753"/>
                  <a:pt x="1602489" y="1198408"/>
                  <a:pt x="1536303" y="1198408"/>
                </a:cubicBezTo>
                <a:lnTo>
                  <a:pt x="119841" y="1198408"/>
                </a:lnTo>
                <a:cubicBezTo>
                  <a:pt x="53655" y="1198408"/>
                  <a:pt x="0" y="1144753"/>
                  <a:pt x="0" y="1078567"/>
                </a:cubicBezTo>
                <a:lnTo>
                  <a:pt x="0" y="119841"/>
                </a:lnTo>
                <a:close/>
              </a:path>
            </a:pathLst>
          </a:custGeom>
          <a:noFill/>
          <a:ln>
            <a:noFill/>
          </a:ln>
        </p:spPr>
        <p:style>
          <a:lnRef idx="2">
            <a:schemeClr val="accent1"/>
          </a:lnRef>
          <a:fillRef idx="1">
            <a:schemeClr val="lt1"/>
          </a:fillRef>
          <a:effectRef idx="0">
            <a:schemeClr val="accent1"/>
          </a:effectRef>
          <a:fontRef idx="minor">
            <a:schemeClr val="dk1">
              <a:hueOff val="0"/>
              <a:satOff val="0"/>
              <a:lumOff val="0"/>
              <a:alphaOff val="0"/>
            </a:schemeClr>
          </a:fontRef>
        </p:style>
        <p:txBody>
          <a:bodyPr spcFirstLastPara="0" vert="horz" wrap="square" lIns="77010" tIns="77010" rIns="77010" bIns="77010" numCol="1" spcCol="1270" anchor="ctr" anchorCtr="0">
            <a:noAutofit/>
          </a:bodyPr>
          <a:lstStyle/>
          <a:p>
            <a:pPr marL="12700" marR="6350"/>
            <a:r>
              <a:rPr lang="nb-NO" sz="800" b="1">
                <a:ea typeface="Open Sans SemiBold" panose="020B0706030804020204" pitchFamily="34" charset="0"/>
                <a:cs typeface="Open Sans SemiBold" panose="020B0706030804020204" pitchFamily="34" charset="0"/>
              </a:rPr>
              <a:t>Ansvar: </a:t>
            </a:r>
          </a:p>
          <a:p>
            <a:pPr marL="12700" marR="6350"/>
            <a:r>
              <a:rPr lang="nb-NO" sz="800" kern="1200">
                <a:solidFill>
                  <a:srgbClr val="0D2841"/>
                </a:solidFill>
                <a:latin typeface="Open Sans SemiBold" panose="020B0706030804020204" pitchFamily="34" charset="0"/>
                <a:ea typeface="Open Sans SemiBold" panose="020B0706030804020204" pitchFamily="34" charset="0"/>
                <a:cs typeface="Open Sans SemiBold" panose="020B0706030804020204" pitchFamily="34" charset="0"/>
              </a:rPr>
              <a:t>Bank/Finans</a:t>
            </a:r>
          </a:p>
          <a:p>
            <a:pPr defTabSz="488950">
              <a:lnSpc>
                <a:spcPct val="90000"/>
              </a:lnSpc>
              <a:spcBef>
                <a:spcPct val="0"/>
              </a:spcBef>
              <a:spcAft>
                <a:spcPct val="35000"/>
              </a:spcAft>
            </a:pPr>
            <a:endParaRPr lang="nb-NO" sz="800">
              <a:ea typeface="Open Sans SemiBold" panose="020B0706030804020204" pitchFamily="34" charset="0"/>
              <a:cs typeface="Open Sans SemiBold" panose="020B0706030804020204" pitchFamily="34" charset="0"/>
            </a:endParaRPr>
          </a:p>
          <a:p>
            <a:pPr defTabSz="488950">
              <a:lnSpc>
                <a:spcPct val="90000"/>
              </a:lnSpc>
              <a:spcBef>
                <a:spcPct val="0"/>
              </a:spcBef>
              <a:spcAft>
                <a:spcPct val="35000"/>
              </a:spcAft>
            </a:pPr>
            <a:r>
              <a:rPr lang="nb-NO" sz="800">
                <a:ea typeface="Open Sans SemiBold" panose="020B0706030804020204" pitchFamily="34" charset="0"/>
                <a:cs typeface="Open Sans SemiBold" panose="020B0706030804020204" pitchFamily="34" charset="0"/>
              </a:rPr>
              <a:t>Sigmund Håland har over 30 års erfaring som analytiker og forvalter innen bank &amp; finans gjennom ABG Sundal Collier, SEB og Lux Nordic. Han har gått til topps i flere kåringer som beste analytiker innen bank &amp; forsikring i både Norge og Norden. Håland er utdannet Statsautorisert revisor og Autorisert Finansanalytiker. </a:t>
            </a:r>
          </a:p>
        </p:txBody>
      </p:sp>
      <p:cxnSp>
        <p:nvCxnSpPr>
          <p:cNvPr id="47" name="Rett linje 46">
            <a:extLst>
              <a:ext uri="{FF2B5EF4-FFF2-40B4-BE49-F238E27FC236}">
                <a16:creationId xmlns:a16="http://schemas.microsoft.com/office/drawing/2014/main" id="{5D11D11D-BE93-3468-5A87-E297793B5209}"/>
              </a:ext>
            </a:extLst>
          </p:cNvPr>
          <p:cNvCxnSpPr>
            <a:cxnSpLocks/>
          </p:cNvCxnSpPr>
          <p:nvPr/>
        </p:nvCxnSpPr>
        <p:spPr>
          <a:xfrm>
            <a:off x="9938627" y="1707206"/>
            <a:ext cx="167112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3873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27DCB-781E-D45F-F58E-FEE3236F2EEE}"/>
            </a:ext>
          </a:extLst>
        </p:cNvPr>
        <p:cNvGrpSpPr/>
        <p:nvPr/>
      </p:nvGrpSpPr>
      <p:grpSpPr>
        <a:xfrm>
          <a:off x="0" y="0"/>
          <a:ext cx="0" cy="0"/>
          <a:chOff x="0" y="0"/>
          <a:chExt cx="0" cy="0"/>
        </a:xfrm>
      </p:grpSpPr>
      <p:sp>
        <p:nvSpPr>
          <p:cNvPr id="12" name="Plassholder for innhold 2">
            <a:extLst>
              <a:ext uri="{FF2B5EF4-FFF2-40B4-BE49-F238E27FC236}">
                <a16:creationId xmlns:a16="http://schemas.microsoft.com/office/drawing/2014/main" id="{B75D7E2E-7BDF-3C17-555D-BBAE128B063E}"/>
              </a:ext>
            </a:extLst>
          </p:cNvPr>
          <p:cNvSpPr txBox="1">
            <a:spLocks/>
          </p:cNvSpPr>
          <p:nvPr/>
        </p:nvSpPr>
        <p:spPr>
          <a:xfrm>
            <a:off x="434027" y="922985"/>
            <a:ext cx="11319822" cy="5452933"/>
          </a:xfrm>
          <a:prstGeom prst="rect">
            <a:avLst/>
          </a:prstGeom>
        </p:spPr>
        <p:txBody>
          <a:bodyPr>
            <a:no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0" indent="0" algn="just">
              <a:lnSpc>
                <a:spcPct val="100000"/>
              </a:lnSpc>
              <a:spcBef>
                <a:spcPts val="0"/>
              </a:spcBef>
              <a:spcAft>
                <a:spcPts val="0"/>
              </a:spcAft>
              <a:buFont typeface="Calibri" panose="020F0502020204030204" pitchFamily="34" charset="0"/>
              <a:buNone/>
            </a:pPr>
            <a:endParaRPr lang="en-US" sz="900">
              <a:solidFill>
                <a:schemeClr val="tx1"/>
              </a:solidFill>
              <a:latin typeface="Calibri" panose="020F0502020204030204" pitchFamily="34" charset="0"/>
              <a:cs typeface="Calibri" panose="020F0502020204030204" pitchFamily="34" charset="0"/>
            </a:endParaRPr>
          </a:p>
        </p:txBody>
      </p:sp>
      <p:sp>
        <p:nvSpPr>
          <p:cNvPr id="77" name="object 29">
            <a:extLst>
              <a:ext uri="{FF2B5EF4-FFF2-40B4-BE49-F238E27FC236}">
                <a16:creationId xmlns:a16="http://schemas.microsoft.com/office/drawing/2014/main" id="{9FFD5456-7E4E-E538-4D60-0300643CCA51}"/>
              </a:ext>
            </a:extLst>
          </p:cNvPr>
          <p:cNvSpPr txBox="1"/>
          <p:nvPr/>
        </p:nvSpPr>
        <p:spPr>
          <a:xfrm>
            <a:off x="11617637" y="6523714"/>
            <a:ext cx="296723" cy="129266"/>
          </a:xfrm>
          <a:prstGeom prst="rect">
            <a:avLst/>
          </a:prstGeom>
        </p:spPr>
        <p:txBody>
          <a:bodyPr vert="horz" wrap="square" lIns="0" tIns="0" rIns="0" bIns="0" rtlCol="0">
            <a:spAutoFit/>
          </a:bodyPr>
          <a:lstStyle/>
          <a:p>
            <a:pPr marL="38100" algn="r">
              <a:lnSpc>
                <a:spcPts val="1045"/>
              </a:lnSpc>
            </a:pPr>
            <a:fld id="{81D60167-4931-47E6-BA6A-407CBD079E47}" type="slidenum">
              <a:rPr sz="1000" spc="-5" dirty="0">
                <a:solidFill>
                  <a:srgbClr val="0D2841"/>
                </a:solidFill>
                <a:cs typeface="Calibri"/>
              </a:rPr>
              <a:pPr marL="38100" algn="r">
                <a:lnSpc>
                  <a:spcPts val="1045"/>
                </a:lnSpc>
              </a:pPr>
              <a:t>15</a:t>
            </a:fld>
            <a:endParaRPr sz="1000">
              <a:solidFill>
                <a:srgbClr val="0D2841"/>
              </a:solidFill>
              <a:cs typeface="Calibri"/>
            </a:endParaRPr>
          </a:p>
        </p:txBody>
      </p:sp>
      <p:sp>
        <p:nvSpPr>
          <p:cNvPr id="19" name="TextBox 13">
            <a:extLst>
              <a:ext uri="{FF2B5EF4-FFF2-40B4-BE49-F238E27FC236}">
                <a16:creationId xmlns:a16="http://schemas.microsoft.com/office/drawing/2014/main" id="{F2D66D4C-7D58-9986-E60A-AD0C87D384C5}"/>
              </a:ext>
            </a:extLst>
          </p:cNvPr>
          <p:cNvSpPr txBox="1"/>
          <p:nvPr/>
        </p:nvSpPr>
        <p:spPr>
          <a:xfrm>
            <a:off x="732617" y="1446549"/>
            <a:ext cx="7423253" cy="415498"/>
          </a:xfrm>
          <a:prstGeom prst="rect">
            <a:avLst/>
          </a:prstGeom>
        </p:spPr>
        <p:txBody>
          <a:bodyPr wrap="square" lIns="0" tIns="0" rIns="0" bIns="0" rtlCol="0" anchor="t">
            <a:spAutoFit/>
          </a:bodyPr>
          <a:lstStyle/>
          <a:p>
            <a:pPr>
              <a:lnSpc>
                <a:spcPct val="90000"/>
              </a:lnSpc>
              <a:spcBef>
                <a:spcPts val="1000"/>
              </a:spcBef>
            </a:pPr>
            <a:r>
              <a:rPr lang="en-US" sz="3000" spc="93" err="1">
                <a:solidFill>
                  <a:srgbClr val="022541"/>
                </a:solidFill>
                <a:latin typeface="+mj-lt"/>
                <a:ea typeface="Open Sans Light" panose="020B0306030504020204" pitchFamily="34" charset="0"/>
                <a:cs typeface="Open Sans Light" panose="020B0306030504020204" pitchFamily="34" charset="0"/>
              </a:rPr>
              <a:t>Viktig</a:t>
            </a:r>
            <a:r>
              <a:rPr lang="en-US" sz="3000" spc="93">
                <a:solidFill>
                  <a:srgbClr val="022541"/>
                </a:solidFill>
                <a:latin typeface="+mj-lt"/>
                <a:ea typeface="Open Sans Light" panose="020B0306030504020204" pitchFamily="34" charset="0"/>
                <a:cs typeface="Open Sans Light" panose="020B0306030504020204" pitchFamily="34" charset="0"/>
              </a:rPr>
              <a:t> </a:t>
            </a:r>
            <a:r>
              <a:rPr lang="en-US" sz="3000" spc="93" err="1">
                <a:solidFill>
                  <a:srgbClr val="022541"/>
                </a:solidFill>
                <a:latin typeface="+mj-lt"/>
                <a:ea typeface="Open Sans Light" panose="020B0306030504020204" pitchFamily="34" charset="0"/>
                <a:cs typeface="Open Sans Light" panose="020B0306030504020204" pitchFamily="34" charset="0"/>
              </a:rPr>
              <a:t>Informasjon</a:t>
            </a:r>
            <a:endParaRPr lang="en-US" sz="3000" spc="93">
              <a:solidFill>
                <a:srgbClr val="022541"/>
              </a:solidFill>
              <a:latin typeface="+mj-lt"/>
              <a:ea typeface="Open Sans Light" panose="020B0306030504020204" pitchFamily="34" charset="0"/>
              <a:cs typeface="Open Sans Light" panose="020B0306030504020204" pitchFamily="34" charset="0"/>
            </a:endParaRPr>
          </a:p>
        </p:txBody>
      </p:sp>
      <p:sp>
        <p:nvSpPr>
          <p:cNvPr id="20" name="TextBox 14">
            <a:extLst>
              <a:ext uri="{FF2B5EF4-FFF2-40B4-BE49-F238E27FC236}">
                <a16:creationId xmlns:a16="http://schemas.microsoft.com/office/drawing/2014/main" id="{C3707154-4A84-BB13-1344-FCF6014CA8D8}"/>
              </a:ext>
            </a:extLst>
          </p:cNvPr>
          <p:cNvSpPr txBox="1"/>
          <p:nvPr/>
        </p:nvSpPr>
        <p:spPr>
          <a:xfrm>
            <a:off x="732618" y="3013409"/>
            <a:ext cx="10726762" cy="2154436"/>
          </a:xfrm>
          <a:prstGeom prst="rect">
            <a:avLst/>
          </a:prstGeom>
        </p:spPr>
        <p:txBody>
          <a:bodyPr wrap="square" lIns="0" tIns="0" rIns="0" bIns="0" rtlCol="0" anchor="t">
            <a:spAutoFit/>
          </a:bodyPr>
          <a:lstStyle/>
          <a:p>
            <a:pPr algn="just"/>
            <a:r>
              <a:rPr lang="nb-NO" sz="1400">
                <a:latin typeface="Open Sans" panose="020B0606030504020204" pitchFamily="34" charset="0"/>
                <a:ea typeface="Open Sans" panose="020B0606030504020204" pitchFamily="34" charset="0"/>
                <a:cs typeface="Open Sans" panose="020B0606030504020204" pitchFamily="34" charset="0"/>
              </a:rPr>
              <a:t>Historisk avkastning er ingen garanti for fremtidig avkastning. Fremtidig avkastning vil blant annet avhenge av  markedsutviklingen, forvalternes dyktighet, fondenes risiko samt kostnader ved forvaltning. Avkastningen kan bli  negativ som følge av kurstap. Pensum Asset Management anser at informasjonen i denne presentasjonen kommer fra  kilder som er pålitelige, men kan likevel ikke garantere at informasjonen til enhver tid er fullstendig, korrekt eller  tilgjengelig. Pensum Asset Management fraskriver seg således ethvert ansvar for feil og mangler.</a:t>
            </a:r>
          </a:p>
          <a:p>
            <a:pPr algn="just"/>
            <a:endParaRPr lang="nb-NO" sz="1400">
              <a:latin typeface="Open Sans" panose="020B0606030504020204" pitchFamily="34" charset="0"/>
              <a:ea typeface="Open Sans" panose="020B0606030504020204" pitchFamily="34" charset="0"/>
              <a:cs typeface="Open Sans" panose="020B0606030504020204" pitchFamily="34" charset="0"/>
            </a:endParaRPr>
          </a:p>
          <a:p>
            <a:pPr algn="just"/>
            <a:endParaRPr lang="nb-NO" sz="1400">
              <a:latin typeface="Open Sans" panose="020B0606030504020204" pitchFamily="34" charset="0"/>
              <a:ea typeface="Open Sans" panose="020B0606030504020204" pitchFamily="34" charset="0"/>
              <a:cs typeface="Open Sans" panose="020B0606030504020204" pitchFamily="34" charset="0"/>
            </a:endParaRPr>
          </a:p>
          <a:p>
            <a:pPr algn="just"/>
            <a:r>
              <a:rPr lang="nb-NO" sz="1400">
                <a:latin typeface="Open Sans" panose="020B0606030504020204" pitchFamily="34" charset="0"/>
                <a:ea typeface="Open Sans" panose="020B0606030504020204" pitchFamily="34" charset="0"/>
                <a:cs typeface="Open Sans" panose="020B0606030504020204" pitchFamily="34" charset="0"/>
              </a:rPr>
              <a:t>Informasjonen i denne presentasjonen er ikke ment som en kjøps- eller salgsanbefaling, og Pensum Asset  Management fraskriver seg dermed ethvert ansvar for eventuelle tap fra handler utført som følge av denne  presentasjonen.</a:t>
            </a:r>
          </a:p>
          <a:p>
            <a:pPr algn="just"/>
            <a:endParaRPr lang="en-US" sz="14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1" name="Rett linje 20">
            <a:extLst>
              <a:ext uri="{FF2B5EF4-FFF2-40B4-BE49-F238E27FC236}">
                <a16:creationId xmlns:a16="http://schemas.microsoft.com/office/drawing/2014/main" id="{76909535-602B-B96A-2E2B-45282C13F16B}"/>
              </a:ext>
            </a:extLst>
          </p:cNvPr>
          <p:cNvCxnSpPr>
            <a:cxnSpLocks/>
          </p:cNvCxnSpPr>
          <p:nvPr/>
        </p:nvCxnSpPr>
        <p:spPr>
          <a:xfrm>
            <a:off x="732618" y="2631702"/>
            <a:ext cx="107267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593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27DCB-781E-D45F-F58E-FEE3236F2EEE}"/>
            </a:ext>
          </a:extLst>
        </p:cNvPr>
        <p:cNvGrpSpPr/>
        <p:nvPr/>
      </p:nvGrpSpPr>
      <p:grpSpPr>
        <a:xfrm>
          <a:off x="0" y="0"/>
          <a:ext cx="0" cy="0"/>
          <a:chOff x="0" y="0"/>
          <a:chExt cx="0" cy="0"/>
        </a:xfrm>
      </p:grpSpPr>
      <p:sp>
        <p:nvSpPr>
          <p:cNvPr id="12" name="Plassholder for innhold 2">
            <a:extLst>
              <a:ext uri="{FF2B5EF4-FFF2-40B4-BE49-F238E27FC236}">
                <a16:creationId xmlns:a16="http://schemas.microsoft.com/office/drawing/2014/main" id="{B75D7E2E-7BDF-3C17-555D-BBAE128B063E}"/>
              </a:ext>
            </a:extLst>
          </p:cNvPr>
          <p:cNvSpPr txBox="1">
            <a:spLocks/>
          </p:cNvSpPr>
          <p:nvPr/>
        </p:nvSpPr>
        <p:spPr>
          <a:xfrm>
            <a:off x="434027" y="922985"/>
            <a:ext cx="11319822" cy="5452933"/>
          </a:xfrm>
          <a:prstGeom prst="rect">
            <a:avLst/>
          </a:prstGeom>
        </p:spPr>
        <p:txBody>
          <a:bodyPr>
            <a:no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0" indent="0" algn="just">
              <a:lnSpc>
                <a:spcPct val="100000"/>
              </a:lnSpc>
              <a:spcBef>
                <a:spcPts val="0"/>
              </a:spcBef>
              <a:spcAft>
                <a:spcPts val="0"/>
              </a:spcAft>
              <a:buFont typeface="Calibri" panose="020F0502020204030204" pitchFamily="34" charset="0"/>
              <a:buNone/>
            </a:pPr>
            <a:endParaRPr lang="en-US" sz="900">
              <a:solidFill>
                <a:schemeClr val="tx1"/>
              </a:solidFill>
              <a:latin typeface="Calibri" panose="020F0502020204030204" pitchFamily="34" charset="0"/>
              <a:cs typeface="Calibri" panose="020F0502020204030204" pitchFamily="34" charset="0"/>
            </a:endParaRPr>
          </a:p>
        </p:txBody>
      </p:sp>
      <p:sp>
        <p:nvSpPr>
          <p:cNvPr id="2" name="Rektangel 1">
            <a:extLst>
              <a:ext uri="{FF2B5EF4-FFF2-40B4-BE49-F238E27FC236}">
                <a16:creationId xmlns:a16="http://schemas.microsoft.com/office/drawing/2014/main" id="{DE113026-67FC-C918-6CF0-431B6392C10E}"/>
              </a:ext>
            </a:extLst>
          </p:cNvPr>
          <p:cNvSpPr/>
          <p:nvPr/>
        </p:nvSpPr>
        <p:spPr>
          <a:xfrm>
            <a:off x="0" y="0"/>
            <a:ext cx="12192000" cy="6858000"/>
          </a:xfrm>
          <a:prstGeom prst="rect">
            <a:avLst/>
          </a:prstGeom>
          <a:solidFill>
            <a:schemeClr val="accent2">
              <a:lumMod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nb-NO"/>
          </a:p>
        </p:txBody>
      </p:sp>
      <p:sp>
        <p:nvSpPr>
          <p:cNvPr id="77" name="object 29">
            <a:extLst>
              <a:ext uri="{FF2B5EF4-FFF2-40B4-BE49-F238E27FC236}">
                <a16:creationId xmlns:a16="http://schemas.microsoft.com/office/drawing/2014/main" id="{9FFD5456-7E4E-E538-4D60-0300643CCA51}"/>
              </a:ext>
            </a:extLst>
          </p:cNvPr>
          <p:cNvSpPr txBox="1"/>
          <p:nvPr/>
        </p:nvSpPr>
        <p:spPr>
          <a:xfrm>
            <a:off x="11617637" y="6523714"/>
            <a:ext cx="296723" cy="129266"/>
          </a:xfrm>
          <a:prstGeom prst="rect">
            <a:avLst/>
          </a:prstGeom>
        </p:spPr>
        <p:txBody>
          <a:bodyPr vert="horz" wrap="square" lIns="0" tIns="0" rIns="0" bIns="0" rtlCol="0">
            <a:spAutoFit/>
          </a:bodyPr>
          <a:lstStyle/>
          <a:p>
            <a:pPr marL="38100" algn="r">
              <a:lnSpc>
                <a:spcPts val="1045"/>
              </a:lnSpc>
            </a:pPr>
            <a:fld id="{81D60167-4931-47E6-BA6A-407CBD079E47}" type="slidenum">
              <a:rPr sz="1000" spc="-5" dirty="0">
                <a:solidFill>
                  <a:schemeClr val="accent6"/>
                </a:solidFill>
                <a:cs typeface="Calibri"/>
              </a:rPr>
              <a:pPr marL="38100" algn="r">
                <a:lnSpc>
                  <a:spcPts val="1045"/>
                </a:lnSpc>
              </a:pPr>
              <a:t>16</a:t>
            </a:fld>
            <a:endParaRPr sz="1000">
              <a:solidFill>
                <a:schemeClr val="accent6"/>
              </a:solidFill>
              <a:cs typeface="Calibri"/>
            </a:endParaRPr>
          </a:p>
        </p:txBody>
      </p:sp>
      <p:sp>
        <p:nvSpPr>
          <p:cNvPr id="3" name="Title 1">
            <a:extLst>
              <a:ext uri="{FF2B5EF4-FFF2-40B4-BE49-F238E27FC236}">
                <a16:creationId xmlns:a16="http://schemas.microsoft.com/office/drawing/2014/main" id="{7C1C0F59-96CD-01FF-EFAB-965C48EE36A5}"/>
              </a:ext>
            </a:extLst>
          </p:cNvPr>
          <p:cNvSpPr txBox="1">
            <a:spLocks/>
          </p:cNvSpPr>
          <p:nvPr/>
        </p:nvSpPr>
        <p:spPr>
          <a:xfrm>
            <a:off x="1915383" y="6133389"/>
            <a:ext cx="8361232" cy="77787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n-NO" sz="18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rPr>
              <a:t>www.pensumgroup.no</a:t>
            </a:r>
          </a:p>
        </p:txBody>
      </p:sp>
      <p:sp>
        <p:nvSpPr>
          <p:cNvPr id="4" name="Round Same Side Corner Rectangle 10">
            <a:extLst>
              <a:ext uri="{FF2B5EF4-FFF2-40B4-BE49-F238E27FC236}">
                <a16:creationId xmlns:a16="http://schemas.microsoft.com/office/drawing/2014/main" id="{CCA47220-34BE-7599-DAEF-FF0A997DB5E4}"/>
              </a:ext>
            </a:extLst>
          </p:cNvPr>
          <p:cNvSpPr/>
          <p:nvPr/>
        </p:nvSpPr>
        <p:spPr>
          <a:xfrm flipV="1">
            <a:off x="5349576" y="3920"/>
            <a:ext cx="1512001" cy="1512000"/>
          </a:xfrm>
          <a:prstGeom prst="round2SameRect">
            <a:avLst>
              <a:gd name="adj1" fmla="val 10000"/>
              <a:gd name="adj2" fmla="val 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Bilde 4">
            <a:extLst>
              <a:ext uri="{FF2B5EF4-FFF2-40B4-BE49-F238E27FC236}">
                <a16:creationId xmlns:a16="http://schemas.microsoft.com/office/drawing/2014/main" id="{11F7BC83-1380-070E-3F76-3D1ADAA6A9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9213" y="-117349"/>
            <a:ext cx="1382364" cy="1754537"/>
          </a:xfrm>
          <a:prstGeom prst="rect">
            <a:avLst/>
          </a:prstGeom>
        </p:spPr>
      </p:pic>
      <p:graphicFrame>
        <p:nvGraphicFramePr>
          <p:cNvPr id="6" name="Diagram 5">
            <a:extLst>
              <a:ext uri="{FF2B5EF4-FFF2-40B4-BE49-F238E27FC236}">
                <a16:creationId xmlns:a16="http://schemas.microsoft.com/office/drawing/2014/main" id="{16A3382F-29EC-95DC-50DA-5AA332B10572}"/>
              </a:ext>
            </a:extLst>
          </p:cNvPr>
          <p:cNvGraphicFramePr/>
          <p:nvPr>
            <p:extLst>
              <p:ext uri="{D42A27DB-BD31-4B8C-83A1-F6EECF244321}">
                <p14:modId xmlns:p14="http://schemas.microsoft.com/office/powerpoint/2010/main" val="2605462916"/>
              </p:ext>
            </p:extLst>
          </p:nvPr>
        </p:nvGraphicFramePr>
        <p:xfrm>
          <a:off x="1142881" y="1663262"/>
          <a:ext cx="9856710" cy="35314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24168530"/>
      </p:ext>
    </p:extLst>
  </p:cSld>
  <p:clrMapOvr>
    <a:masterClrMapping/>
  </p:clrMapOvr>
</p:sld>
</file>

<file path=ppt/theme/theme1.xml><?xml version="1.0" encoding="utf-8"?>
<a:theme xmlns:a="http://schemas.openxmlformats.org/drawingml/2006/main" name="Office Theme">
  <a:themeElements>
    <a:clrScheme name="Standard Pensum Fargepalett">
      <a:dk1>
        <a:srgbClr val="0D2841"/>
      </a:dk1>
      <a:lt1>
        <a:srgbClr val="F5F5F5"/>
      </a:lt1>
      <a:dk2>
        <a:srgbClr val="4F8AA9"/>
      </a:dk2>
      <a:lt2>
        <a:srgbClr val="D0D0CE"/>
      </a:lt2>
      <a:accent1>
        <a:srgbClr val="D3826A"/>
      </a:accent1>
      <a:accent2>
        <a:srgbClr val="123E6A"/>
      </a:accent2>
      <a:accent3>
        <a:srgbClr val="B1B3B3"/>
      </a:accent3>
      <a:accent4>
        <a:srgbClr val="FFFFFF"/>
      </a:accent4>
      <a:accent5>
        <a:srgbClr val="E5E5E3"/>
      </a:accent5>
      <a:accent6>
        <a:srgbClr val="FFFFFF"/>
      </a:accent6>
      <a:hlink>
        <a:srgbClr val="FFFFFF"/>
      </a:hlink>
      <a:folHlink>
        <a:srgbClr val="FFFFFF"/>
      </a:folHlink>
    </a:clrScheme>
    <a:fontScheme name="Egendefinert 1">
      <a:majorFont>
        <a:latin typeface="Open Sans Light"/>
        <a:ea typeface=""/>
        <a:cs typeface=""/>
      </a:majorFont>
      <a:minorFont>
        <a:latin typeface="Open San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4">
            <a:shade val="50000"/>
          </a:schemeClr>
        </a:lnRef>
        <a:fillRef idx="1">
          <a:schemeClr val="accent4"/>
        </a:fillRef>
        <a:effectRef idx="0">
          <a:schemeClr val="accent4"/>
        </a:effectRef>
        <a:fontRef idx="minor">
          <a:schemeClr val="lt1"/>
        </a:fontRef>
      </a:style>
    </a:spDef>
    <a:txDef>
      <a:spPr/>
      <a:bodyPr lIns="0" tIns="0" rIns="0" bIns="0" rtlCol="0" anchor="t">
        <a:spAutoFit/>
      </a:bodyPr>
      <a:lstStyle>
        <a:defPPr algn="l">
          <a:lnSpc>
            <a:spcPts val="3000"/>
          </a:lnSpc>
          <a:defRPr sz="1199" spc="59" dirty="0" smtClean="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Standard Pensum Fargepalett">
      <a:dk1>
        <a:srgbClr val="0D2841"/>
      </a:dk1>
      <a:lt1>
        <a:srgbClr val="F5F5F5"/>
      </a:lt1>
      <a:dk2>
        <a:srgbClr val="4F8AA9"/>
      </a:dk2>
      <a:lt2>
        <a:srgbClr val="D0D0CE"/>
      </a:lt2>
      <a:accent1>
        <a:srgbClr val="D3826A"/>
      </a:accent1>
      <a:accent2>
        <a:srgbClr val="123E6A"/>
      </a:accent2>
      <a:accent3>
        <a:srgbClr val="B1B3B3"/>
      </a:accent3>
      <a:accent4>
        <a:srgbClr val="FFFFFF"/>
      </a:accent4>
      <a:accent5>
        <a:srgbClr val="E5E5E3"/>
      </a:accent5>
      <a:accent6>
        <a:srgbClr val="FFFFFF"/>
      </a:accent6>
      <a:hlink>
        <a:srgbClr val="FFFFFF"/>
      </a:hlink>
      <a:folHlink>
        <a:srgbClr val="FFFFFF"/>
      </a:folHlink>
    </a:clrScheme>
    <a:fontScheme name="Egendefinert 1">
      <a:majorFont>
        <a:latin typeface="Open Sans Light"/>
        <a:ea typeface=""/>
        <a:cs typeface=""/>
      </a:majorFont>
      <a:minorFont>
        <a:latin typeface="Open San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4">
            <a:shade val="50000"/>
          </a:schemeClr>
        </a:lnRef>
        <a:fillRef idx="1">
          <a:schemeClr val="accent4"/>
        </a:fillRef>
        <a:effectRef idx="0">
          <a:schemeClr val="accent4"/>
        </a:effectRef>
        <a:fontRef idx="minor">
          <a:schemeClr val="lt1"/>
        </a:fontRef>
      </a:style>
    </a:spDef>
    <a:txDef>
      <a:spPr/>
      <a:bodyPr lIns="0" tIns="0" rIns="0" bIns="0" rtlCol="0" anchor="t">
        <a:spAutoFit/>
      </a:bodyPr>
      <a:lstStyle>
        <a:defPPr algn="l">
          <a:lnSpc>
            <a:spcPts val="3000"/>
          </a:lnSpc>
          <a:defRPr sz="1199" spc="59" dirty="0" smtClean="0">
            <a:solidFill>
              <a:srgbClr val="2E3D36"/>
            </a:solidFill>
            <a:latin typeface="Open Sans Regular" panose="020B0606030504020204" pitchFamily="34" charset="0"/>
            <a:ea typeface="Open Sans Regular" panose="020B0606030504020204" pitchFamily="34" charset="0"/>
            <a:cs typeface="Open Sans Regular" panose="020B06060305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7256882-87bc-455b-9c3e-38007a0d6aff">
      <Terms xmlns="http://schemas.microsoft.com/office/infopath/2007/PartnerControls"/>
    </lcf76f155ced4ddcb4097134ff3c332f>
    <TaxCatchAll xmlns="3afb184f-c94b-4f26-b5de-ec4cd5693b7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E48343E7AE90814998107EF6D97F6EE7" ma:contentTypeVersion="19" ma:contentTypeDescription="Opprett et nytt dokument." ma:contentTypeScope="" ma:versionID="00626dacd5c637a6f6fbe13f47748a1d">
  <xsd:schema xmlns:xsd="http://www.w3.org/2001/XMLSchema" xmlns:xs="http://www.w3.org/2001/XMLSchema" xmlns:p="http://schemas.microsoft.com/office/2006/metadata/properties" xmlns:ns2="57256882-87bc-455b-9c3e-38007a0d6aff" xmlns:ns3="3afb184f-c94b-4f26-b5de-ec4cd5693b72" targetNamespace="http://schemas.microsoft.com/office/2006/metadata/properties" ma:root="true" ma:fieldsID="7b5f796e35ecf219a23820ff4cfd0792" ns2:_="" ns3:_="">
    <xsd:import namespace="57256882-87bc-455b-9c3e-38007a0d6aff"/>
    <xsd:import namespace="3afb184f-c94b-4f26-b5de-ec4cd5693b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CR"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256882-87bc-455b-9c3e-38007a0d6a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ildemerkelapper" ma:readOnly="false" ma:fieldId="{5cf76f15-5ced-4ddc-b409-7134ff3c332f}" ma:taxonomyMulti="true" ma:sspId="a550ba90-fdd4-482a-a791-d8744d258d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fb184f-c94b-4f26-b5de-ec4cd5693b72" elementFormDefault="qualified">
    <xsd:import namespace="http://schemas.microsoft.com/office/2006/documentManagement/types"/>
    <xsd:import namespace="http://schemas.microsoft.com/office/infopath/2007/PartnerControls"/>
    <xsd:element name="SharedWithUsers" ma:index="16"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lingsdetaljer" ma:internalName="SharedWithDetails" ma:readOnly="true">
      <xsd:simpleType>
        <xsd:restriction base="dms:Note">
          <xsd:maxLength value="255"/>
        </xsd:restriction>
      </xsd:simpleType>
    </xsd:element>
    <xsd:element name="TaxCatchAll" ma:index="23" nillable="true" ma:displayName="Taxonomy Catch All Column" ma:hidden="true" ma:list="{e1b1275f-ef78-47ac-8825-5bd4fbb9cbaf}" ma:internalName="TaxCatchAll" ma:showField="CatchAllData" ma:web="3afb184f-c94b-4f26-b5de-ec4cd5693b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BB04CE-0335-4818-A873-63EA92B94C50}">
  <ds:schemaRefs>
    <ds:schemaRef ds:uri="3afb184f-c94b-4f26-b5de-ec4cd5693b72"/>
    <ds:schemaRef ds:uri="57256882-87bc-455b-9c3e-38007a0d6a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017DFB-C91B-4030-89D0-329E9265C994}">
  <ds:schemaRefs>
    <ds:schemaRef ds:uri="http://schemas.microsoft.com/sharepoint/v3/contenttype/forms"/>
  </ds:schemaRefs>
</ds:datastoreItem>
</file>

<file path=customXml/itemProps3.xml><?xml version="1.0" encoding="utf-8"?>
<ds:datastoreItem xmlns:ds="http://schemas.openxmlformats.org/officeDocument/2006/customXml" ds:itemID="{B5DCC883-D2A1-4C49-8133-FED34719C0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256882-87bc-455b-9c3e-38007a0d6aff"/>
    <ds:schemaRef ds:uri="3afb184f-c94b-4f26-b5de-ec4cd5693b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297</TotalTime>
  <Words>1212</Words>
  <Application>Microsoft Office PowerPoint</Application>
  <PresentationFormat>Widescreen</PresentationFormat>
  <Paragraphs>117</Paragraphs>
  <Slides>16</Slides>
  <Notes>3</Notes>
  <HiddenSlides>0</HiddenSlides>
  <MMClips>0</MMClips>
  <ScaleCrop>false</ScaleCrop>
  <HeadingPairs>
    <vt:vector size="6" baseType="variant">
      <vt:variant>
        <vt:lpstr>Brukte skrifter</vt:lpstr>
      </vt:variant>
      <vt:variant>
        <vt:i4>8</vt:i4>
      </vt:variant>
      <vt:variant>
        <vt:lpstr>Tema</vt:lpstr>
      </vt:variant>
      <vt:variant>
        <vt:i4>2</vt:i4>
      </vt:variant>
      <vt:variant>
        <vt:lpstr>Lysbildetitler</vt:lpstr>
      </vt:variant>
      <vt:variant>
        <vt:i4>16</vt:i4>
      </vt:variant>
    </vt:vector>
  </HeadingPairs>
  <TitlesOfParts>
    <vt:vector size="26" baseType="lpstr">
      <vt:lpstr>Open Sans Regular</vt:lpstr>
      <vt:lpstr>Calibri</vt:lpstr>
      <vt:lpstr>Open Sans ExtraBold</vt:lpstr>
      <vt:lpstr>Arial</vt:lpstr>
      <vt:lpstr>Open Sans Light</vt:lpstr>
      <vt:lpstr>Georgia</vt:lpstr>
      <vt:lpstr>Open Sans SemiBold</vt:lpstr>
      <vt:lpstr>Open Sans</vt:lpstr>
      <vt:lpstr>Office Theme</vt:lpstr>
      <vt:lpstr>1_Office Theme</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Guru</dc:creator>
  <cp:lastModifiedBy>Magnus Kløvstad Langberg</cp:lastModifiedBy>
  <cp:revision>8</cp:revision>
  <dcterms:created xsi:type="dcterms:W3CDTF">2021-06-29T14:03:29Z</dcterms:created>
  <dcterms:modified xsi:type="dcterms:W3CDTF">2026-03-10T13:40:03Z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0x010100E48343E7AE90814998107EF6D97F6EE7</vt:lpwstr>
  </property>
  <property fmtid="{D5CDD505-2E9C-101B-9397-08002B2CF9AE}" pid="3" name="MediaServiceImageTags">
    <vt:lpwstr/>
  </property>
</Properties>
</file>