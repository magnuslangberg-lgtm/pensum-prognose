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60" r:id="rId2"/>
  </p:sldMasterIdLst>
  <p:notesMasterIdLst>
    <p:notesMasterId r:id="rId27"/>
  </p:notesMasterIdLst>
  <p:sldIdLst>
    <p:sldId id="256" r:id="rId3"/>
    <p:sldId id="290" r:id="rId4"/>
    <p:sldId id="287" r:id="rId5"/>
    <p:sldId id="259" r:id="rId6"/>
    <p:sldId id="260" r:id="rId7"/>
    <p:sldId id="291" r:id="rId8"/>
    <p:sldId id="292" r:id="rId9"/>
    <p:sldId id="295" r:id="rId10"/>
    <p:sldId id="293" r:id="rId11"/>
    <p:sldId id="297" r:id="rId12"/>
    <p:sldId id="296" r:id="rId13"/>
    <p:sldId id="298" r:id="rId14"/>
    <p:sldId id="294" r:id="rId15"/>
    <p:sldId id="267" r:id="rId16"/>
    <p:sldId id="286" r:id="rId17"/>
    <p:sldId id="271" r:id="rId18"/>
    <p:sldId id="272" r:id="rId19"/>
    <p:sldId id="289" r:id="rId20"/>
    <p:sldId id="274" r:id="rId21"/>
    <p:sldId id="275" r:id="rId22"/>
    <p:sldId id="276" r:id="rId23"/>
    <p:sldId id="285" r:id="rId24"/>
    <p:sldId id="277" r:id="rId25"/>
    <p:sldId id="278" r:id="rId26"/>
  </p:sldIdLst>
  <p:sldSz cx="18288000" cy="10287000"/>
  <p:notesSz cx="6858000" cy="9144000"/>
  <p:embeddedFontLst>
    <p:embeddedFont>
      <p:font typeface="Calibri (MS)" panose="020B0604020202020204" charset="0"/>
      <p:regular r:id="rId28"/>
    </p:embeddedFont>
    <p:embeddedFont>
      <p:font typeface="Merriweather Sans" pitchFamily="2" charset="0"/>
      <p:regular r:id="rId29"/>
      <p:bold r:id="rId30"/>
      <p:italic r:id="rId31"/>
      <p:boldItalic r:id="rId32"/>
    </p:embeddedFont>
  </p:embeddedFontLst>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D284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7A4D373-EBB1-4619-8EDB-8A96D4875499}" v="18" dt="2026-01-12T13:30:13.735"/>
  </p1510:revLst>
</p1510:revInfo>
</file>

<file path=ppt/tableStyles.xml><?xml version="1.0" encoding="utf-8"?>
<a:tblStyleLst xmlns:a="http://schemas.openxmlformats.org/drawingml/2006/main" def="{5C22544A-7EE6-4342-B048-85BDC9FD1C3A}">
  <a:tblStyle styleId="{5C22544A-7EE6-4342-B048-85BDC9FD1C3A}" styleName="Middels stil 2 – utheving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ys stil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1" d="100"/>
          <a:sy n="41" d="100"/>
        </p:scale>
        <p:origin x="820" y="2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5.fntdata"/><Relationship Id="rId37"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font" Target="fonts/font1.fntdata"/><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4.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FF780B3-53F1-CC0C-48B4-C41BE0372C6B}"/>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cs-CZ"/>
          </a:p>
        </p:txBody>
      </p:sp>
      <p:sp>
        <p:nvSpPr>
          <p:cNvPr id="3" name="Date Placeholder 2">
            <a:extLst>
              <a:ext uri="{FF2B5EF4-FFF2-40B4-BE49-F238E27FC236}">
                <a16:creationId xmlns:a16="http://schemas.microsoft.com/office/drawing/2014/main" id="{D5341383-5C54-817F-AF3E-B2C0C46D86BB}"/>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722B0CDF-8BAA-4737-A4CB-236956A2D847}" type="datetimeFigureOut">
              <a:rPr lang="cs-CZ"/>
              <a:pPr>
                <a:defRPr/>
              </a:pPr>
              <a:t>28.02.2026</a:t>
            </a:fld>
            <a:endParaRPr lang="cs-CZ"/>
          </a:p>
        </p:txBody>
      </p:sp>
      <p:sp>
        <p:nvSpPr>
          <p:cNvPr id="4" name="Slide Image Placeholder 3">
            <a:extLst>
              <a:ext uri="{FF2B5EF4-FFF2-40B4-BE49-F238E27FC236}">
                <a16:creationId xmlns:a16="http://schemas.microsoft.com/office/drawing/2014/main" id="{017360AE-3221-2D53-420E-5B852E07A19F}"/>
              </a:ext>
            </a:extLst>
          </p:cNvPr>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pPr lvl="0"/>
            <a:endParaRPr lang="cs-CZ" noProof="0"/>
          </a:p>
        </p:txBody>
      </p:sp>
      <p:sp>
        <p:nvSpPr>
          <p:cNvPr id="5" name="Notes Placeholder 4">
            <a:extLst>
              <a:ext uri="{FF2B5EF4-FFF2-40B4-BE49-F238E27FC236}">
                <a16:creationId xmlns:a16="http://schemas.microsoft.com/office/drawing/2014/main" id="{C841871F-B819-4BE8-AF93-DA63FF2C3031}"/>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cs-CZ" noProof="0"/>
          </a:p>
        </p:txBody>
      </p:sp>
      <p:sp>
        <p:nvSpPr>
          <p:cNvPr id="6" name="Footer Placeholder 5">
            <a:extLst>
              <a:ext uri="{FF2B5EF4-FFF2-40B4-BE49-F238E27FC236}">
                <a16:creationId xmlns:a16="http://schemas.microsoft.com/office/drawing/2014/main" id="{FF73012E-E9C5-577C-377C-51E0C10ACD2C}"/>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cs-CZ"/>
          </a:p>
        </p:txBody>
      </p:sp>
      <p:sp>
        <p:nvSpPr>
          <p:cNvPr id="7" name="Slide Number Placeholder 6">
            <a:extLst>
              <a:ext uri="{FF2B5EF4-FFF2-40B4-BE49-F238E27FC236}">
                <a16:creationId xmlns:a16="http://schemas.microsoft.com/office/drawing/2014/main" id="{869AEACA-36F1-7FC5-F58C-2A3C43B2DE2A}"/>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009E9FFD-D604-410D-A188-7B07CF4C391C}" type="slidenum">
              <a:rPr lang="cs-CZ"/>
              <a:pPr>
                <a:defRPr/>
              </a:pPr>
              <a:t>‹#›</a:t>
            </a:fld>
            <a:endParaRPr lang="cs-CZ"/>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a:xfrm>
            <a:off x="2290763" y="512763"/>
            <a:ext cx="4562475" cy="2566987"/>
          </a:xfrm>
        </p:spPr>
      </p:sp>
      <p:sp>
        <p:nvSpPr>
          <p:cNvPr id="3" name="Plassholder for notater 2"/>
          <p:cNvSpPr>
            <a:spLocks noGrp="1"/>
          </p:cNvSpPr>
          <p:nvPr>
            <p:ph type="body" idx="1"/>
          </p:nvPr>
        </p:nvSpPr>
        <p:spPr/>
        <p:txBody>
          <a:bodyPr/>
          <a:lstStyle/>
          <a:p>
            <a:endParaRPr lang="nb-NO" dirty="0"/>
          </a:p>
        </p:txBody>
      </p:sp>
      <p:sp>
        <p:nvSpPr>
          <p:cNvPr id="4" name="Plassholder for lysbildenummer 3"/>
          <p:cNvSpPr>
            <a:spLocks noGrp="1"/>
          </p:cNvSpPr>
          <p:nvPr>
            <p:ph type="sldNum" sz="quarter" idx="5"/>
          </p:nvPr>
        </p:nvSpPr>
        <p:spPr/>
        <p:txBody>
          <a:bodyPr/>
          <a:lstStyle/>
          <a:p>
            <a:pPr>
              <a:defRPr/>
            </a:pPr>
            <a:fld id="{009E9FFD-D604-410D-A188-7B07CF4C391C}" type="slidenum">
              <a:rPr lang="cs-CZ" smtClean="0"/>
              <a:pPr>
                <a:defRPr/>
              </a:pPr>
              <a:t>11</a:t>
            </a:fld>
            <a:endParaRPr lang="cs-CZ"/>
          </a:p>
        </p:txBody>
      </p:sp>
    </p:spTree>
    <p:extLst>
      <p:ext uri="{BB962C8B-B14F-4D97-AF65-F5344CB8AC3E}">
        <p14:creationId xmlns:p14="http://schemas.microsoft.com/office/powerpoint/2010/main" val="19117941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70E39319-0580-20B0-47AA-FFB2CF95684E}"/>
              </a:ext>
            </a:extLst>
          </p:cNvPr>
          <p:cNvSpPr>
            <a:spLocks noGrp="1"/>
          </p:cNvSpPr>
          <p:nvPr>
            <p:ph type="dt" sz="half" idx="10"/>
          </p:nvPr>
        </p:nvSpPr>
        <p:spPr/>
        <p:txBody>
          <a:bodyPr/>
          <a:lstStyle>
            <a:lvl1pPr>
              <a:defRPr/>
            </a:lvl1pPr>
          </a:lstStyle>
          <a:p>
            <a:pPr>
              <a:defRPr/>
            </a:pPr>
            <a:fld id="{4889804C-B01E-4A17-910F-F33EA5395E56}" type="datetimeFigureOut">
              <a:rPr lang="en-US"/>
              <a:pPr>
                <a:defRPr/>
              </a:pPr>
              <a:t>2/28/2026</a:t>
            </a:fld>
            <a:endParaRPr lang="en-US"/>
          </a:p>
        </p:txBody>
      </p:sp>
      <p:sp>
        <p:nvSpPr>
          <p:cNvPr id="5" name="Footer Placeholder 4">
            <a:extLst>
              <a:ext uri="{FF2B5EF4-FFF2-40B4-BE49-F238E27FC236}">
                <a16:creationId xmlns:a16="http://schemas.microsoft.com/office/drawing/2014/main" id="{222E0928-24F3-847A-00DF-82CE7381A7CF}"/>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4A5E0D42-F700-648C-A8A3-8AF8EFB661D0}"/>
              </a:ext>
            </a:extLst>
          </p:cNvPr>
          <p:cNvSpPr>
            <a:spLocks noGrp="1"/>
          </p:cNvSpPr>
          <p:nvPr>
            <p:ph type="sldNum" sz="quarter" idx="12"/>
          </p:nvPr>
        </p:nvSpPr>
        <p:spPr/>
        <p:txBody>
          <a:bodyPr/>
          <a:lstStyle>
            <a:lvl1pPr>
              <a:defRPr/>
            </a:lvl1pPr>
          </a:lstStyle>
          <a:p>
            <a:pPr>
              <a:defRPr/>
            </a:pPr>
            <a:fld id="{94E2E3E3-5C57-4338-96C0-F1F28F69DA7F}" type="slidenum">
              <a:rPr lang="en-US"/>
              <a:pPr>
                <a:defRPr/>
              </a:pPr>
              <a:t>‹#›</a:t>
            </a:fld>
            <a:endParaRPr lang="en-US"/>
          </a:p>
        </p:txBody>
      </p:sp>
    </p:spTree>
    <p:extLst>
      <p:ext uri="{BB962C8B-B14F-4D97-AF65-F5344CB8AC3E}">
        <p14:creationId xmlns:p14="http://schemas.microsoft.com/office/powerpoint/2010/main" val="41600951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9D5340-63A8-1161-07EC-F5F7CF9134E3}"/>
              </a:ext>
            </a:extLst>
          </p:cNvPr>
          <p:cNvSpPr>
            <a:spLocks noGrp="1"/>
          </p:cNvSpPr>
          <p:nvPr>
            <p:ph type="dt" sz="half" idx="10"/>
          </p:nvPr>
        </p:nvSpPr>
        <p:spPr/>
        <p:txBody>
          <a:bodyPr/>
          <a:lstStyle>
            <a:lvl1pPr>
              <a:defRPr/>
            </a:lvl1pPr>
          </a:lstStyle>
          <a:p>
            <a:pPr>
              <a:defRPr/>
            </a:pPr>
            <a:fld id="{C556F4E5-20CA-4E60-AFC2-8D3028AF23BA}" type="datetimeFigureOut">
              <a:rPr lang="en-US"/>
              <a:pPr>
                <a:defRPr/>
              </a:pPr>
              <a:t>2/28/2026</a:t>
            </a:fld>
            <a:endParaRPr lang="en-US"/>
          </a:p>
        </p:txBody>
      </p:sp>
      <p:sp>
        <p:nvSpPr>
          <p:cNvPr id="5" name="Footer Placeholder 4">
            <a:extLst>
              <a:ext uri="{FF2B5EF4-FFF2-40B4-BE49-F238E27FC236}">
                <a16:creationId xmlns:a16="http://schemas.microsoft.com/office/drawing/2014/main" id="{A8300C78-D4E2-4C6E-C082-9D4466FA459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22EB6AC8-6B1F-5176-D23A-8350955869CD}"/>
              </a:ext>
            </a:extLst>
          </p:cNvPr>
          <p:cNvSpPr>
            <a:spLocks noGrp="1"/>
          </p:cNvSpPr>
          <p:nvPr>
            <p:ph type="sldNum" sz="quarter" idx="12"/>
          </p:nvPr>
        </p:nvSpPr>
        <p:spPr/>
        <p:txBody>
          <a:bodyPr/>
          <a:lstStyle>
            <a:lvl1pPr>
              <a:defRPr/>
            </a:lvl1pPr>
          </a:lstStyle>
          <a:p>
            <a:pPr>
              <a:defRPr/>
            </a:pPr>
            <a:fld id="{394EBE48-966F-404D-B82C-A401A32ED4AB}" type="slidenum">
              <a:rPr lang="en-US"/>
              <a:pPr>
                <a:defRPr/>
              </a:pPr>
              <a:t>‹#›</a:t>
            </a:fld>
            <a:endParaRPr lang="en-US"/>
          </a:p>
        </p:txBody>
      </p:sp>
    </p:spTree>
    <p:extLst>
      <p:ext uri="{BB962C8B-B14F-4D97-AF65-F5344CB8AC3E}">
        <p14:creationId xmlns:p14="http://schemas.microsoft.com/office/powerpoint/2010/main" val="3024092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94098AF-B92A-01F1-54B5-9D6F4620D995}"/>
              </a:ext>
            </a:extLst>
          </p:cNvPr>
          <p:cNvSpPr>
            <a:spLocks noGrp="1"/>
          </p:cNvSpPr>
          <p:nvPr>
            <p:ph type="dt" sz="half" idx="10"/>
          </p:nvPr>
        </p:nvSpPr>
        <p:spPr/>
        <p:txBody>
          <a:bodyPr/>
          <a:lstStyle>
            <a:lvl1pPr>
              <a:defRPr/>
            </a:lvl1pPr>
          </a:lstStyle>
          <a:p>
            <a:pPr>
              <a:defRPr/>
            </a:pPr>
            <a:fld id="{C5936919-B12A-4F84-BF2A-6ADB54B61719}" type="datetimeFigureOut">
              <a:rPr lang="en-US"/>
              <a:pPr>
                <a:defRPr/>
              </a:pPr>
              <a:t>2/28/2026</a:t>
            </a:fld>
            <a:endParaRPr lang="en-US"/>
          </a:p>
        </p:txBody>
      </p:sp>
      <p:sp>
        <p:nvSpPr>
          <p:cNvPr id="5" name="Footer Placeholder 4">
            <a:extLst>
              <a:ext uri="{FF2B5EF4-FFF2-40B4-BE49-F238E27FC236}">
                <a16:creationId xmlns:a16="http://schemas.microsoft.com/office/drawing/2014/main" id="{AC040083-8E75-3C8C-3003-9507EDBA3E21}"/>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D547A7CA-0B0E-74AC-4BF2-9EE4B85A0485}"/>
              </a:ext>
            </a:extLst>
          </p:cNvPr>
          <p:cNvSpPr>
            <a:spLocks noGrp="1"/>
          </p:cNvSpPr>
          <p:nvPr>
            <p:ph type="sldNum" sz="quarter" idx="12"/>
          </p:nvPr>
        </p:nvSpPr>
        <p:spPr/>
        <p:txBody>
          <a:bodyPr/>
          <a:lstStyle>
            <a:lvl1pPr>
              <a:defRPr/>
            </a:lvl1pPr>
          </a:lstStyle>
          <a:p>
            <a:pPr>
              <a:defRPr/>
            </a:pPr>
            <a:fld id="{720AB843-2E79-42CD-B5CA-F139A0118D66}" type="slidenum">
              <a:rPr lang="en-US"/>
              <a:pPr>
                <a:defRPr/>
              </a:pPr>
              <a:t>‹#›</a:t>
            </a:fld>
            <a:endParaRPr lang="en-US"/>
          </a:p>
        </p:txBody>
      </p:sp>
    </p:spTree>
    <p:extLst>
      <p:ext uri="{BB962C8B-B14F-4D97-AF65-F5344CB8AC3E}">
        <p14:creationId xmlns:p14="http://schemas.microsoft.com/office/powerpoint/2010/main" val="28219535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B95F75F7-ED9C-5532-705F-811F74090FDA}"/>
              </a:ext>
            </a:extLst>
          </p:cNvPr>
          <p:cNvSpPr>
            <a:spLocks noGrp="1"/>
          </p:cNvSpPr>
          <p:nvPr>
            <p:ph type="dt" sz="half" idx="10"/>
          </p:nvPr>
        </p:nvSpPr>
        <p:spPr/>
        <p:txBody>
          <a:bodyPr/>
          <a:lstStyle>
            <a:lvl1pPr>
              <a:defRPr/>
            </a:lvl1pPr>
          </a:lstStyle>
          <a:p>
            <a:pPr>
              <a:defRPr/>
            </a:pPr>
            <a:fld id="{36C115B5-F814-43B9-84FA-4C9834F98AFB}" type="datetimeFigureOut">
              <a:rPr lang="en-US"/>
              <a:pPr>
                <a:defRPr/>
              </a:pPr>
              <a:t>2/28/2026</a:t>
            </a:fld>
            <a:endParaRPr lang="en-US"/>
          </a:p>
        </p:txBody>
      </p:sp>
      <p:sp>
        <p:nvSpPr>
          <p:cNvPr id="6" name="Footer Placeholder 4">
            <a:extLst>
              <a:ext uri="{FF2B5EF4-FFF2-40B4-BE49-F238E27FC236}">
                <a16:creationId xmlns:a16="http://schemas.microsoft.com/office/drawing/2014/main" id="{0AF56D1E-FAB3-E97A-F396-F3F11ABF3BC0}"/>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C313C154-C3E7-BB51-5740-8831D77D9BB5}"/>
              </a:ext>
            </a:extLst>
          </p:cNvPr>
          <p:cNvSpPr>
            <a:spLocks noGrp="1"/>
          </p:cNvSpPr>
          <p:nvPr>
            <p:ph type="sldNum" sz="quarter" idx="12"/>
          </p:nvPr>
        </p:nvSpPr>
        <p:spPr/>
        <p:txBody>
          <a:bodyPr/>
          <a:lstStyle>
            <a:lvl1pPr>
              <a:defRPr/>
            </a:lvl1pPr>
          </a:lstStyle>
          <a:p>
            <a:pPr>
              <a:defRPr/>
            </a:pPr>
            <a:fld id="{9E83AD20-0565-4025-B898-E689B8EC02E8}" type="slidenum">
              <a:rPr lang="en-US"/>
              <a:pPr>
                <a:defRPr/>
              </a:pPr>
              <a:t>‹#›</a:t>
            </a:fld>
            <a:endParaRPr lang="en-US"/>
          </a:p>
        </p:txBody>
      </p:sp>
    </p:spTree>
    <p:extLst>
      <p:ext uri="{BB962C8B-B14F-4D97-AF65-F5344CB8AC3E}">
        <p14:creationId xmlns:p14="http://schemas.microsoft.com/office/powerpoint/2010/main" val="18643447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2FC55918-97B0-8A30-15E8-F08B0EFAD47B}"/>
              </a:ext>
            </a:extLst>
          </p:cNvPr>
          <p:cNvSpPr>
            <a:spLocks noGrp="1"/>
          </p:cNvSpPr>
          <p:nvPr>
            <p:ph type="dt" sz="half" idx="10"/>
          </p:nvPr>
        </p:nvSpPr>
        <p:spPr/>
        <p:txBody>
          <a:bodyPr/>
          <a:lstStyle>
            <a:lvl1pPr>
              <a:defRPr/>
            </a:lvl1pPr>
          </a:lstStyle>
          <a:p>
            <a:pPr>
              <a:defRPr/>
            </a:pPr>
            <a:fld id="{5274F19B-7111-4A1F-9EBD-A0C5259FC29B}" type="datetimeFigureOut">
              <a:rPr lang="en-US"/>
              <a:pPr>
                <a:defRPr/>
              </a:pPr>
              <a:t>2/28/2026</a:t>
            </a:fld>
            <a:endParaRPr lang="en-US"/>
          </a:p>
        </p:txBody>
      </p:sp>
      <p:sp>
        <p:nvSpPr>
          <p:cNvPr id="8" name="Footer Placeholder 4">
            <a:extLst>
              <a:ext uri="{FF2B5EF4-FFF2-40B4-BE49-F238E27FC236}">
                <a16:creationId xmlns:a16="http://schemas.microsoft.com/office/drawing/2014/main" id="{A46F46A9-02FD-DE6F-678F-C5B38BC95EBB}"/>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1C5D2355-D8B9-30B8-78A1-BEAE411930D5}"/>
              </a:ext>
            </a:extLst>
          </p:cNvPr>
          <p:cNvSpPr>
            <a:spLocks noGrp="1"/>
          </p:cNvSpPr>
          <p:nvPr>
            <p:ph type="sldNum" sz="quarter" idx="12"/>
          </p:nvPr>
        </p:nvSpPr>
        <p:spPr/>
        <p:txBody>
          <a:bodyPr/>
          <a:lstStyle>
            <a:lvl1pPr>
              <a:defRPr/>
            </a:lvl1pPr>
          </a:lstStyle>
          <a:p>
            <a:pPr>
              <a:defRPr/>
            </a:pPr>
            <a:fld id="{45950B9E-D207-4C7B-A6E8-925D6D184F0E}" type="slidenum">
              <a:rPr lang="en-US"/>
              <a:pPr>
                <a:defRPr/>
              </a:pPr>
              <a:t>‹#›</a:t>
            </a:fld>
            <a:endParaRPr lang="en-US"/>
          </a:p>
        </p:txBody>
      </p:sp>
    </p:spTree>
    <p:extLst>
      <p:ext uri="{BB962C8B-B14F-4D97-AF65-F5344CB8AC3E}">
        <p14:creationId xmlns:p14="http://schemas.microsoft.com/office/powerpoint/2010/main" val="11897284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46D9B123-CD7A-51C2-93FE-12326E1BBB2C}"/>
              </a:ext>
            </a:extLst>
          </p:cNvPr>
          <p:cNvSpPr>
            <a:spLocks noGrp="1"/>
          </p:cNvSpPr>
          <p:nvPr>
            <p:ph type="dt" sz="half" idx="10"/>
          </p:nvPr>
        </p:nvSpPr>
        <p:spPr/>
        <p:txBody>
          <a:bodyPr/>
          <a:lstStyle>
            <a:lvl1pPr>
              <a:defRPr/>
            </a:lvl1pPr>
          </a:lstStyle>
          <a:p>
            <a:pPr>
              <a:defRPr/>
            </a:pPr>
            <a:fld id="{4D5B92C8-6B5C-42D7-B33F-97BBB097DED5}" type="datetimeFigureOut">
              <a:rPr lang="en-US"/>
              <a:pPr>
                <a:defRPr/>
              </a:pPr>
              <a:t>2/28/2026</a:t>
            </a:fld>
            <a:endParaRPr lang="en-US"/>
          </a:p>
        </p:txBody>
      </p:sp>
      <p:sp>
        <p:nvSpPr>
          <p:cNvPr id="4" name="Footer Placeholder 4">
            <a:extLst>
              <a:ext uri="{FF2B5EF4-FFF2-40B4-BE49-F238E27FC236}">
                <a16:creationId xmlns:a16="http://schemas.microsoft.com/office/drawing/2014/main" id="{C03F5B66-1B1B-C3C5-44EC-25653283DF94}"/>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868E7643-3060-B6E8-B921-A00C0D26F5A3}"/>
              </a:ext>
            </a:extLst>
          </p:cNvPr>
          <p:cNvSpPr>
            <a:spLocks noGrp="1"/>
          </p:cNvSpPr>
          <p:nvPr>
            <p:ph type="sldNum" sz="quarter" idx="12"/>
          </p:nvPr>
        </p:nvSpPr>
        <p:spPr/>
        <p:txBody>
          <a:bodyPr/>
          <a:lstStyle>
            <a:lvl1pPr>
              <a:defRPr/>
            </a:lvl1pPr>
          </a:lstStyle>
          <a:p>
            <a:pPr>
              <a:defRPr/>
            </a:pPr>
            <a:fld id="{8A9CBE66-FE7E-444C-BF5A-C0FBDECE065E}" type="slidenum">
              <a:rPr lang="en-US"/>
              <a:pPr>
                <a:defRPr/>
              </a:pPr>
              <a:t>‹#›</a:t>
            </a:fld>
            <a:endParaRPr lang="en-US"/>
          </a:p>
        </p:txBody>
      </p:sp>
    </p:spTree>
    <p:extLst>
      <p:ext uri="{BB962C8B-B14F-4D97-AF65-F5344CB8AC3E}">
        <p14:creationId xmlns:p14="http://schemas.microsoft.com/office/powerpoint/2010/main" val="28971718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BD70D334-86D2-212C-100A-A0CC83E7BE67}"/>
              </a:ext>
            </a:extLst>
          </p:cNvPr>
          <p:cNvSpPr>
            <a:spLocks noGrp="1"/>
          </p:cNvSpPr>
          <p:nvPr>
            <p:ph type="dt" sz="half" idx="10"/>
          </p:nvPr>
        </p:nvSpPr>
        <p:spPr/>
        <p:txBody>
          <a:bodyPr/>
          <a:lstStyle>
            <a:lvl1pPr>
              <a:defRPr/>
            </a:lvl1pPr>
          </a:lstStyle>
          <a:p>
            <a:pPr>
              <a:defRPr/>
            </a:pPr>
            <a:fld id="{7060A199-2C8A-4CFA-8CDC-E05EBC85912C}" type="datetimeFigureOut">
              <a:rPr lang="en-US"/>
              <a:pPr>
                <a:defRPr/>
              </a:pPr>
              <a:t>2/28/2026</a:t>
            </a:fld>
            <a:endParaRPr lang="en-US"/>
          </a:p>
        </p:txBody>
      </p:sp>
      <p:sp>
        <p:nvSpPr>
          <p:cNvPr id="3" name="Footer Placeholder 4">
            <a:extLst>
              <a:ext uri="{FF2B5EF4-FFF2-40B4-BE49-F238E27FC236}">
                <a16:creationId xmlns:a16="http://schemas.microsoft.com/office/drawing/2014/main" id="{E879E0E8-0559-CF6A-D3F6-1ED4C07F3869}"/>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92992365-692A-5DB2-3AD8-081FD06C8CBB}"/>
              </a:ext>
            </a:extLst>
          </p:cNvPr>
          <p:cNvSpPr>
            <a:spLocks noGrp="1"/>
          </p:cNvSpPr>
          <p:nvPr>
            <p:ph type="sldNum" sz="quarter" idx="12"/>
          </p:nvPr>
        </p:nvSpPr>
        <p:spPr/>
        <p:txBody>
          <a:bodyPr/>
          <a:lstStyle>
            <a:lvl1pPr>
              <a:defRPr/>
            </a:lvl1pPr>
          </a:lstStyle>
          <a:p>
            <a:pPr>
              <a:defRPr/>
            </a:pPr>
            <a:fld id="{4012F8A1-7795-457A-B26E-2F698AF97DD1}" type="slidenum">
              <a:rPr lang="en-US"/>
              <a:pPr>
                <a:defRPr/>
              </a:pPr>
              <a:t>‹#›</a:t>
            </a:fld>
            <a:endParaRPr lang="en-US"/>
          </a:p>
        </p:txBody>
      </p:sp>
    </p:spTree>
    <p:extLst>
      <p:ext uri="{BB962C8B-B14F-4D97-AF65-F5344CB8AC3E}">
        <p14:creationId xmlns:p14="http://schemas.microsoft.com/office/powerpoint/2010/main" val="5313102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F695D227-E5BE-A460-5F09-1F9055719BDF}"/>
              </a:ext>
            </a:extLst>
          </p:cNvPr>
          <p:cNvSpPr>
            <a:spLocks noGrp="1"/>
          </p:cNvSpPr>
          <p:nvPr>
            <p:ph type="dt" sz="half" idx="10"/>
          </p:nvPr>
        </p:nvSpPr>
        <p:spPr/>
        <p:txBody>
          <a:bodyPr/>
          <a:lstStyle>
            <a:lvl1pPr>
              <a:defRPr/>
            </a:lvl1pPr>
          </a:lstStyle>
          <a:p>
            <a:pPr>
              <a:defRPr/>
            </a:pPr>
            <a:fld id="{99FB7C7D-0EF0-433A-A158-D954211FDCEA}" type="datetimeFigureOut">
              <a:rPr lang="en-US"/>
              <a:pPr>
                <a:defRPr/>
              </a:pPr>
              <a:t>2/28/2026</a:t>
            </a:fld>
            <a:endParaRPr lang="en-US"/>
          </a:p>
        </p:txBody>
      </p:sp>
      <p:sp>
        <p:nvSpPr>
          <p:cNvPr id="6" name="Footer Placeholder 4">
            <a:extLst>
              <a:ext uri="{FF2B5EF4-FFF2-40B4-BE49-F238E27FC236}">
                <a16:creationId xmlns:a16="http://schemas.microsoft.com/office/drawing/2014/main" id="{8814F064-9C59-FC71-FE9D-EFC388A21A12}"/>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1C4971BB-EE78-9045-35EB-EAEAD3788F7D}"/>
              </a:ext>
            </a:extLst>
          </p:cNvPr>
          <p:cNvSpPr>
            <a:spLocks noGrp="1"/>
          </p:cNvSpPr>
          <p:nvPr>
            <p:ph type="sldNum" sz="quarter" idx="12"/>
          </p:nvPr>
        </p:nvSpPr>
        <p:spPr/>
        <p:txBody>
          <a:bodyPr/>
          <a:lstStyle>
            <a:lvl1pPr>
              <a:defRPr/>
            </a:lvl1pPr>
          </a:lstStyle>
          <a:p>
            <a:pPr>
              <a:defRPr/>
            </a:pPr>
            <a:fld id="{72F2EFB2-37D8-4DC3-806E-378DB491792E}" type="slidenum">
              <a:rPr lang="en-US"/>
              <a:pPr>
                <a:defRPr/>
              </a:pPr>
              <a:t>‹#›</a:t>
            </a:fld>
            <a:endParaRPr lang="en-US"/>
          </a:p>
        </p:txBody>
      </p:sp>
    </p:spTree>
    <p:extLst>
      <p:ext uri="{BB962C8B-B14F-4D97-AF65-F5344CB8AC3E}">
        <p14:creationId xmlns:p14="http://schemas.microsoft.com/office/powerpoint/2010/main" val="39354756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07A7EBB3-B0A4-EA69-E9CA-0985BAAEBAE5}"/>
              </a:ext>
            </a:extLst>
          </p:cNvPr>
          <p:cNvSpPr>
            <a:spLocks noGrp="1"/>
          </p:cNvSpPr>
          <p:nvPr>
            <p:ph type="dt" sz="half" idx="10"/>
          </p:nvPr>
        </p:nvSpPr>
        <p:spPr/>
        <p:txBody>
          <a:bodyPr/>
          <a:lstStyle>
            <a:lvl1pPr>
              <a:defRPr/>
            </a:lvl1pPr>
          </a:lstStyle>
          <a:p>
            <a:pPr>
              <a:defRPr/>
            </a:pPr>
            <a:fld id="{A8DCD58A-9E53-40B7-91B5-D78D54C50863}" type="datetimeFigureOut">
              <a:rPr lang="en-US"/>
              <a:pPr>
                <a:defRPr/>
              </a:pPr>
              <a:t>2/28/2026</a:t>
            </a:fld>
            <a:endParaRPr lang="en-US"/>
          </a:p>
        </p:txBody>
      </p:sp>
      <p:sp>
        <p:nvSpPr>
          <p:cNvPr id="6" name="Footer Placeholder 4">
            <a:extLst>
              <a:ext uri="{FF2B5EF4-FFF2-40B4-BE49-F238E27FC236}">
                <a16:creationId xmlns:a16="http://schemas.microsoft.com/office/drawing/2014/main" id="{58607FD6-8B6E-9FF7-CC1D-3F68C1285617}"/>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9BC2F10B-B6BB-4266-7A09-AA5305C779C5}"/>
              </a:ext>
            </a:extLst>
          </p:cNvPr>
          <p:cNvSpPr>
            <a:spLocks noGrp="1"/>
          </p:cNvSpPr>
          <p:nvPr>
            <p:ph type="sldNum" sz="quarter" idx="12"/>
          </p:nvPr>
        </p:nvSpPr>
        <p:spPr/>
        <p:txBody>
          <a:bodyPr/>
          <a:lstStyle>
            <a:lvl1pPr>
              <a:defRPr/>
            </a:lvl1pPr>
          </a:lstStyle>
          <a:p>
            <a:pPr>
              <a:defRPr/>
            </a:pPr>
            <a:fld id="{F787A95C-16B5-47B6-88F5-78D855BA08A8}" type="slidenum">
              <a:rPr lang="en-US"/>
              <a:pPr>
                <a:defRPr/>
              </a:pPr>
              <a:t>‹#›</a:t>
            </a:fld>
            <a:endParaRPr lang="en-US"/>
          </a:p>
        </p:txBody>
      </p:sp>
    </p:spTree>
    <p:extLst>
      <p:ext uri="{BB962C8B-B14F-4D97-AF65-F5344CB8AC3E}">
        <p14:creationId xmlns:p14="http://schemas.microsoft.com/office/powerpoint/2010/main" val="820991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3CD352-C3E2-E523-FB8D-56B030422F13}"/>
              </a:ext>
            </a:extLst>
          </p:cNvPr>
          <p:cNvSpPr>
            <a:spLocks noGrp="1"/>
          </p:cNvSpPr>
          <p:nvPr>
            <p:ph type="dt" sz="half" idx="10"/>
          </p:nvPr>
        </p:nvSpPr>
        <p:spPr/>
        <p:txBody>
          <a:bodyPr/>
          <a:lstStyle>
            <a:lvl1pPr>
              <a:defRPr/>
            </a:lvl1pPr>
          </a:lstStyle>
          <a:p>
            <a:pPr>
              <a:defRPr/>
            </a:pPr>
            <a:fld id="{BCFCA797-6012-426C-A733-58C7CA33B43A}" type="datetimeFigureOut">
              <a:rPr lang="en-US"/>
              <a:pPr>
                <a:defRPr/>
              </a:pPr>
              <a:t>2/28/2026</a:t>
            </a:fld>
            <a:endParaRPr lang="en-US"/>
          </a:p>
        </p:txBody>
      </p:sp>
      <p:sp>
        <p:nvSpPr>
          <p:cNvPr id="5" name="Footer Placeholder 4">
            <a:extLst>
              <a:ext uri="{FF2B5EF4-FFF2-40B4-BE49-F238E27FC236}">
                <a16:creationId xmlns:a16="http://schemas.microsoft.com/office/drawing/2014/main" id="{6702BDAC-6D49-AB0E-F080-A747A920F7D3}"/>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FCFCE322-F9D8-741C-3B24-FC74CB11F1BA}"/>
              </a:ext>
            </a:extLst>
          </p:cNvPr>
          <p:cNvSpPr>
            <a:spLocks noGrp="1"/>
          </p:cNvSpPr>
          <p:nvPr>
            <p:ph type="sldNum" sz="quarter" idx="12"/>
          </p:nvPr>
        </p:nvSpPr>
        <p:spPr/>
        <p:txBody>
          <a:bodyPr/>
          <a:lstStyle>
            <a:lvl1pPr>
              <a:defRPr/>
            </a:lvl1pPr>
          </a:lstStyle>
          <a:p>
            <a:pPr>
              <a:defRPr/>
            </a:pPr>
            <a:fld id="{67DA5518-0274-4B00-883E-8CB81393956C}" type="slidenum">
              <a:rPr lang="en-US"/>
              <a:pPr>
                <a:defRPr/>
              </a:pPr>
              <a:t>‹#›</a:t>
            </a:fld>
            <a:endParaRPr lang="en-US"/>
          </a:p>
        </p:txBody>
      </p:sp>
    </p:spTree>
    <p:extLst>
      <p:ext uri="{BB962C8B-B14F-4D97-AF65-F5344CB8AC3E}">
        <p14:creationId xmlns:p14="http://schemas.microsoft.com/office/powerpoint/2010/main" val="3670079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9FE00A-460C-B3A4-B446-A75E6C44A320}"/>
              </a:ext>
            </a:extLst>
          </p:cNvPr>
          <p:cNvSpPr>
            <a:spLocks noGrp="1"/>
          </p:cNvSpPr>
          <p:nvPr>
            <p:ph type="dt" sz="half" idx="10"/>
          </p:nvPr>
        </p:nvSpPr>
        <p:spPr/>
        <p:txBody>
          <a:bodyPr/>
          <a:lstStyle>
            <a:lvl1pPr>
              <a:defRPr/>
            </a:lvl1pPr>
          </a:lstStyle>
          <a:p>
            <a:pPr>
              <a:defRPr/>
            </a:pPr>
            <a:fld id="{7F7C6236-89DB-4685-AB94-E8BAA4091AA8}" type="datetimeFigureOut">
              <a:rPr lang="en-US"/>
              <a:pPr>
                <a:defRPr/>
              </a:pPr>
              <a:t>2/28/2026</a:t>
            </a:fld>
            <a:endParaRPr lang="en-US"/>
          </a:p>
        </p:txBody>
      </p:sp>
      <p:sp>
        <p:nvSpPr>
          <p:cNvPr id="5" name="Footer Placeholder 4">
            <a:extLst>
              <a:ext uri="{FF2B5EF4-FFF2-40B4-BE49-F238E27FC236}">
                <a16:creationId xmlns:a16="http://schemas.microsoft.com/office/drawing/2014/main" id="{D1127D7F-A010-8B45-5413-508807066B8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7E358C09-8128-F895-6276-8D2C7851F8A4}"/>
              </a:ext>
            </a:extLst>
          </p:cNvPr>
          <p:cNvSpPr>
            <a:spLocks noGrp="1"/>
          </p:cNvSpPr>
          <p:nvPr>
            <p:ph type="sldNum" sz="quarter" idx="12"/>
          </p:nvPr>
        </p:nvSpPr>
        <p:spPr/>
        <p:txBody>
          <a:bodyPr/>
          <a:lstStyle>
            <a:lvl1pPr>
              <a:defRPr/>
            </a:lvl1pPr>
          </a:lstStyle>
          <a:p>
            <a:pPr>
              <a:defRPr/>
            </a:pPr>
            <a:fld id="{D6DAB9EC-DD11-4FDE-BF8E-9B826E763AD9}" type="slidenum">
              <a:rPr lang="en-US"/>
              <a:pPr>
                <a:defRPr/>
              </a:pPr>
              <a:t>‹#›</a:t>
            </a:fld>
            <a:endParaRPr lang="en-US"/>
          </a:p>
        </p:txBody>
      </p:sp>
    </p:spTree>
    <p:extLst>
      <p:ext uri="{BB962C8B-B14F-4D97-AF65-F5344CB8AC3E}">
        <p14:creationId xmlns:p14="http://schemas.microsoft.com/office/powerpoint/2010/main" val="9599877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reserve="1">
  <p:cSld name="Title Slide">
    <p:spTree>
      <p:nvGrpSpPr>
        <p:cNvPr id="1" name=""/>
        <p:cNvGrpSpPr/>
        <p:nvPr/>
      </p:nvGrpSpPr>
      <p:grpSpPr>
        <a:xfrm>
          <a:off x="0" y="0"/>
          <a:ext cx="0" cy="0"/>
          <a:chOff x="0" y="0"/>
          <a:chExt cx="0" cy="0"/>
        </a:xfrm>
      </p:grpSpPr>
      <p:sp>
        <p:nvSpPr>
          <p:cNvPr id="4" name="bg object 16">
            <a:extLst>
              <a:ext uri="{FF2B5EF4-FFF2-40B4-BE49-F238E27FC236}">
                <a16:creationId xmlns:a16="http://schemas.microsoft.com/office/drawing/2014/main" id="{84A2777A-D9F9-172F-66B7-D23B9F88E1D8}"/>
              </a:ext>
            </a:extLst>
          </p:cNvPr>
          <p:cNvSpPr>
            <a:spLocks/>
          </p:cNvSpPr>
          <p:nvPr/>
        </p:nvSpPr>
        <p:spPr bwMode="auto">
          <a:xfrm>
            <a:off x="0" y="0"/>
            <a:ext cx="18288000" cy="10287000"/>
          </a:xfrm>
          <a:custGeom>
            <a:avLst/>
            <a:gdLst>
              <a:gd name="T0" fmla="*/ 18288000 w 12192000"/>
              <a:gd name="T1" fmla="*/ 0 h 6858000"/>
              <a:gd name="T2" fmla="*/ 0 w 12192000"/>
              <a:gd name="T3" fmla="*/ 0 h 6858000"/>
              <a:gd name="T4" fmla="*/ 0 w 12192000"/>
              <a:gd name="T5" fmla="*/ 10287000 h 6858000"/>
              <a:gd name="T6" fmla="*/ 18288000 w 12192000"/>
              <a:gd name="T7" fmla="*/ 10287000 h 6858000"/>
              <a:gd name="T8" fmla="*/ 18288000 w 12192000"/>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192000" h="6858000">
                <a:moveTo>
                  <a:pt x="12192000" y="0"/>
                </a:moveTo>
                <a:lnTo>
                  <a:pt x="0" y="0"/>
                </a:lnTo>
                <a:lnTo>
                  <a:pt x="0" y="6858000"/>
                </a:lnTo>
                <a:lnTo>
                  <a:pt x="12192000" y="6858000"/>
                </a:lnTo>
                <a:lnTo>
                  <a:pt x="12192000" y="0"/>
                </a:lnTo>
                <a:close/>
              </a:path>
            </a:pathLst>
          </a:custGeom>
          <a:solidFill>
            <a:srgbClr val="F5F5F5"/>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pic>
        <p:nvPicPr>
          <p:cNvPr id="5" name="bg object 17">
            <a:extLst>
              <a:ext uri="{FF2B5EF4-FFF2-40B4-BE49-F238E27FC236}">
                <a16:creationId xmlns:a16="http://schemas.microsoft.com/office/drawing/2014/main" id="{5F2DF38F-C40A-D3F9-1488-90DC1AB3A4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53313" y="0"/>
            <a:ext cx="10834687" cy="1028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bg object 18">
            <a:extLst>
              <a:ext uri="{FF2B5EF4-FFF2-40B4-BE49-F238E27FC236}">
                <a16:creationId xmlns:a16="http://schemas.microsoft.com/office/drawing/2014/main" id="{3FF570F8-DF03-D50B-A9B3-40EB44CE603A}"/>
              </a:ext>
            </a:extLst>
          </p:cNvPr>
          <p:cNvSpPr>
            <a:spLocks/>
          </p:cNvSpPr>
          <p:nvPr/>
        </p:nvSpPr>
        <p:spPr bwMode="auto">
          <a:xfrm>
            <a:off x="0" y="0"/>
            <a:ext cx="12788900" cy="10287000"/>
          </a:xfrm>
          <a:custGeom>
            <a:avLst/>
            <a:gdLst>
              <a:gd name="T0" fmla="*/ 12783966 w 8525510"/>
              <a:gd name="T1" fmla="*/ 4901375 h 6858000"/>
              <a:gd name="T2" fmla="*/ 12764819 w 8525510"/>
              <a:gd name="T3" fmla="*/ 4583049 h 6858000"/>
              <a:gd name="T4" fmla="*/ 12730871 w 8525510"/>
              <a:gd name="T5" fmla="*/ 4270457 h 6858000"/>
              <a:gd name="T6" fmla="*/ 12682576 w 8525510"/>
              <a:gd name="T7" fmla="*/ 3964133 h 6858000"/>
              <a:gd name="T8" fmla="*/ 12620356 w 8525510"/>
              <a:gd name="T9" fmla="*/ 3664706 h 6858000"/>
              <a:gd name="T10" fmla="*/ 12544704 w 8525510"/>
              <a:gd name="T11" fmla="*/ 3372726 h 6858000"/>
              <a:gd name="T12" fmla="*/ 12456060 w 8525510"/>
              <a:gd name="T13" fmla="*/ 3088805 h 6858000"/>
              <a:gd name="T14" fmla="*/ 12354900 w 8525510"/>
              <a:gd name="T15" fmla="*/ 2813532 h 6858000"/>
              <a:gd name="T16" fmla="*/ 12241643 w 8525510"/>
              <a:gd name="T17" fmla="*/ 2547461 h 6858000"/>
              <a:gd name="T18" fmla="*/ 12116763 w 8525510"/>
              <a:gd name="T19" fmla="*/ 2291201 h 6858000"/>
              <a:gd name="T20" fmla="*/ 11980720 w 8525510"/>
              <a:gd name="T21" fmla="*/ 2045340 h 6858000"/>
              <a:gd name="T22" fmla="*/ 11833971 w 8525510"/>
              <a:gd name="T23" fmla="*/ 1810454 h 6858000"/>
              <a:gd name="T24" fmla="*/ 11676973 w 8525510"/>
              <a:gd name="T25" fmla="*/ 1587131 h 6858000"/>
              <a:gd name="T26" fmla="*/ 11510162 w 8525510"/>
              <a:gd name="T27" fmla="*/ 1375962 h 6858000"/>
              <a:gd name="T28" fmla="*/ 11334017 w 8525510"/>
              <a:gd name="T29" fmla="*/ 1177518 h 6858000"/>
              <a:gd name="T30" fmla="*/ 11148975 w 8525510"/>
              <a:gd name="T31" fmla="*/ 992390 h 6858000"/>
              <a:gd name="T32" fmla="*/ 10955513 w 8525510"/>
              <a:gd name="T33" fmla="*/ 821169 h 6858000"/>
              <a:gd name="T34" fmla="*/ 10754068 w 8525510"/>
              <a:gd name="T35" fmla="*/ 664445 h 6858000"/>
              <a:gd name="T36" fmla="*/ 10545117 w 8525510"/>
              <a:gd name="T37" fmla="*/ 522789 h 6858000"/>
              <a:gd name="T38" fmla="*/ 10329079 w 8525510"/>
              <a:gd name="T39" fmla="*/ 396792 h 6858000"/>
              <a:gd name="T40" fmla="*/ 10106450 w 8525510"/>
              <a:gd name="T41" fmla="*/ 287045 h 6858000"/>
              <a:gd name="T42" fmla="*/ 9877668 w 8525510"/>
              <a:gd name="T43" fmla="*/ 194138 h 6858000"/>
              <a:gd name="T44" fmla="*/ 9643169 w 8525510"/>
              <a:gd name="T45" fmla="*/ 118643 h 6858000"/>
              <a:gd name="T46" fmla="*/ 9403451 w 8525510"/>
              <a:gd name="T47" fmla="*/ 61151 h 6858000"/>
              <a:gd name="T48" fmla="*/ 9158933 w 8525510"/>
              <a:gd name="T49" fmla="*/ 22230 h 6858000"/>
              <a:gd name="T50" fmla="*/ 8910088 w 8525510"/>
              <a:gd name="T51" fmla="*/ 2495 h 6858000"/>
              <a:gd name="T52" fmla="*/ 8678067 w 8525510"/>
              <a:gd name="T53" fmla="*/ 1923 h 6858000"/>
              <a:gd name="T54" fmla="*/ 8678067 w 8525510"/>
              <a:gd name="T55" fmla="*/ 10287000 h 6858000"/>
              <a:gd name="T56" fmla="*/ 8847259 w 8525510"/>
              <a:gd name="T57" fmla="*/ 10286390 h 6858000"/>
              <a:gd name="T58" fmla="*/ 9097112 w 8525510"/>
              <a:gd name="T59" fmla="*/ 10271531 h 6858000"/>
              <a:gd name="T60" fmla="*/ 9342755 w 8525510"/>
              <a:gd name="T61" fmla="*/ 10237356 h 6858000"/>
              <a:gd name="T62" fmla="*/ 9583712 w 8525510"/>
              <a:gd name="T63" fmla="*/ 10184454 h 6858000"/>
              <a:gd name="T64" fmla="*/ 9819563 w 8525510"/>
              <a:gd name="T65" fmla="*/ 10113416 h 6858000"/>
              <a:gd name="T66" fmla="*/ 10049812 w 8525510"/>
              <a:gd name="T67" fmla="*/ 10024796 h 6858000"/>
              <a:gd name="T68" fmla="*/ 10274022 w 8525510"/>
              <a:gd name="T69" fmla="*/ 9919202 h 6858000"/>
              <a:gd name="T70" fmla="*/ 10491756 w 8525510"/>
              <a:gd name="T71" fmla="*/ 9797225 h 6858000"/>
              <a:gd name="T72" fmla="*/ 10702517 w 8525510"/>
              <a:gd name="T73" fmla="*/ 9659417 h 6858000"/>
              <a:gd name="T74" fmla="*/ 10905885 w 8525510"/>
              <a:gd name="T75" fmla="*/ 9506408 h 6858000"/>
              <a:gd name="T76" fmla="*/ 11101387 w 8525510"/>
              <a:gd name="T77" fmla="*/ 9338768 h 6858000"/>
              <a:gd name="T78" fmla="*/ 11288581 w 8525510"/>
              <a:gd name="T79" fmla="*/ 9157049 h 6858000"/>
              <a:gd name="T80" fmla="*/ 11466992 w 8525510"/>
              <a:gd name="T81" fmla="*/ 8961900 h 6858000"/>
              <a:gd name="T82" fmla="*/ 11636165 w 8525510"/>
              <a:gd name="T83" fmla="*/ 8753837 h 6858000"/>
              <a:gd name="T84" fmla="*/ 11795660 w 8525510"/>
              <a:gd name="T85" fmla="*/ 8533505 h 6858000"/>
              <a:gd name="T86" fmla="*/ 11945020 w 8525510"/>
              <a:gd name="T87" fmla="*/ 8301456 h 6858000"/>
              <a:gd name="T88" fmla="*/ 12083785 w 8525510"/>
              <a:gd name="T89" fmla="*/ 8058284 h 6858000"/>
              <a:gd name="T90" fmla="*/ 12211503 w 8525510"/>
              <a:gd name="T91" fmla="*/ 7804556 h 6858000"/>
              <a:gd name="T92" fmla="*/ 12327696 w 8525510"/>
              <a:gd name="T93" fmla="*/ 7540904 h 6858000"/>
              <a:gd name="T94" fmla="*/ 12431923 w 8525510"/>
              <a:gd name="T95" fmla="*/ 7267860 h 6858000"/>
              <a:gd name="T96" fmla="*/ 12523748 w 8525510"/>
              <a:gd name="T97" fmla="*/ 6986054 h 6858000"/>
              <a:gd name="T98" fmla="*/ 12602696 w 8525510"/>
              <a:gd name="T99" fmla="*/ 6696036 h 6858000"/>
              <a:gd name="T100" fmla="*/ 12668308 w 8525510"/>
              <a:gd name="T101" fmla="*/ 6398418 h 6858000"/>
              <a:gd name="T102" fmla="*/ 12720126 w 8525510"/>
              <a:gd name="T103" fmla="*/ 6093771 h 6858000"/>
              <a:gd name="T104" fmla="*/ 12757713 w 8525510"/>
              <a:gd name="T105" fmla="*/ 5782665 h 6858000"/>
              <a:gd name="T106" fmla="*/ 12780594 w 8525510"/>
              <a:gd name="T107" fmla="*/ 5465730 h 6858000"/>
              <a:gd name="T108" fmla="*/ 12788328 w 8525510"/>
              <a:gd name="T109" fmla="*/ 5143500 h 6858000"/>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8525510" h="6858000">
                <a:moveTo>
                  <a:pt x="8525129" y="3429000"/>
                </a:moveTo>
                <a:lnTo>
                  <a:pt x="8524799" y="3374999"/>
                </a:lnTo>
                <a:lnTo>
                  <a:pt x="8523834" y="3321189"/>
                </a:lnTo>
                <a:lnTo>
                  <a:pt x="8522221" y="3267583"/>
                </a:lnTo>
                <a:lnTo>
                  <a:pt x="8519973" y="3214192"/>
                </a:lnTo>
                <a:lnTo>
                  <a:pt x="8517090" y="3161030"/>
                </a:lnTo>
                <a:lnTo>
                  <a:pt x="8513585" y="3108083"/>
                </a:lnTo>
                <a:lnTo>
                  <a:pt x="8509457" y="3055366"/>
                </a:lnTo>
                <a:lnTo>
                  <a:pt x="8504720" y="3002902"/>
                </a:lnTo>
                <a:lnTo>
                  <a:pt x="8499361" y="2950667"/>
                </a:lnTo>
                <a:lnTo>
                  <a:pt x="8493392" y="2898686"/>
                </a:lnTo>
                <a:lnTo>
                  <a:pt x="8486826" y="2846971"/>
                </a:lnTo>
                <a:lnTo>
                  <a:pt x="8479663" y="2795498"/>
                </a:lnTo>
                <a:lnTo>
                  <a:pt x="8471903" y="2744317"/>
                </a:lnTo>
                <a:lnTo>
                  <a:pt x="8463559" y="2693390"/>
                </a:lnTo>
                <a:lnTo>
                  <a:pt x="8454631" y="2642755"/>
                </a:lnTo>
                <a:lnTo>
                  <a:pt x="8445119" y="2592400"/>
                </a:lnTo>
                <a:lnTo>
                  <a:pt x="8435035" y="2542349"/>
                </a:lnTo>
                <a:lnTo>
                  <a:pt x="8424380" y="2492591"/>
                </a:lnTo>
                <a:lnTo>
                  <a:pt x="8413153" y="2443137"/>
                </a:lnTo>
                <a:lnTo>
                  <a:pt x="8401380" y="2393988"/>
                </a:lnTo>
                <a:lnTo>
                  <a:pt x="8389036" y="2345156"/>
                </a:lnTo>
                <a:lnTo>
                  <a:pt x="8376158" y="2296655"/>
                </a:lnTo>
                <a:lnTo>
                  <a:pt x="8362721" y="2248484"/>
                </a:lnTo>
                <a:lnTo>
                  <a:pt x="8348751" y="2200643"/>
                </a:lnTo>
                <a:lnTo>
                  <a:pt x="8334248" y="2153145"/>
                </a:lnTo>
                <a:lnTo>
                  <a:pt x="8319198" y="2106003"/>
                </a:lnTo>
                <a:lnTo>
                  <a:pt x="8303628" y="2059203"/>
                </a:lnTo>
                <a:lnTo>
                  <a:pt x="8287537" y="2012772"/>
                </a:lnTo>
                <a:lnTo>
                  <a:pt x="8270938" y="1966696"/>
                </a:lnTo>
                <a:lnTo>
                  <a:pt x="8253819" y="1921002"/>
                </a:lnTo>
                <a:lnTo>
                  <a:pt x="8236191" y="1875688"/>
                </a:lnTo>
                <a:lnTo>
                  <a:pt x="8218056" y="1830743"/>
                </a:lnTo>
                <a:lnTo>
                  <a:pt x="8199425" y="1786204"/>
                </a:lnTo>
                <a:lnTo>
                  <a:pt x="8180298" y="1742059"/>
                </a:lnTo>
                <a:lnTo>
                  <a:pt x="8160690" y="1698307"/>
                </a:lnTo>
                <a:lnTo>
                  <a:pt x="8140598" y="1654975"/>
                </a:lnTo>
                <a:lnTo>
                  <a:pt x="8120012" y="1612049"/>
                </a:lnTo>
                <a:lnTo>
                  <a:pt x="8098968" y="1569542"/>
                </a:lnTo>
                <a:lnTo>
                  <a:pt x="8077441" y="1527467"/>
                </a:lnTo>
                <a:lnTo>
                  <a:pt x="8055457" y="1485823"/>
                </a:lnTo>
                <a:lnTo>
                  <a:pt x="8033017" y="1444625"/>
                </a:lnTo>
                <a:lnTo>
                  <a:pt x="8010106" y="1403870"/>
                </a:lnTo>
                <a:lnTo>
                  <a:pt x="7986750" y="1363560"/>
                </a:lnTo>
                <a:lnTo>
                  <a:pt x="7962951" y="1323708"/>
                </a:lnTo>
                <a:lnTo>
                  <a:pt x="7938719" y="1284325"/>
                </a:lnTo>
                <a:lnTo>
                  <a:pt x="7914030" y="1245412"/>
                </a:lnTo>
                <a:lnTo>
                  <a:pt x="7888922" y="1206969"/>
                </a:lnTo>
                <a:lnTo>
                  <a:pt x="7863383" y="1169009"/>
                </a:lnTo>
                <a:lnTo>
                  <a:pt x="7837424" y="1131544"/>
                </a:lnTo>
                <a:lnTo>
                  <a:pt x="7811046" y="1094562"/>
                </a:lnTo>
                <a:lnTo>
                  <a:pt x="7784262" y="1058087"/>
                </a:lnTo>
                <a:lnTo>
                  <a:pt x="7757058" y="1022121"/>
                </a:lnTo>
                <a:lnTo>
                  <a:pt x="7729461" y="986663"/>
                </a:lnTo>
                <a:lnTo>
                  <a:pt x="7701458" y="951712"/>
                </a:lnTo>
                <a:lnTo>
                  <a:pt x="7673060" y="917308"/>
                </a:lnTo>
                <a:lnTo>
                  <a:pt x="7644282" y="883412"/>
                </a:lnTo>
                <a:lnTo>
                  <a:pt x="7615110" y="850074"/>
                </a:lnTo>
                <a:lnTo>
                  <a:pt x="7585557" y="817270"/>
                </a:lnTo>
                <a:lnTo>
                  <a:pt x="7555636" y="785012"/>
                </a:lnTo>
                <a:lnTo>
                  <a:pt x="7525347" y="753300"/>
                </a:lnTo>
                <a:lnTo>
                  <a:pt x="7494689" y="722160"/>
                </a:lnTo>
                <a:lnTo>
                  <a:pt x="7463663" y="691591"/>
                </a:lnTo>
                <a:lnTo>
                  <a:pt x="7432281" y="661593"/>
                </a:lnTo>
                <a:lnTo>
                  <a:pt x="7400557" y="632167"/>
                </a:lnTo>
                <a:lnTo>
                  <a:pt x="7368489" y="603338"/>
                </a:lnTo>
                <a:lnTo>
                  <a:pt x="7336066" y="575094"/>
                </a:lnTo>
                <a:lnTo>
                  <a:pt x="7303313" y="547446"/>
                </a:lnTo>
                <a:lnTo>
                  <a:pt x="7270229" y="520407"/>
                </a:lnTo>
                <a:lnTo>
                  <a:pt x="7236815" y="493979"/>
                </a:lnTo>
                <a:lnTo>
                  <a:pt x="7203084" y="468160"/>
                </a:lnTo>
                <a:lnTo>
                  <a:pt x="7169023" y="442963"/>
                </a:lnTo>
                <a:lnTo>
                  <a:pt x="7134657" y="418401"/>
                </a:lnTo>
                <a:lnTo>
                  <a:pt x="7099986" y="394462"/>
                </a:lnTo>
                <a:lnTo>
                  <a:pt x="7065010" y="371170"/>
                </a:lnTo>
                <a:lnTo>
                  <a:pt x="7029729" y="348526"/>
                </a:lnTo>
                <a:lnTo>
                  <a:pt x="6994157" y="326529"/>
                </a:lnTo>
                <a:lnTo>
                  <a:pt x="6958292" y="305206"/>
                </a:lnTo>
                <a:lnTo>
                  <a:pt x="6922148" y="284530"/>
                </a:lnTo>
                <a:lnTo>
                  <a:pt x="6885711" y="264528"/>
                </a:lnTo>
                <a:lnTo>
                  <a:pt x="6849008" y="245211"/>
                </a:lnTo>
                <a:lnTo>
                  <a:pt x="6812039" y="226568"/>
                </a:lnTo>
                <a:lnTo>
                  <a:pt x="6774802" y="208622"/>
                </a:lnTo>
                <a:lnTo>
                  <a:pt x="6737299" y="191363"/>
                </a:lnTo>
                <a:lnTo>
                  <a:pt x="6699542" y="174815"/>
                </a:lnTo>
                <a:lnTo>
                  <a:pt x="6661531" y="158965"/>
                </a:lnTo>
                <a:lnTo>
                  <a:pt x="6623278" y="143840"/>
                </a:lnTo>
                <a:lnTo>
                  <a:pt x="6584785" y="129425"/>
                </a:lnTo>
                <a:lnTo>
                  <a:pt x="6546050" y="115735"/>
                </a:lnTo>
                <a:lnTo>
                  <a:pt x="6507073" y="102781"/>
                </a:lnTo>
                <a:lnTo>
                  <a:pt x="6467881" y="90563"/>
                </a:lnTo>
                <a:lnTo>
                  <a:pt x="6428460" y="79095"/>
                </a:lnTo>
                <a:lnTo>
                  <a:pt x="6388824" y="68376"/>
                </a:lnTo>
                <a:lnTo>
                  <a:pt x="6348971" y="58407"/>
                </a:lnTo>
                <a:lnTo>
                  <a:pt x="6308915" y="49199"/>
                </a:lnTo>
                <a:lnTo>
                  <a:pt x="6268656" y="40767"/>
                </a:lnTo>
                <a:lnTo>
                  <a:pt x="6228194" y="33096"/>
                </a:lnTo>
                <a:lnTo>
                  <a:pt x="6187529" y="26225"/>
                </a:lnTo>
                <a:lnTo>
                  <a:pt x="6146685" y="20129"/>
                </a:lnTo>
                <a:lnTo>
                  <a:pt x="6105652" y="14820"/>
                </a:lnTo>
                <a:lnTo>
                  <a:pt x="6064440" y="10325"/>
                </a:lnTo>
                <a:lnTo>
                  <a:pt x="6023051" y="6629"/>
                </a:lnTo>
                <a:lnTo>
                  <a:pt x="5981497" y="3733"/>
                </a:lnTo>
                <a:lnTo>
                  <a:pt x="5939764" y="1663"/>
                </a:lnTo>
                <a:lnTo>
                  <a:pt x="5897880" y="419"/>
                </a:lnTo>
                <a:lnTo>
                  <a:pt x="5855843" y="0"/>
                </a:lnTo>
                <a:lnTo>
                  <a:pt x="5813793" y="419"/>
                </a:lnTo>
                <a:lnTo>
                  <a:pt x="5785091" y="1282"/>
                </a:lnTo>
                <a:lnTo>
                  <a:pt x="5785091" y="0"/>
                </a:lnTo>
                <a:lnTo>
                  <a:pt x="0" y="0"/>
                </a:lnTo>
                <a:lnTo>
                  <a:pt x="0" y="6858000"/>
                </a:lnTo>
                <a:lnTo>
                  <a:pt x="5785091" y="6858000"/>
                </a:lnTo>
                <a:lnTo>
                  <a:pt x="5785091" y="6856743"/>
                </a:lnTo>
                <a:lnTo>
                  <a:pt x="5813793" y="6857593"/>
                </a:lnTo>
                <a:lnTo>
                  <a:pt x="5855843" y="6858000"/>
                </a:lnTo>
                <a:lnTo>
                  <a:pt x="5897880" y="6857593"/>
                </a:lnTo>
                <a:lnTo>
                  <a:pt x="5939764" y="6856349"/>
                </a:lnTo>
                <a:lnTo>
                  <a:pt x="5981497" y="6854279"/>
                </a:lnTo>
                <a:lnTo>
                  <a:pt x="6023051" y="6851383"/>
                </a:lnTo>
                <a:lnTo>
                  <a:pt x="6064440" y="6847687"/>
                </a:lnTo>
                <a:lnTo>
                  <a:pt x="6105652" y="6843192"/>
                </a:lnTo>
                <a:lnTo>
                  <a:pt x="6146685" y="6837883"/>
                </a:lnTo>
                <a:lnTo>
                  <a:pt x="6187529" y="6831787"/>
                </a:lnTo>
                <a:lnTo>
                  <a:pt x="6228194" y="6824904"/>
                </a:lnTo>
                <a:lnTo>
                  <a:pt x="6268656" y="6817246"/>
                </a:lnTo>
                <a:lnTo>
                  <a:pt x="6308915" y="6808813"/>
                </a:lnTo>
                <a:lnTo>
                  <a:pt x="6348971" y="6799605"/>
                </a:lnTo>
                <a:lnTo>
                  <a:pt x="6388824" y="6789636"/>
                </a:lnTo>
                <a:lnTo>
                  <a:pt x="6428460" y="6778917"/>
                </a:lnTo>
                <a:lnTo>
                  <a:pt x="6467881" y="6767449"/>
                </a:lnTo>
                <a:lnTo>
                  <a:pt x="6507073" y="6755231"/>
                </a:lnTo>
                <a:lnTo>
                  <a:pt x="6546050" y="6742277"/>
                </a:lnTo>
                <a:lnTo>
                  <a:pt x="6584785" y="6728587"/>
                </a:lnTo>
                <a:lnTo>
                  <a:pt x="6623278" y="6714172"/>
                </a:lnTo>
                <a:lnTo>
                  <a:pt x="6661531" y="6699047"/>
                </a:lnTo>
                <a:lnTo>
                  <a:pt x="6699542" y="6683197"/>
                </a:lnTo>
                <a:lnTo>
                  <a:pt x="6737299" y="6666649"/>
                </a:lnTo>
                <a:lnTo>
                  <a:pt x="6774802" y="6649390"/>
                </a:lnTo>
                <a:lnTo>
                  <a:pt x="6812039" y="6631445"/>
                </a:lnTo>
                <a:lnTo>
                  <a:pt x="6849008" y="6612801"/>
                </a:lnTo>
                <a:lnTo>
                  <a:pt x="6885711" y="6593484"/>
                </a:lnTo>
                <a:lnTo>
                  <a:pt x="6922148" y="6573482"/>
                </a:lnTo>
                <a:lnTo>
                  <a:pt x="6958292" y="6552806"/>
                </a:lnTo>
                <a:lnTo>
                  <a:pt x="6994157" y="6531483"/>
                </a:lnTo>
                <a:lnTo>
                  <a:pt x="7029729" y="6509486"/>
                </a:lnTo>
                <a:lnTo>
                  <a:pt x="7065010" y="6486842"/>
                </a:lnTo>
                <a:lnTo>
                  <a:pt x="7099986" y="6463551"/>
                </a:lnTo>
                <a:lnTo>
                  <a:pt x="7134657" y="6439611"/>
                </a:lnTo>
                <a:lnTo>
                  <a:pt x="7169023" y="6415049"/>
                </a:lnTo>
                <a:lnTo>
                  <a:pt x="7203084" y="6389852"/>
                </a:lnTo>
                <a:lnTo>
                  <a:pt x="7236815" y="6364033"/>
                </a:lnTo>
                <a:lnTo>
                  <a:pt x="7270229" y="6337605"/>
                </a:lnTo>
                <a:lnTo>
                  <a:pt x="7303313" y="6310566"/>
                </a:lnTo>
                <a:lnTo>
                  <a:pt x="7336066" y="6282918"/>
                </a:lnTo>
                <a:lnTo>
                  <a:pt x="7368489" y="6254674"/>
                </a:lnTo>
                <a:lnTo>
                  <a:pt x="7400557" y="6225845"/>
                </a:lnTo>
                <a:lnTo>
                  <a:pt x="7432281" y="6196419"/>
                </a:lnTo>
                <a:lnTo>
                  <a:pt x="7463663" y="6166421"/>
                </a:lnTo>
                <a:lnTo>
                  <a:pt x="7494689" y="6135840"/>
                </a:lnTo>
                <a:lnTo>
                  <a:pt x="7525347" y="6104699"/>
                </a:lnTo>
                <a:lnTo>
                  <a:pt x="7555636" y="6073000"/>
                </a:lnTo>
                <a:lnTo>
                  <a:pt x="7585557" y="6040742"/>
                </a:lnTo>
                <a:lnTo>
                  <a:pt x="7615110" y="6007938"/>
                </a:lnTo>
                <a:lnTo>
                  <a:pt x="7644282" y="5974600"/>
                </a:lnTo>
                <a:lnTo>
                  <a:pt x="7673060" y="5940704"/>
                </a:lnTo>
                <a:lnTo>
                  <a:pt x="7701458" y="5906300"/>
                </a:lnTo>
                <a:lnTo>
                  <a:pt x="7729461" y="5871349"/>
                </a:lnTo>
                <a:lnTo>
                  <a:pt x="7757058" y="5835891"/>
                </a:lnTo>
                <a:lnTo>
                  <a:pt x="7784262" y="5799925"/>
                </a:lnTo>
                <a:lnTo>
                  <a:pt x="7811046" y="5763450"/>
                </a:lnTo>
                <a:lnTo>
                  <a:pt x="7837424" y="5726468"/>
                </a:lnTo>
                <a:lnTo>
                  <a:pt x="7863383" y="5689003"/>
                </a:lnTo>
                <a:lnTo>
                  <a:pt x="7888922" y="5651043"/>
                </a:lnTo>
                <a:lnTo>
                  <a:pt x="7914030" y="5612600"/>
                </a:lnTo>
                <a:lnTo>
                  <a:pt x="7938719" y="5573687"/>
                </a:lnTo>
                <a:lnTo>
                  <a:pt x="7962951" y="5534304"/>
                </a:lnTo>
                <a:lnTo>
                  <a:pt x="7986750" y="5494452"/>
                </a:lnTo>
                <a:lnTo>
                  <a:pt x="8010106" y="5454142"/>
                </a:lnTo>
                <a:lnTo>
                  <a:pt x="8033017" y="5413387"/>
                </a:lnTo>
                <a:lnTo>
                  <a:pt x="8055457" y="5372189"/>
                </a:lnTo>
                <a:lnTo>
                  <a:pt x="8077441" y="5330545"/>
                </a:lnTo>
                <a:lnTo>
                  <a:pt x="8098968" y="5288470"/>
                </a:lnTo>
                <a:lnTo>
                  <a:pt x="8120012" y="5245963"/>
                </a:lnTo>
                <a:lnTo>
                  <a:pt x="8140598" y="5203037"/>
                </a:lnTo>
                <a:lnTo>
                  <a:pt x="8160690" y="5159705"/>
                </a:lnTo>
                <a:lnTo>
                  <a:pt x="8180298" y="5115953"/>
                </a:lnTo>
                <a:lnTo>
                  <a:pt x="8199425" y="5071808"/>
                </a:lnTo>
                <a:lnTo>
                  <a:pt x="8218056" y="5027269"/>
                </a:lnTo>
                <a:lnTo>
                  <a:pt x="8236191" y="4982324"/>
                </a:lnTo>
                <a:lnTo>
                  <a:pt x="8253819" y="4937010"/>
                </a:lnTo>
                <a:lnTo>
                  <a:pt x="8270938" y="4891316"/>
                </a:lnTo>
                <a:lnTo>
                  <a:pt x="8287537" y="4845240"/>
                </a:lnTo>
                <a:lnTo>
                  <a:pt x="8303628" y="4798809"/>
                </a:lnTo>
                <a:lnTo>
                  <a:pt x="8319198" y="4752010"/>
                </a:lnTo>
                <a:lnTo>
                  <a:pt x="8334248" y="4704867"/>
                </a:lnTo>
                <a:lnTo>
                  <a:pt x="8348751" y="4657369"/>
                </a:lnTo>
                <a:lnTo>
                  <a:pt x="8362721" y="4609528"/>
                </a:lnTo>
                <a:lnTo>
                  <a:pt x="8376158" y="4561357"/>
                </a:lnTo>
                <a:lnTo>
                  <a:pt x="8389036" y="4512856"/>
                </a:lnTo>
                <a:lnTo>
                  <a:pt x="8401380" y="4464024"/>
                </a:lnTo>
                <a:lnTo>
                  <a:pt x="8413153" y="4414875"/>
                </a:lnTo>
                <a:lnTo>
                  <a:pt x="8424380" y="4365422"/>
                </a:lnTo>
                <a:lnTo>
                  <a:pt x="8435035" y="4315663"/>
                </a:lnTo>
                <a:lnTo>
                  <a:pt x="8445119" y="4265612"/>
                </a:lnTo>
                <a:lnTo>
                  <a:pt x="8454631" y="4215257"/>
                </a:lnTo>
                <a:lnTo>
                  <a:pt x="8463559" y="4164622"/>
                </a:lnTo>
                <a:lnTo>
                  <a:pt x="8471903" y="4113695"/>
                </a:lnTo>
                <a:lnTo>
                  <a:pt x="8479663" y="4062514"/>
                </a:lnTo>
                <a:lnTo>
                  <a:pt x="8486826" y="4011041"/>
                </a:lnTo>
                <a:lnTo>
                  <a:pt x="8493392" y="3959326"/>
                </a:lnTo>
                <a:lnTo>
                  <a:pt x="8499361" y="3907345"/>
                </a:lnTo>
                <a:lnTo>
                  <a:pt x="8504720" y="3855110"/>
                </a:lnTo>
                <a:lnTo>
                  <a:pt x="8509457" y="3802646"/>
                </a:lnTo>
                <a:lnTo>
                  <a:pt x="8513585" y="3749929"/>
                </a:lnTo>
                <a:lnTo>
                  <a:pt x="8517090" y="3696982"/>
                </a:lnTo>
                <a:lnTo>
                  <a:pt x="8519973" y="3643820"/>
                </a:lnTo>
                <a:lnTo>
                  <a:pt x="8522221" y="3590429"/>
                </a:lnTo>
                <a:lnTo>
                  <a:pt x="8523834" y="3536823"/>
                </a:lnTo>
                <a:lnTo>
                  <a:pt x="8524799" y="3483013"/>
                </a:lnTo>
                <a:lnTo>
                  <a:pt x="8525129" y="3429000"/>
                </a:lnTo>
                <a:close/>
              </a:path>
            </a:pathLst>
          </a:custGeom>
          <a:solidFill>
            <a:srgbClr val="F5F5F5"/>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2" name="Holder 2"/>
          <p:cNvSpPr>
            <a:spLocks noGrp="1"/>
          </p:cNvSpPr>
          <p:nvPr>
            <p:ph type="ctrTitle"/>
          </p:nvPr>
        </p:nvSpPr>
        <p:spPr>
          <a:xfrm>
            <a:off x="1561033" y="3990593"/>
            <a:ext cx="8470583" cy="577081"/>
          </a:xfrm>
          <a:prstGeom prst="rect">
            <a:avLst/>
          </a:prstGeom>
        </p:spPr>
        <p:txBody>
          <a:bodyPr/>
          <a:lstStyle>
            <a:lvl1pPr>
              <a:defRPr sz="3750" b="0" i="0">
                <a:solidFill>
                  <a:srgbClr val="0D2841"/>
                </a:solidFill>
                <a:latin typeface="Calibri"/>
                <a:cs typeface="Calibri"/>
              </a:defRPr>
            </a:lvl1pPr>
          </a:lstStyle>
          <a:p>
            <a:endParaRPr/>
          </a:p>
        </p:txBody>
      </p:sp>
      <p:sp>
        <p:nvSpPr>
          <p:cNvPr id="3" name="Holder 3"/>
          <p:cNvSpPr>
            <a:spLocks noGrp="1"/>
          </p:cNvSpPr>
          <p:nvPr>
            <p:ph type="subTitle" idx="4"/>
          </p:nvPr>
        </p:nvSpPr>
        <p:spPr>
          <a:xfrm>
            <a:off x="2743200" y="5760720"/>
            <a:ext cx="12801600" cy="276999"/>
          </a:xfrm>
          <a:prstGeom prst="rect">
            <a:avLst/>
          </a:prstGeom>
        </p:spPr>
        <p:txBody>
          <a:bodyPr/>
          <a:lstStyle>
            <a:lvl1pPr>
              <a:defRPr/>
            </a:lvl1pPr>
          </a:lstStyle>
          <a:p>
            <a:endParaRPr/>
          </a:p>
        </p:txBody>
      </p:sp>
      <p:sp>
        <p:nvSpPr>
          <p:cNvPr id="7" name="Holder 4">
            <a:extLst>
              <a:ext uri="{FF2B5EF4-FFF2-40B4-BE49-F238E27FC236}">
                <a16:creationId xmlns:a16="http://schemas.microsoft.com/office/drawing/2014/main" id="{284318A1-2B8A-FE07-7ED4-3019F9D83970}"/>
              </a:ext>
            </a:extLst>
          </p:cNvPr>
          <p:cNvSpPr>
            <a:spLocks noGrp="1"/>
          </p:cNvSpPr>
          <p:nvPr>
            <p:ph type="ftr" sz="quarter" idx="10"/>
          </p:nvPr>
        </p:nvSpPr>
        <p:spPr/>
        <p:txBody>
          <a:bodyPr/>
          <a:lstStyle>
            <a:lvl1pPr algn="ctr">
              <a:defRPr>
                <a:solidFill>
                  <a:schemeClr val="tx1">
                    <a:tint val="75000"/>
                  </a:schemeClr>
                </a:solidFill>
              </a:defRPr>
            </a:lvl1pPr>
          </a:lstStyle>
          <a:p>
            <a:pPr>
              <a:defRPr/>
            </a:pPr>
            <a:endParaRPr/>
          </a:p>
        </p:txBody>
      </p:sp>
      <p:sp>
        <p:nvSpPr>
          <p:cNvPr id="8" name="Holder 5">
            <a:extLst>
              <a:ext uri="{FF2B5EF4-FFF2-40B4-BE49-F238E27FC236}">
                <a16:creationId xmlns:a16="http://schemas.microsoft.com/office/drawing/2014/main" id="{4E5829D7-57CA-83B6-3CED-872DEF700C62}"/>
              </a:ext>
            </a:extLst>
          </p:cNvPr>
          <p:cNvSpPr>
            <a:spLocks noGrp="1"/>
          </p:cNvSpPr>
          <p:nvPr>
            <p:ph type="dt" sz="half" idx="11"/>
          </p:nvPr>
        </p:nvSpPr>
        <p:spPr/>
        <p:txBody>
          <a:bodyPr/>
          <a:lstStyle>
            <a:lvl1pPr algn="l">
              <a:defRPr>
                <a:solidFill>
                  <a:schemeClr val="tx1">
                    <a:tint val="75000"/>
                  </a:schemeClr>
                </a:solidFill>
              </a:defRPr>
            </a:lvl1pPr>
          </a:lstStyle>
          <a:p>
            <a:pPr>
              <a:defRPr/>
            </a:pPr>
            <a:fld id="{789FB547-8B68-48C6-804B-3C240B73316C}" type="datetimeFigureOut">
              <a:rPr lang="en-US"/>
              <a:pPr>
                <a:defRPr/>
              </a:pPr>
              <a:t>2/28/2026</a:t>
            </a:fld>
            <a:endParaRPr lang="en-US"/>
          </a:p>
        </p:txBody>
      </p:sp>
      <p:sp>
        <p:nvSpPr>
          <p:cNvPr id="9" name="Holder 6">
            <a:extLst>
              <a:ext uri="{FF2B5EF4-FFF2-40B4-BE49-F238E27FC236}">
                <a16:creationId xmlns:a16="http://schemas.microsoft.com/office/drawing/2014/main" id="{6BA0F525-705A-3306-75C5-5302E7CE9CFC}"/>
              </a:ext>
            </a:extLst>
          </p:cNvPr>
          <p:cNvSpPr>
            <a:spLocks noGrp="1"/>
          </p:cNvSpPr>
          <p:nvPr>
            <p:ph type="sldNum" sz="quarter" idx="12"/>
          </p:nvPr>
        </p:nvSpPr>
        <p:spPr/>
        <p:txBody>
          <a:bodyPr/>
          <a:lstStyle>
            <a:lvl1pPr algn="r">
              <a:defRPr>
                <a:solidFill>
                  <a:schemeClr val="tx1">
                    <a:tint val="75000"/>
                  </a:schemeClr>
                </a:solidFill>
              </a:defRPr>
            </a:lvl1pPr>
          </a:lstStyle>
          <a:p>
            <a:pPr>
              <a:defRPr/>
            </a:pPr>
            <a:fld id="{D157DFD8-0FF7-411D-B1F4-495EAB135871}" type="slidenum">
              <a:rPr/>
              <a:pPr>
                <a:defRPr/>
              </a:pPr>
              <a:t>‹#›</a:t>
            </a:fld>
            <a:endParaRPr/>
          </a:p>
        </p:txBody>
      </p:sp>
    </p:spTree>
    <p:extLst>
      <p:ext uri="{BB962C8B-B14F-4D97-AF65-F5344CB8AC3E}">
        <p14:creationId xmlns:p14="http://schemas.microsoft.com/office/powerpoint/2010/main" val="12989423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1001420" y="564260"/>
            <a:ext cx="9915525" cy="577081"/>
          </a:xfrm>
        </p:spPr>
        <p:txBody>
          <a:bodyPr/>
          <a:lstStyle>
            <a:lvl1pPr>
              <a:defRPr sz="3750" b="0" i="0">
                <a:solidFill>
                  <a:srgbClr val="0D2841"/>
                </a:solidFill>
                <a:latin typeface="Calibri"/>
                <a:cs typeface="Calibri"/>
              </a:defRPr>
            </a:lvl1pPr>
          </a:lstStyle>
          <a:p>
            <a:endParaRPr/>
          </a:p>
        </p:txBody>
      </p:sp>
      <p:sp>
        <p:nvSpPr>
          <p:cNvPr id="3" name="Holder 3"/>
          <p:cNvSpPr>
            <a:spLocks noGrp="1"/>
          </p:cNvSpPr>
          <p:nvPr>
            <p:ph type="body" idx="1"/>
          </p:nvPr>
        </p:nvSpPr>
        <p:spPr/>
        <p:txBody>
          <a:bodyPr/>
          <a:lstStyle>
            <a:lvl1pPr>
              <a:defRPr/>
            </a:lvl1pPr>
          </a:lstStyle>
          <a:p>
            <a:endParaRPr/>
          </a:p>
        </p:txBody>
      </p:sp>
      <p:sp>
        <p:nvSpPr>
          <p:cNvPr id="4" name="Holder 4">
            <a:extLst>
              <a:ext uri="{FF2B5EF4-FFF2-40B4-BE49-F238E27FC236}">
                <a16:creationId xmlns:a16="http://schemas.microsoft.com/office/drawing/2014/main" id="{1632159B-15C2-3288-99D2-123677FC4114}"/>
              </a:ext>
            </a:extLst>
          </p:cNvPr>
          <p:cNvSpPr>
            <a:spLocks noGrp="1"/>
          </p:cNvSpPr>
          <p:nvPr>
            <p:ph type="ftr" sz="quarter" idx="10"/>
          </p:nvPr>
        </p:nvSpPr>
        <p:spPr/>
        <p:txBody>
          <a:bodyPr/>
          <a:lstStyle>
            <a:lvl1pPr>
              <a:defRPr/>
            </a:lvl1pPr>
          </a:lstStyle>
          <a:p>
            <a:pPr>
              <a:defRPr/>
            </a:pPr>
            <a:endParaRPr/>
          </a:p>
        </p:txBody>
      </p:sp>
      <p:sp>
        <p:nvSpPr>
          <p:cNvPr id="5" name="Holder 5">
            <a:extLst>
              <a:ext uri="{FF2B5EF4-FFF2-40B4-BE49-F238E27FC236}">
                <a16:creationId xmlns:a16="http://schemas.microsoft.com/office/drawing/2014/main" id="{0CC41F04-010C-664F-C378-5DA2EB4BD317}"/>
              </a:ext>
            </a:extLst>
          </p:cNvPr>
          <p:cNvSpPr>
            <a:spLocks noGrp="1"/>
          </p:cNvSpPr>
          <p:nvPr>
            <p:ph type="dt" sz="half" idx="11"/>
          </p:nvPr>
        </p:nvSpPr>
        <p:spPr/>
        <p:txBody>
          <a:bodyPr/>
          <a:lstStyle>
            <a:lvl1pPr>
              <a:defRPr/>
            </a:lvl1pPr>
          </a:lstStyle>
          <a:p>
            <a:pPr>
              <a:defRPr/>
            </a:pPr>
            <a:fld id="{0CE9DD3B-78FB-4EB4-89F7-1AE895893D35}" type="datetimeFigureOut">
              <a:rPr lang="en-US"/>
              <a:pPr>
                <a:defRPr/>
              </a:pPr>
              <a:t>2/28/2026</a:t>
            </a:fld>
            <a:endParaRPr lang="en-US"/>
          </a:p>
        </p:txBody>
      </p:sp>
      <p:sp>
        <p:nvSpPr>
          <p:cNvPr id="6" name="Holder 6">
            <a:extLst>
              <a:ext uri="{FF2B5EF4-FFF2-40B4-BE49-F238E27FC236}">
                <a16:creationId xmlns:a16="http://schemas.microsoft.com/office/drawing/2014/main" id="{A650EFA6-6914-C2A9-D05F-3FF1AF3FAF12}"/>
              </a:ext>
            </a:extLst>
          </p:cNvPr>
          <p:cNvSpPr>
            <a:spLocks noGrp="1"/>
          </p:cNvSpPr>
          <p:nvPr>
            <p:ph type="sldNum" sz="quarter" idx="12"/>
          </p:nvPr>
        </p:nvSpPr>
        <p:spPr/>
        <p:txBody>
          <a:bodyPr/>
          <a:lstStyle>
            <a:lvl1pPr>
              <a:defRPr/>
            </a:lvl1pPr>
          </a:lstStyle>
          <a:p>
            <a:pPr>
              <a:defRPr/>
            </a:pPr>
            <a:fld id="{6988D1F3-4924-454B-B3B7-F85C018EDFE6}" type="slidenum">
              <a:rPr/>
              <a:pPr>
                <a:defRPr/>
              </a:pPr>
              <a:t>‹#›</a:t>
            </a:fld>
            <a:endParaRPr/>
          </a:p>
        </p:txBody>
      </p:sp>
    </p:spTree>
    <p:extLst>
      <p:ext uri="{BB962C8B-B14F-4D97-AF65-F5344CB8AC3E}">
        <p14:creationId xmlns:p14="http://schemas.microsoft.com/office/powerpoint/2010/main" val="1252578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1001420" y="564260"/>
            <a:ext cx="9915525" cy="577081"/>
          </a:xfrm>
        </p:spPr>
        <p:txBody>
          <a:bodyPr/>
          <a:lstStyle>
            <a:lvl1pPr>
              <a:defRPr sz="3750" b="0" i="0">
                <a:solidFill>
                  <a:srgbClr val="0D2841"/>
                </a:solidFill>
                <a:latin typeface="Calibri"/>
                <a:cs typeface="Calibri"/>
              </a:defRPr>
            </a:lvl1pPr>
          </a:lstStyle>
          <a:p>
            <a:endParaRPr/>
          </a:p>
        </p:txBody>
      </p:sp>
      <p:sp>
        <p:nvSpPr>
          <p:cNvPr id="3" name="Holder 3"/>
          <p:cNvSpPr>
            <a:spLocks noGrp="1"/>
          </p:cNvSpPr>
          <p:nvPr>
            <p:ph sz="half" idx="2"/>
          </p:nvPr>
        </p:nvSpPr>
        <p:spPr>
          <a:xfrm>
            <a:off x="914400" y="2366010"/>
            <a:ext cx="7955280" cy="276999"/>
          </a:xfrm>
          <a:prstGeom prst="rect">
            <a:avLst/>
          </a:prstGeom>
        </p:spPr>
        <p:txBody>
          <a:bodyPr/>
          <a:lstStyle>
            <a:lvl1pPr>
              <a:defRPr/>
            </a:lvl1pPr>
          </a:lstStyle>
          <a:p>
            <a:endParaRPr/>
          </a:p>
        </p:txBody>
      </p:sp>
      <p:sp>
        <p:nvSpPr>
          <p:cNvPr id="4" name="Holder 4"/>
          <p:cNvSpPr>
            <a:spLocks noGrp="1"/>
          </p:cNvSpPr>
          <p:nvPr>
            <p:ph sz="half" idx="3"/>
          </p:nvPr>
        </p:nvSpPr>
        <p:spPr>
          <a:xfrm>
            <a:off x="9418320" y="2366010"/>
            <a:ext cx="7955280" cy="276999"/>
          </a:xfrm>
          <a:prstGeom prst="rect">
            <a:avLst/>
          </a:prstGeom>
        </p:spPr>
        <p:txBody>
          <a:bodyPr/>
          <a:lstStyle>
            <a:lvl1pPr>
              <a:defRPr/>
            </a:lvl1pPr>
          </a:lstStyle>
          <a:p>
            <a:endParaRPr/>
          </a:p>
        </p:txBody>
      </p:sp>
      <p:sp>
        <p:nvSpPr>
          <p:cNvPr id="5" name="Holder 4">
            <a:extLst>
              <a:ext uri="{FF2B5EF4-FFF2-40B4-BE49-F238E27FC236}">
                <a16:creationId xmlns:a16="http://schemas.microsoft.com/office/drawing/2014/main" id="{E81F0D30-8D21-5649-68CB-7F5F7EA917CC}"/>
              </a:ext>
            </a:extLst>
          </p:cNvPr>
          <p:cNvSpPr>
            <a:spLocks noGrp="1"/>
          </p:cNvSpPr>
          <p:nvPr>
            <p:ph type="ftr" sz="quarter" idx="10"/>
          </p:nvPr>
        </p:nvSpPr>
        <p:spPr/>
        <p:txBody>
          <a:bodyPr/>
          <a:lstStyle>
            <a:lvl1pPr>
              <a:defRPr/>
            </a:lvl1pPr>
          </a:lstStyle>
          <a:p>
            <a:pPr>
              <a:defRPr/>
            </a:pPr>
            <a:endParaRPr/>
          </a:p>
        </p:txBody>
      </p:sp>
      <p:sp>
        <p:nvSpPr>
          <p:cNvPr id="6" name="Holder 5">
            <a:extLst>
              <a:ext uri="{FF2B5EF4-FFF2-40B4-BE49-F238E27FC236}">
                <a16:creationId xmlns:a16="http://schemas.microsoft.com/office/drawing/2014/main" id="{7A170506-1F1E-D4BF-C06E-0FF3F578FFBB}"/>
              </a:ext>
            </a:extLst>
          </p:cNvPr>
          <p:cNvSpPr>
            <a:spLocks noGrp="1"/>
          </p:cNvSpPr>
          <p:nvPr>
            <p:ph type="dt" sz="half" idx="11"/>
          </p:nvPr>
        </p:nvSpPr>
        <p:spPr/>
        <p:txBody>
          <a:bodyPr/>
          <a:lstStyle>
            <a:lvl1pPr>
              <a:defRPr/>
            </a:lvl1pPr>
          </a:lstStyle>
          <a:p>
            <a:pPr>
              <a:defRPr/>
            </a:pPr>
            <a:fld id="{08E25E4D-131D-42F3-A559-CF93F29105D3}" type="datetimeFigureOut">
              <a:rPr lang="en-US"/>
              <a:pPr>
                <a:defRPr/>
              </a:pPr>
              <a:t>2/28/2026</a:t>
            </a:fld>
            <a:endParaRPr lang="en-US"/>
          </a:p>
        </p:txBody>
      </p:sp>
      <p:sp>
        <p:nvSpPr>
          <p:cNvPr id="7" name="Holder 6">
            <a:extLst>
              <a:ext uri="{FF2B5EF4-FFF2-40B4-BE49-F238E27FC236}">
                <a16:creationId xmlns:a16="http://schemas.microsoft.com/office/drawing/2014/main" id="{B400D62A-667A-3A50-F3FF-2F7AC2E002DA}"/>
              </a:ext>
            </a:extLst>
          </p:cNvPr>
          <p:cNvSpPr>
            <a:spLocks noGrp="1"/>
          </p:cNvSpPr>
          <p:nvPr>
            <p:ph type="sldNum" sz="quarter" idx="12"/>
          </p:nvPr>
        </p:nvSpPr>
        <p:spPr/>
        <p:txBody>
          <a:bodyPr/>
          <a:lstStyle>
            <a:lvl1pPr>
              <a:defRPr/>
            </a:lvl1pPr>
          </a:lstStyle>
          <a:p>
            <a:pPr>
              <a:defRPr/>
            </a:pPr>
            <a:fld id="{3DDD57EE-E819-4406-A3BD-EDA5245630AB}" type="slidenum">
              <a:rPr/>
              <a:pPr>
                <a:defRPr/>
              </a:pPr>
              <a:t>‹#›</a:t>
            </a:fld>
            <a:endParaRPr/>
          </a:p>
        </p:txBody>
      </p:sp>
    </p:spTree>
    <p:extLst>
      <p:ext uri="{BB962C8B-B14F-4D97-AF65-F5344CB8AC3E}">
        <p14:creationId xmlns:p14="http://schemas.microsoft.com/office/powerpoint/2010/main" val="36956333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1001420" y="564260"/>
            <a:ext cx="9915525" cy="577081"/>
          </a:xfrm>
        </p:spPr>
        <p:txBody>
          <a:bodyPr/>
          <a:lstStyle>
            <a:lvl1pPr>
              <a:defRPr sz="3750" b="0" i="0">
                <a:solidFill>
                  <a:srgbClr val="0D2841"/>
                </a:solidFill>
                <a:latin typeface="Calibri"/>
                <a:cs typeface="Calibri"/>
              </a:defRPr>
            </a:lvl1pPr>
          </a:lstStyle>
          <a:p>
            <a:endParaRPr/>
          </a:p>
        </p:txBody>
      </p:sp>
      <p:sp>
        <p:nvSpPr>
          <p:cNvPr id="3" name="Holder 4">
            <a:extLst>
              <a:ext uri="{FF2B5EF4-FFF2-40B4-BE49-F238E27FC236}">
                <a16:creationId xmlns:a16="http://schemas.microsoft.com/office/drawing/2014/main" id="{E984EC0F-4753-3CAE-B6C8-46B7D8E720D4}"/>
              </a:ext>
            </a:extLst>
          </p:cNvPr>
          <p:cNvSpPr>
            <a:spLocks noGrp="1"/>
          </p:cNvSpPr>
          <p:nvPr>
            <p:ph type="ftr" sz="quarter" idx="10"/>
          </p:nvPr>
        </p:nvSpPr>
        <p:spPr/>
        <p:txBody>
          <a:bodyPr/>
          <a:lstStyle>
            <a:lvl1pPr>
              <a:defRPr/>
            </a:lvl1pPr>
          </a:lstStyle>
          <a:p>
            <a:pPr>
              <a:defRPr/>
            </a:pPr>
            <a:endParaRPr/>
          </a:p>
        </p:txBody>
      </p:sp>
      <p:sp>
        <p:nvSpPr>
          <p:cNvPr id="4" name="Holder 5">
            <a:extLst>
              <a:ext uri="{FF2B5EF4-FFF2-40B4-BE49-F238E27FC236}">
                <a16:creationId xmlns:a16="http://schemas.microsoft.com/office/drawing/2014/main" id="{43D95A90-2E14-B2A3-A1E7-729A05EBC82B}"/>
              </a:ext>
            </a:extLst>
          </p:cNvPr>
          <p:cNvSpPr>
            <a:spLocks noGrp="1"/>
          </p:cNvSpPr>
          <p:nvPr>
            <p:ph type="dt" sz="half" idx="11"/>
          </p:nvPr>
        </p:nvSpPr>
        <p:spPr/>
        <p:txBody>
          <a:bodyPr/>
          <a:lstStyle>
            <a:lvl1pPr>
              <a:defRPr/>
            </a:lvl1pPr>
          </a:lstStyle>
          <a:p>
            <a:pPr>
              <a:defRPr/>
            </a:pPr>
            <a:fld id="{720D7284-1E53-414F-AFE8-AAFC024BB60C}" type="datetimeFigureOut">
              <a:rPr lang="en-US"/>
              <a:pPr>
                <a:defRPr/>
              </a:pPr>
              <a:t>2/28/2026</a:t>
            </a:fld>
            <a:endParaRPr lang="en-US"/>
          </a:p>
        </p:txBody>
      </p:sp>
      <p:sp>
        <p:nvSpPr>
          <p:cNvPr id="5" name="Holder 6">
            <a:extLst>
              <a:ext uri="{FF2B5EF4-FFF2-40B4-BE49-F238E27FC236}">
                <a16:creationId xmlns:a16="http://schemas.microsoft.com/office/drawing/2014/main" id="{B1E10E18-9DB6-FB8E-36F7-A84D67DED619}"/>
              </a:ext>
            </a:extLst>
          </p:cNvPr>
          <p:cNvSpPr>
            <a:spLocks noGrp="1"/>
          </p:cNvSpPr>
          <p:nvPr>
            <p:ph type="sldNum" sz="quarter" idx="12"/>
          </p:nvPr>
        </p:nvSpPr>
        <p:spPr/>
        <p:txBody>
          <a:bodyPr/>
          <a:lstStyle>
            <a:lvl1pPr>
              <a:defRPr/>
            </a:lvl1pPr>
          </a:lstStyle>
          <a:p>
            <a:pPr>
              <a:defRPr/>
            </a:pPr>
            <a:fld id="{B8AD75EA-3D41-488A-8A33-3722826395DB}" type="slidenum">
              <a:rPr/>
              <a:pPr>
                <a:defRPr/>
              </a:pPr>
              <a:t>‹#›</a:t>
            </a:fld>
            <a:endParaRPr/>
          </a:p>
        </p:txBody>
      </p:sp>
    </p:spTree>
    <p:extLst>
      <p:ext uri="{BB962C8B-B14F-4D97-AF65-F5344CB8AC3E}">
        <p14:creationId xmlns:p14="http://schemas.microsoft.com/office/powerpoint/2010/main" val="22840758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obj" preserve="1">
  <p:cSld name="Blank">
    <p:spTree>
      <p:nvGrpSpPr>
        <p:cNvPr id="1" name=""/>
        <p:cNvGrpSpPr/>
        <p:nvPr/>
      </p:nvGrpSpPr>
      <p:grpSpPr>
        <a:xfrm>
          <a:off x="0" y="0"/>
          <a:ext cx="0" cy="0"/>
          <a:chOff x="0" y="0"/>
          <a:chExt cx="0" cy="0"/>
        </a:xfrm>
      </p:grpSpPr>
      <p:sp>
        <p:nvSpPr>
          <p:cNvPr id="2" name="bg object 16">
            <a:extLst>
              <a:ext uri="{FF2B5EF4-FFF2-40B4-BE49-F238E27FC236}">
                <a16:creationId xmlns:a16="http://schemas.microsoft.com/office/drawing/2014/main" id="{89986A7A-3BC5-A31C-EE08-6E6D2F0AB97C}"/>
              </a:ext>
            </a:extLst>
          </p:cNvPr>
          <p:cNvSpPr>
            <a:spLocks/>
          </p:cNvSpPr>
          <p:nvPr/>
        </p:nvSpPr>
        <p:spPr bwMode="auto">
          <a:xfrm>
            <a:off x="0" y="0"/>
            <a:ext cx="18288000" cy="10287000"/>
          </a:xfrm>
          <a:custGeom>
            <a:avLst/>
            <a:gdLst>
              <a:gd name="T0" fmla="*/ 18288000 w 12192000"/>
              <a:gd name="T1" fmla="*/ 0 h 6858000"/>
              <a:gd name="T2" fmla="*/ 0 w 12192000"/>
              <a:gd name="T3" fmla="*/ 0 h 6858000"/>
              <a:gd name="T4" fmla="*/ 0 w 12192000"/>
              <a:gd name="T5" fmla="*/ 10287000 h 6858000"/>
              <a:gd name="T6" fmla="*/ 18288000 w 12192000"/>
              <a:gd name="T7" fmla="*/ 10287000 h 6858000"/>
              <a:gd name="T8" fmla="*/ 18288000 w 12192000"/>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192000" h="6858000">
                <a:moveTo>
                  <a:pt x="12192000" y="0"/>
                </a:moveTo>
                <a:lnTo>
                  <a:pt x="0" y="0"/>
                </a:lnTo>
                <a:lnTo>
                  <a:pt x="0" y="6858000"/>
                </a:lnTo>
                <a:lnTo>
                  <a:pt x="12192000" y="6858000"/>
                </a:lnTo>
                <a:lnTo>
                  <a:pt x="12192000" y="0"/>
                </a:lnTo>
                <a:close/>
              </a:path>
            </a:pathLst>
          </a:custGeom>
          <a:solidFill>
            <a:srgbClr val="F5F5F5"/>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3" name="Holder 2">
            <a:extLst>
              <a:ext uri="{FF2B5EF4-FFF2-40B4-BE49-F238E27FC236}">
                <a16:creationId xmlns:a16="http://schemas.microsoft.com/office/drawing/2014/main" id="{9E9B68A1-2253-887A-E028-9E4C323A1837}"/>
              </a:ext>
            </a:extLst>
          </p:cNvPr>
          <p:cNvSpPr>
            <a:spLocks noGrp="1"/>
          </p:cNvSpPr>
          <p:nvPr>
            <p:ph type="ftr" sz="quarter" idx="10"/>
          </p:nvPr>
        </p:nvSpPr>
        <p:spPr/>
        <p:txBody>
          <a:bodyPr/>
          <a:lstStyle>
            <a:lvl1pPr algn="ctr">
              <a:defRPr>
                <a:solidFill>
                  <a:schemeClr val="tx1">
                    <a:tint val="75000"/>
                  </a:schemeClr>
                </a:solidFill>
              </a:defRPr>
            </a:lvl1pPr>
          </a:lstStyle>
          <a:p>
            <a:pPr>
              <a:defRPr/>
            </a:pPr>
            <a:endParaRPr/>
          </a:p>
        </p:txBody>
      </p:sp>
      <p:sp>
        <p:nvSpPr>
          <p:cNvPr id="4" name="Holder 3">
            <a:extLst>
              <a:ext uri="{FF2B5EF4-FFF2-40B4-BE49-F238E27FC236}">
                <a16:creationId xmlns:a16="http://schemas.microsoft.com/office/drawing/2014/main" id="{27389612-5434-49B2-FAC1-A4417ABE1BD9}"/>
              </a:ext>
            </a:extLst>
          </p:cNvPr>
          <p:cNvSpPr>
            <a:spLocks noGrp="1"/>
          </p:cNvSpPr>
          <p:nvPr>
            <p:ph type="dt" sz="half" idx="11"/>
          </p:nvPr>
        </p:nvSpPr>
        <p:spPr/>
        <p:txBody>
          <a:bodyPr/>
          <a:lstStyle>
            <a:lvl1pPr algn="l">
              <a:defRPr>
                <a:solidFill>
                  <a:schemeClr val="tx1">
                    <a:tint val="75000"/>
                  </a:schemeClr>
                </a:solidFill>
              </a:defRPr>
            </a:lvl1pPr>
          </a:lstStyle>
          <a:p>
            <a:pPr>
              <a:defRPr/>
            </a:pPr>
            <a:fld id="{391B2A10-01F8-42A2-88FA-DDA2F3BEA7F3}" type="datetimeFigureOut">
              <a:rPr lang="en-US"/>
              <a:pPr>
                <a:defRPr/>
              </a:pPr>
              <a:t>2/28/2026</a:t>
            </a:fld>
            <a:endParaRPr lang="en-US"/>
          </a:p>
        </p:txBody>
      </p:sp>
      <p:sp>
        <p:nvSpPr>
          <p:cNvPr id="5" name="Holder 4">
            <a:extLst>
              <a:ext uri="{FF2B5EF4-FFF2-40B4-BE49-F238E27FC236}">
                <a16:creationId xmlns:a16="http://schemas.microsoft.com/office/drawing/2014/main" id="{CF05A8BC-BA9E-51D8-1399-81490C8D1606}"/>
              </a:ext>
            </a:extLst>
          </p:cNvPr>
          <p:cNvSpPr>
            <a:spLocks noGrp="1"/>
          </p:cNvSpPr>
          <p:nvPr>
            <p:ph type="sldNum" sz="quarter" idx="12"/>
          </p:nvPr>
        </p:nvSpPr>
        <p:spPr/>
        <p:txBody>
          <a:bodyPr/>
          <a:lstStyle>
            <a:lvl1pPr algn="r">
              <a:defRPr>
                <a:solidFill>
                  <a:schemeClr val="tx1">
                    <a:tint val="75000"/>
                  </a:schemeClr>
                </a:solidFill>
              </a:defRPr>
            </a:lvl1pPr>
          </a:lstStyle>
          <a:p>
            <a:pPr>
              <a:defRPr/>
            </a:pPr>
            <a:fld id="{35A3981E-5ABA-4E36-9F20-8894FB8E8481}" type="slidenum">
              <a:rPr/>
              <a:pPr>
                <a:defRPr/>
              </a:pPr>
              <a:t>‹#›</a:t>
            </a:fld>
            <a:endParaRPr/>
          </a:p>
        </p:txBody>
      </p:sp>
    </p:spTree>
    <p:extLst>
      <p:ext uri="{BB962C8B-B14F-4D97-AF65-F5344CB8AC3E}">
        <p14:creationId xmlns:p14="http://schemas.microsoft.com/office/powerpoint/2010/main" val="15344325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7" Type="http://schemas.openxmlformats.org/officeDocument/2006/relationships/image" Target="../media/image1.pn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3AD1135D-6E1B-D76B-DC2F-A5C46DF791F0}"/>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nb-NO"/>
              <a:t>Click to edit Master title style</a:t>
            </a:r>
          </a:p>
        </p:txBody>
      </p:sp>
      <p:sp>
        <p:nvSpPr>
          <p:cNvPr id="1027" name="Text Placeholder 2">
            <a:extLst>
              <a:ext uri="{FF2B5EF4-FFF2-40B4-BE49-F238E27FC236}">
                <a16:creationId xmlns:a16="http://schemas.microsoft.com/office/drawing/2014/main" id="{562A05BB-EF6C-DF21-1976-5C3E68B183D5}"/>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nb-NO"/>
              <a:t>Click to edit Master text styles</a:t>
            </a:r>
          </a:p>
          <a:p>
            <a:pPr lvl="1"/>
            <a:r>
              <a:rPr lang="en-US" altLang="nb-NO"/>
              <a:t>Second level</a:t>
            </a:r>
          </a:p>
          <a:p>
            <a:pPr lvl="2"/>
            <a:r>
              <a:rPr lang="en-US" altLang="nb-NO"/>
              <a:t>Third level</a:t>
            </a:r>
          </a:p>
          <a:p>
            <a:pPr lvl="3"/>
            <a:r>
              <a:rPr lang="en-US" altLang="nb-NO"/>
              <a:t>Fourth level</a:t>
            </a:r>
          </a:p>
          <a:p>
            <a:pPr lvl="4"/>
            <a:r>
              <a:rPr lang="en-US" altLang="nb-NO"/>
              <a:t>Fifth level</a:t>
            </a:r>
          </a:p>
        </p:txBody>
      </p:sp>
      <p:sp>
        <p:nvSpPr>
          <p:cNvPr id="4" name="Date Placeholder 3">
            <a:extLst>
              <a:ext uri="{FF2B5EF4-FFF2-40B4-BE49-F238E27FC236}">
                <a16:creationId xmlns:a16="http://schemas.microsoft.com/office/drawing/2014/main" id="{AE2ED17D-1577-CEB9-2CBA-CF455E05A606}"/>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a:defRPr/>
            </a:pPr>
            <a:fld id="{579AF132-AF50-4B5B-BD8B-5BA7D399884F}" type="datetimeFigureOut">
              <a:rPr lang="en-US"/>
              <a:pPr>
                <a:defRPr/>
              </a:pPr>
              <a:t>2/28/2026</a:t>
            </a:fld>
            <a:endParaRPr lang="en-US"/>
          </a:p>
        </p:txBody>
      </p:sp>
      <p:sp>
        <p:nvSpPr>
          <p:cNvPr id="5" name="Footer Placeholder 4">
            <a:extLst>
              <a:ext uri="{FF2B5EF4-FFF2-40B4-BE49-F238E27FC236}">
                <a16:creationId xmlns:a16="http://schemas.microsoft.com/office/drawing/2014/main" id="{CD54CB2A-5630-56D4-0FB4-FE615DAD7C11}"/>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430DE563-D4B9-9169-A071-57F317EF95D4}"/>
              </a:ext>
            </a:extLst>
          </p:cNvPr>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75000"/>
                  </a:schemeClr>
                </a:solidFill>
                <a:latin typeface="+mn-lt"/>
              </a:defRPr>
            </a:lvl1pPr>
          </a:lstStyle>
          <a:p>
            <a:pPr>
              <a:defRPr/>
            </a:pPr>
            <a:fld id="{6C022AC0-B7B7-48C1-A7BC-08C2ACB76F93}"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bg object 16">
            <a:extLst>
              <a:ext uri="{FF2B5EF4-FFF2-40B4-BE49-F238E27FC236}">
                <a16:creationId xmlns:a16="http://schemas.microsoft.com/office/drawing/2014/main" id="{FFF1434A-564D-9096-62F7-0A3B3FD0BF3F}"/>
              </a:ext>
            </a:extLst>
          </p:cNvPr>
          <p:cNvSpPr>
            <a:spLocks/>
          </p:cNvSpPr>
          <p:nvPr/>
        </p:nvSpPr>
        <p:spPr bwMode="auto">
          <a:xfrm>
            <a:off x="0" y="0"/>
            <a:ext cx="18288000" cy="10287000"/>
          </a:xfrm>
          <a:custGeom>
            <a:avLst/>
            <a:gdLst>
              <a:gd name="T0" fmla="*/ 18288000 w 12192000"/>
              <a:gd name="T1" fmla="*/ 0 h 6858000"/>
              <a:gd name="T2" fmla="*/ 0 w 12192000"/>
              <a:gd name="T3" fmla="*/ 0 h 6858000"/>
              <a:gd name="T4" fmla="*/ 0 w 12192000"/>
              <a:gd name="T5" fmla="*/ 10287000 h 6858000"/>
              <a:gd name="T6" fmla="*/ 18288000 w 12192000"/>
              <a:gd name="T7" fmla="*/ 10287000 h 6858000"/>
              <a:gd name="T8" fmla="*/ 18288000 w 12192000"/>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192000" h="6858000">
                <a:moveTo>
                  <a:pt x="12192000" y="0"/>
                </a:moveTo>
                <a:lnTo>
                  <a:pt x="0" y="0"/>
                </a:lnTo>
                <a:lnTo>
                  <a:pt x="0" y="6858000"/>
                </a:lnTo>
                <a:lnTo>
                  <a:pt x="12192000" y="6858000"/>
                </a:lnTo>
                <a:lnTo>
                  <a:pt x="12192000" y="0"/>
                </a:lnTo>
                <a:close/>
              </a:path>
            </a:pathLst>
          </a:custGeom>
          <a:solidFill>
            <a:srgbClr val="F5F5F5"/>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pic>
        <p:nvPicPr>
          <p:cNvPr id="2051" name="bg object 17">
            <a:extLst>
              <a:ext uri="{FF2B5EF4-FFF2-40B4-BE49-F238E27FC236}">
                <a16:creationId xmlns:a16="http://schemas.microsoft.com/office/drawing/2014/main" id="{AE6B0A61-7949-B939-0138-59731DE6B36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805150" y="9525"/>
            <a:ext cx="2476500" cy="153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2" name="Holder 2">
            <a:extLst>
              <a:ext uri="{FF2B5EF4-FFF2-40B4-BE49-F238E27FC236}">
                <a16:creationId xmlns:a16="http://schemas.microsoft.com/office/drawing/2014/main" id="{AEADE977-DA1E-1CAD-2082-BF7E274EEC49}"/>
              </a:ext>
            </a:extLst>
          </p:cNvPr>
          <p:cNvSpPr>
            <a:spLocks noGrp="1" noChangeArrowheads="1"/>
          </p:cNvSpPr>
          <p:nvPr>
            <p:ph type="title"/>
          </p:nvPr>
        </p:nvSpPr>
        <p:spPr bwMode="auto">
          <a:xfrm>
            <a:off x="1001713" y="563563"/>
            <a:ext cx="9915525" cy="38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lvl="0"/>
            <a:endParaRPr lang="nb-NO" altLang="nb-NO"/>
          </a:p>
        </p:txBody>
      </p:sp>
      <p:sp>
        <p:nvSpPr>
          <p:cNvPr id="2053" name="Holder 3">
            <a:extLst>
              <a:ext uri="{FF2B5EF4-FFF2-40B4-BE49-F238E27FC236}">
                <a16:creationId xmlns:a16="http://schemas.microsoft.com/office/drawing/2014/main" id="{059B5D76-090F-CA0A-FA6D-DAC40365F088}"/>
              </a:ext>
            </a:extLst>
          </p:cNvPr>
          <p:cNvSpPr>
            <a:spLocks noGrp="1" noChangeArrowheads="1"/>
          </p:cNvSpPr>
          <p:nvPr>
            <p:ph type="body" idx="1"/>
          </p:nvPr>
        </p:nvSpPr>
        <p:spPr bwMode="auto">
          <a:xfrm>
            <a:off x="914400" y="2365375"/>
            <a:ext cx="1645920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lvl="0"/>
            <a:endParaRPr lang="nb-NO" altLang="nb-NO"/>
          </a:p>
        </p:txBody>
      </p:sp>
      <p:sp>
        <p:nvSpPr>
          <p:cNvPr id="4" name="Holder 4">
            <a:extLst>
              <a:ext uri="{FF2B5EF4-FFF2-40B4-BE49-F238E27FC236}">
                <a16:creationId xmlns:a16="http://schemas.microsoft.com/office/drawing/2014/main" id="{CAE7A0DC-EEE7-D654-60A7-C00D5A77ABB6}"/>
              </a:ext>
            </a:extLst>
          </p:cNvPr>
          <p:cNvSpPr>
            <a:spLocks noGrp="1"/>
          </p:cNvSpPr>
          <p:nvPr>
            <p:ph type="ftr" sz="quarter" idx="5"/>
          </p:nvPr>
        </p:nvSpPr>
        <p:spPr>
          <a:xfrm>
            <a:off x="6218238" y="9566275"/>
            <a:ext cx="5851525" cy="277813"/>
          </a:xfrm>
          <a:prstGeom prst="rect">
            <a:avLst/>
          </a:prstGeom>
        </p:spPr>
        <p:txBody>
          <a:bodyPr wrap="square" lIns="0" tIns="0" rIns="0" bIns="0">
            <a:spAutoFit/>
          </a:bodyPr>
          <a:lstStyle>
            <a:lvl1pPr algn="ctr" eaLnBrk="1" fontAlgn="auto" hangingPunct="1">
              <a:spcBef>
                <a:spcPts val="0"/>
              </a:spcBef>
              <a:spcAft>
                <a:spcPts val="0"/>
              </a:spcAft>
              <a:defRPr>
                <a:solidFill>
                  <a:schemeClr val="tx1">
                    <a:tint val="75000"/>
                  </a:schemeClr>
                </a:solidFill>
                <a:latin typeface="+mn-lt"/>
              </a:defRPr>
            </a:lvl1pPr>
          </a:lstStyle>
          <a:p>
            <a:pPr>
              <a:defRPr/>
            </a:pPr>
            <a:endParaRPr/>
          </a:p>
        </p:txBody>
      </p:sp>
      <p:sp>
        <p:nvSpPr>
          <p:cNvPr id="5" name="Holder 5">
            <a:extLst>
              <a:ext uri="{FF2B5EF4-FFF2-40B4-BE49-F238E27FC236}">
                <a16:creationId xmlns:a16="http://schemas.microsoft.com/office/drawing/2014/main" id="{91062BA5-5E7D-0CE1-1491-5C5DC610B137}"/>
              </a:ext>
            </a:extLst>
          </p:cNvPr>
          <p:cNvSpPr>
            <a:spLocks noGrp="1"/>
          </p:cNvSpPr>
          <p:nvPr>
            <p:ph type="dt" sz="half" idx="6"/>
          </p:nvPr>
        </p:nvSpPr>
        <p:spPr>
          <a:xfrm>
            <a:off x="914400" y="9566275"/>
            <a:ext cx="4206875" cy="277813"/>
          </a:xfrm>
          <a:prstGeom prst="rect">
            <a:avLst/>
          </a:prstGeom>
        </p:spPr>
        <p:txBody>
          <a:bodyPr wrap="square" lIns="0" tIns="0" rIns="0" bIns="0">
            <a:spAutoFit/>
          </a:bodyPr>
          <a:lstStyle>
            <a:lvl1pPr algn="l" eaLnBrk="1" fontAlgn="auto" hangingPunct="1">
              <a:spcBef>
                <a:spcPts val="0"/>
              </a:spcBef>
              <a:spcAft>
                <a:spcPts val="0"/>
              </a:spcAft>
              <a:defRPr>
                <a:solidFill>
                  <a:schemeClr val="tx1">
                    <a:tint val="75000"/>
                  </a:schemeClr>
                </a:solidFill>
                <a:latin typeface="+mn-lt"/>
              </a:defRPr>
            </a:lvl1pPr>
          </a:lstStyle>
          <a:p>
            <a:pPr>
              <a:defRPr/>
            </a:pPr>
            <a:fld id="{9D2C86DD-5CAF-4071-B4B3-C9483B365376}" type="datetimeFigureOut">
              <a:rPr lang="en-US"/>
              <a:pPr>
                <a:defRPr/>
              </a:pPr>
              <a:t>2/28/2026</a:t>
            </a:fld>
            <a:endParaRPr lang="en-US"/>
          </a:p>
        </p:txBody>
      </p:sp>
      <p:sp>
        <p:nvSpPr>
          <p:cNvPr id="6" name="Holder 6">
            <a:extLst>
              <a:ext uri="{FF2B5EF4-FFF2-40B4-BE49-F238E27FC236}">
                <a16:creationId xmlns:a16="http://schemas.microsoft.com/office/drawing/2014/main" id="{46622DE0-FA35-321F-E394-5830BE2F4EFB}"/>
              </a:ext>
            </a:extLst>
          </p:cNvPr>
          <p:cNvSpPr>
            <a:spLocks noGrp="1"/>
          </p:cNvSpPr>
          <p:nvPr>
            <p:ph type="sldNum" sz="quarter" idx="7"/>
          </p:nvPr>
        </p:nvSpPr>
        <p:spPr>
          <a:xfrm>
            <a:off x="13166725" y="9566275"/>
            <a:ext cx="4206875" cy="277813"/>
          </a:xfrm>
          <a:prstGeom prst="rect">
            <a:avLst/>
          </a:prstGeom>
        </p:spPr>
        <p:txBody>
          <a:bodyPr wrap="square" lIns="0" tIns="0" rIns="0" bIns="0">
            <a:spAutoFit/>
          </a:bodyPr>
          <a:lstStyle>
            <a:lvl1pPr algn="r" eaLnBrk="1" fontAlgn="auto" hangingPunct="1">
              <a:spcBef>
                <a:spcPts val="0"/>
              </a:spcBef>
              <a:spcAft>
                <a:spcPts val="0"/>
              </a:spcAft>
              <a:defRPr>
                <a:solidFill>
                  <a:schemeClr val="tx1">
                    <a:tint val="75000"/>
                  </a:schemeClr>
                </a:solidFill>
                <a:latin typeface="+mn-lt"/>
              </a:defRPr>
            </a:lvl1pPr>
          </a:lstStyle>
          <a:p>
            <a:pPr>
              <a:defRPr/>
            </a:pPr>
            <a:fld id="{119EB45A-200F-4082-8ABD-FF4E7FABB809}" type="slidenum">
              <a:rPr/>
              <a:pPr>
                <a:defRPr/>
              </a:pPr>
              <a:t>‹#›</a:t>
            </a:fld>
            <a:endParaRPr/>
          </a:p>
        </p:txBody>
      </p:sp>
    </p:spTree>
  </p:cSld>
  <p:clrMap bg1="lt1" tx1="dk1" bg2="lt2" tx2="dk2" accent1="accent1" accent2="accent2" accent3="accent3" accent4="accent4" accent5="accent5" accent6="accent6" hlink="hlink" folHlink="folHlink"/>
  <p:sldLayoutIdLst>
    <p:sldLayoutId id="2147483700" r:id="rId1"/>
    <p:sldLayoutId id="2147483697" r:id="rId2"/>
    <p:sldLayoutId id="2147483698" r:id="rId3"/>
    <p:sldLayoutId id="2147483699" r:id="rId4"/>
    <p:sldLayoutId id="2147483701" r:id="rId5"/>
  </p:sldLayoutIdLst>
  <p:txStyles>
    <p:titleStyle>
      <a:lvl1pPr algn="ctr" rtl="0" eaLnBrk="0" fontAlgn="base" hangingPunct="0">
        <a:spcBef>
          <a:spcPct val="0"/>
        </a:spcBef>
        <a:spcAft>
          <a:spcPct val="0"/>
        </a:spcAft>
        <a:defRPr>
          <a:solidFill>
            <a:schemeClr val="tx2"/>
          </a:solidFill>
          <a:latin typeface="+mj-lt"/>
          <a:ea typeface="+mj-ea"/>
          <a:cs typeface="+mj-cs"/>
        </a:defRPr>
      </a:lvl1pPr>
      <a:lvl2pPr algn="ctr" rtl="0" eaLnBrk="0" fontAlgn="base" hangingPunct="0">
        <a:spcBef>
          <a:spcPct val="0"/>
        </a:spcBef>
        <a:spcAft>
          <a:spcPct val="0"/>
        </a:spcAft>
        <a:defRPr>
          <a:solidFill>
            <a:schemeClr val="tx2"/>
          </a:solidFill>
          <a:latin typeface="Calibri" panose="020F0502020204030204" pitchFamily="34" charset="0"/>
        </a:defRPr>
      </a:lvl2pPr>
      <a:lvl3pPr algn="ctr" rtl="0" eaLnBrk="0" fontAlgn="base" hangingPunct="0">
        <a:spcBef>
          <a:spcPct val="0"/>
        </a:spcBef>
        <a:spcAft>
          <a:spcPct val="0"/>
        </a:spcAft>
        <a:defRPr>
          <a:solidFill>
            <a:schemeClr val="tx2"/>
          </a:solidFill>
          <a:latin typeface="Calibri" panose="020F0502020204030204" pitchFamily="34" charset="0"/>
        </a:defRPr>
      </a:lvl3pPr>
      <a:lvl4pPr algn="ctr" rtl="0" eaLnBrk="0" fontAlgn="base" hangingPunct="0">
        <a:spcBef>
          <a:spcPct val="0"/>
        </a:spcBef>
        <a:spcAft>
          <a:spcPct val="0"/>
        </a:spcAft>
        <a:defRPr>
          <a:solidFill>
            <a:schemeClr val="tx2"/>
          </a:solidFill>
          <a:latin typeface="Calibri" panose="020F0502020204030204" pitchFamily="34" charset="0"/>
        </a:defRPr>
      </a:lvl4pPr>
      <a:lvl5pPr algn="ctr" rtl="0" eaLnBrk="0" fontAlgn="base" hangingPunct="0">
        <a:spcBef>
          <a:spcPct val="0"/>
        </a:spcBef>
        <a:spcAft>
          <a:spcPct val="0"/>
        </a:spcAft>
        <a:defRPr>
          <a:solidFill>
            <a:schemeClr val="tx2"/>
          </a:solidFill>
          <a:latin typeface="Calibri" panose="020F0502020204030204" pitchFamily="34" charset="0"/>
        </a:defRPr>
      </a:lvl5pPr>
      <a:lvl6pPr marL="457200" algn="ctr" rtl="0" eaLnBrk="0" fontAlgn="base" hangingPunct="0">
        <a:spcBef>
          <a:spcPct val="0"/>
        </a:spcBef>
        <a:spcAft>
          <a:spcPct val="0"/>
        </a:spcAft>
        <a:defRPr>
          <a:solidFill>
            <a:schemeClr val="tx2"/>
          </a:solidFill>
          <a:latin typeface="Calibri" panose="020F0502020204030204" pitchFamily="34" charset="0"/>
        </a:defRPr>
      </a:lvl6pPr>
      <a:lvl7pPr marL="914400" algn="ctr" rtl="0" eaLnBrk="0" fontAlgn="base" hangingPunct="0">
        <a:spcBef>
          <a:spcPct val="0"/>
        </a:spcBef>
        <a:spcAft>
          <a:spcPct val="0"/>
        </a:spcAft>
        <a:defRPr>
          <a:solidFill>
            <a:schemeClr val="tx2"/>
          </a:solidFill>
          <a:latin typeface="Calibri" panose="020F0502020204030204" pitchFamily="34" charset="0"/>
        </a:defRPr>
      </a:lvl7pPr>
      <a:lvl8pPr marL="1371600" algn="ctr" rtl="0" eaLnBrk="0" fontAlgn="base" hangingPunct="0">
        <a:spcBef>
          <a:spcPct val="0"/>
        </a:spcBef>
        <a:spcAft>
          <a:spcPct val="0"/>
        </a:spcAft>
        <a:defRPr>
          <a:solidFill>
            <a:schemeClr val="tx2"/>
          </a:solidFill>
          <a:latin typeface="Calibri" panose="020F0502020204030204" pitchFamily="34" charset="0"/>
        </a:defRPr>
      </a:lvl8pPr>
      <a:lvl9pPr marL="1828800" algn="ctr" rtl="0" eaLnBrk="0" fontAlgn="base" hangingPunct="0">
        <a:spcBef>
          <a:spcPct val="0"/>
        </a:spcBef>
        <a:spcAft>
          <a:spcPct val="0"/>
        </a:spcAft>
        <a:defRPr>
          <a:solidFill>
            <a:schemeClr val="tx2"/>
          </a:solidFill>
          <a:latin typeface="Calibri" panose="020F0502020204030204" pitchFamily="34" charset="0"/>
        </a:defRPr>
      </a:lvl9pPr>
    </p:titleStyle>
    <p:bodyStyle>
      <a:lvl1pPr algn="l" rtl="0" eaLnBrk="0" fontAlgn="base" hangingPunct="0">
        <a:spcBef>
          <a:spcPct val="20000"/>
        </a:spcBef>
        <a:spcAft>
          <a:spcPct val="0"/>
        </a:spcAft>
        <a:defRPr>
          <a:solidFill>
            <a:schemeClr val="tx1"/>
          </a:solidFill>
          <a:latin typeface="+mn-lt"/>
          <a:ea typeface="+mn-ea"/>
          <a:cs typeface="+mn-cs"/>
        </a:defRPr>
      </a:lvl1pPr>
      <a:lvl2pPr marL="685800" algn="l" rtl="0" eaLnBrk="0" fontAlgn="base" hangingPunct="0">
        <a:spcBef>
          <a:spcPct val="20000"/>
        </a:spcBef>
        <a:spcAft>
          <a:spcPct val="0"/>
        </a:spcAft>
        <a:defRPr>
          <a:solidFill>
            <a:schemeClr val="tx1"/>
          </a:solidFill>
          <a:latin typeface="+mn-lt"/>
          <a:ea typeface="+mn-ea"/>
          <a:cs typeface="+mn-cs"/>
        </a:defRPr>
      </a:lvl2pPr>
      <a:lvl3pPr marL="1371600" algn="l" rtl="0" eaLnBrk="0" fontAlgn="base" hangingPunct="0">
        <a:spcBef>
          <a:spcPct val="20000"/>
        </a:spcBef>
        <a:spcAft>
          <a:spcPct val="0"/>
        </a:spcAft>
        <a:defRPr>
          <a:solidFill>
            <a:schemeClr val="tx1"/>
          </a:solidFill>
          <a:latin typeface="+mn-lt"/>
          <a:ea typeface="+mn-ea"/>
          <a:cs typeface="+mn-cs"/>
        </a:defRPr>
      </a:lvl3pPr>
      <a:lvl4pPr marL="2057400" algn="l" rtl="0" eaLnBrk="0" fontAlgn="base" hangingPunct="0">
        <a:spcBef>
          <a:spcPct val="20000"/>
        </a:spcBef>
        <a:spcAft>
          <a:spcPct val="0"/>
        </a:spcAft>
        <a:defRPr>
          <a:solidFill>
            <a:schemeClr val="tx1"/>
          </a:solidFill>
          <a:latin typeface="+mn-lt"/>
          <a:ea typeface="+mn-ea"/>
          <a:cs typeface="+mn-cs"/>
        </a:defRPr>
      </a:lvl4pPr>
      <a:lvl5pPr marL="2743200" algn="l" rtl="0" eaLnBrk="0" fontAlgn="base" hangingPunct="0">
        <a:spcBef>
          <a:spcPct val="20000"/>
        </a:spcBef>
        <a:spcAft>
          <a:spcPct val="0"/>
        </a:spcAft>
        <a:defRPr>
          <a:solidFill>
            <a:schemeClr val="tx1"/>
          </a:solidFill>
          <a:latin typeface="+mn-lt"/>
          <a:ea typeface="+mn-ea"/>
          <a:cs typeface="+mn-cs"/>
        </a:defRPr>
      </a:lvl5pPr>
      <a:lvl6pPr marL="3429000">
        <a:defRPr>
          <a:latin typeface="+mn-lt"/>
          <a:ea typeface="+mn-ea"/>
          <a:cs typeface="+mn-cs"/>
        </a:defRPr>
      </a:lvl6pPr>
      <a:lvl7pPr marL="4114800">
        <a:defRPr>
          <a:latin typeface="+mn-lt"/>
          <a:ea typeface="+mn-ea"/>
          <a:cs typeface="+mn-cs"/>
        </a:defRPr>
      </a:lvl7pPr>
      <a:lvl8pPr marL="4800600">
        <a:defRPr>
          <a:latin typeface="+mn-lt"/>
          <a:ea typeface="+mn-ea"/>
          <a:cs typeface="+mn-cs"/>
        </a:defRPr>
      </a:lvl8pPr>
      <a:lvl9pPr marL="5486400">
        <a:defRPr>
          <a:latin typeface="+mn-lt"/>
          <a:ea typeface="+mn-ea"/>
          <a:cs typeface="+mn-cs"/>
        </a:defRPr>
      </a:lvl9pPr>
    </p:bodyStyle>
    <p:otherStyle>
      <a:lvl1pPr marL="0">
        <a:defRPr>
          <a:latin typeface="+mn-lt"/>
          <a:ea typeface="+mn-ea"/>
          <a:cs typeface="+mn-cs"/>
        </a:defRPr>
      </a:lvl1pPr>
      <a:lvl2pPr marL="685800">
        <a:defRPr>
          <a:latin typeface="+mn-lt"/>
          <a:ea typeface="+mn-ea"/>
          <a:cs typeface="+mn-cs"/>
        </a:defRPr>
      </a:lvl2pPr>
      <a:lvl3pPr marL="1371600">
        <a:defRPr>
          <a:latin typeface="+mn-lt"/>
          <a:ea typeface="+mn-ea"/>
          <a:cs typeface="+mn-cs"/>
        </a:defRPr>
      </a:lvl3pPr>
      <a:lvl4pPr marL="2057400">
        <a:defRPr>
          <a:latin typeface="+mn-lt"/>
          <a:ea typeface="+mn-ea"/>
          <a:cs typeface="+mn-cs"/>
        </a:defRPr>
      </a:lvl4pPr>
      <a:lvl5pPr marL="2743200">
        <a:defRPr>
          <a:latin typeface="+mn-lt"/>
          <a:ea typeface="+mn-ea"/>
          <a:cs typeface="+mn-cs"/>
        </a:defRPr>
      </a:lvl5pPr>
      <a:lvl6pPr marL="3429000">
        <a:defRPr>
          <a:latin typeface="+mn-lt"/>
          <a:ea typeface="+mn-ea"/>
          <a:cs typeface="+mn-cs"/>
        </a:defRPr>
      </a:lvl6pPr>
      <a:lvl7pPr marL="4114800">
        <a:defRPr>
          <a:latin typeface="+mn-lt"/>
          <a:ea typeface="+mn-ea"/>
          <a:cs typeface="+mn-cs"/>
        </a:defRPr>
      </a:lvl7pPr>
      <a:lvl8pPr marL="4800600">
        <a:defRPr>
          <a:latin typeface="+mn-lt"/>
          <a:ea typeface="+mn-ea"/>
          <a:cs typeface="+mn-cs"/>
        </a:defRPr>
      </a:lvl8pPr>
      <a:lvl9pPr marL="54864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5.xml"/><Relationship Id="rId5" Type="http://schemas.openxmlformats.org/officeDocument/2006/relationships/image" Target="../media/image22.pn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8" Type="http://schemas.openxmlformats.org/officeDocument/2006/relationships/image" Target="../media/image31.jpeg"/><Relationship Id="rId3" Type="http://schemas.openxmlformats.org/officeDocument/2006/relationships/image" Target="../media/image26.jpeg"/><Relationship Id="rId7" Type="http://schemas.openxmlformats.org/officeDocument/2006/relationships/image" Target="../media/image30.jpe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29.jpeg"/><Relationship Id="rId5" Type="http://schemas.openxmlformats.org/officeDocument/2006/relationships/image" Target="../media/image28.jpeg"/><Relationship Id="rId10" Type="http://schemas.openxmlformats.org/officeDocument/2006/relationships/image" Target="../media/image33.jpeg"/><Relationship Id="rId4" Type="http://schemas.openxmlformats.org/officeDocument/2006/relationships/image" Target="../media/image27.jpeg"/><Relationship Id="rId9" Type="http://schemas.openxmlformats.org/officeDocument/2006/relationships/image" Target="../media/image32.jpeg"/></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46" name="Group 2">
            <a:extLst>
              <a:ext uri="{FF2B5EF4-FFF2-40B4-BE49-F238E27FC236}">
                <a16:creationId xmlns:a16="http://schemas.microsoft.com/office/drawing/2014/main" id="{ACBCD780-2BB0-3B11-776D-2F283E2F448D}"/>
              </a:ext>
            </a:extLst>
          </p:cNvPr>
          <p:cNvGrpSpPr>
            <a:grpSpLocks/>
          </p:cNvGrpSpPr>
          <p:nvPr/>
        </p:nvGrpSpPr>
        <p:grpSpPr bwMode="auto">
          <a:xfrm>
            <a:off x="0" y="0"/>
            <a:ext cx="18288000" cy="10287000"/>
            <a:chOff x="0" y="0"/>
            <a:chExt cx="24384000" cy="13716000"/>
          </a:xfrm>
        </p:grpSpPr>
        <p:sp>
          <p:nvSpPr>
            <p:cNvPr id="6161" name="Freeform 3">
              <a:extLst>
                <a:ext uri="{FF2B5EF4-FFF2-40B4-BE49-F238E27FC236}">
                  <a16:creationId xmlns:a16="http://schemas.microsoft.com/office/drawing/2014/main" id="{A2FFD2A0-9E8C-A505-7DF9-5CFB0B329983}"/>
                </a:ext>
              </a:extLst>
            </p:cNvPr>
            <p:cNvSpPr>
              <a:spLocks/>
            </p:cNvSpPr>
            <p:nvPr/>
          </p:nvSpPr>
          <p:spPr bwMode="auto">
            <a:xfrm>
              <a:off x="0" y="0"/>
              <a:ext cx="24384000" cy="13716000"/>
            </a:xfrm>
            <a:custGeom>
              <a:avLst/>
              <a:gdLst>
                <a:gd name="T0" fmla="*/ 24384000 w 24384000"/>
                <a:gd name="T1" fmla="*/ 0 h 13716000"/>
                <a:gd name="T2" fmla="*/ 0 w 24384000"/>
                <a:gd name="T3" fmla="*/ 0 h 13716000"/>
                <a:gd name="T4" fmla="*/ 0 w 24384000"/>
                <a:gd name="T5" fmla="*/ 13716000 h 13716000"/>
                <a:gd name="T6" fmla="*/ 24384000 w 24384000"/>
                <a:gd name="T7" fmla="*/ 13716000 h 13716000"/>
                <a:gd name="T8" fmla="*/ 24384000 w 24384000"/>
                <a:gd name="T9" fmla="*/ 0 h 13716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384000" h="13716000">
                  <a:moveTo>
                    <a:pt x="24384000" y="0"/>
                  </a:moveTo>
                  <a:lnTo>
                    <a:pt x="0" y="0"/>
                  </a:lnTo>
                  <a:lnTo>
                    <a:pt x="0" y="13716000"/>
                  </a:lnTo>
                  <a:lnTo>
                    <a:pt x="24384000" y="13716000"/>
                  </a:lnTo>
                  <a:lnTo>
                    <a:pt x="24384000" y="0"/>
                  </a:lnTo>
                  <a:close/>
                </a:path>
              </a:pathLst>
            </a:custGeom>
            <a:solidFill>
              <a:srgbClr val="F5F5F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6147" name="Group 4">
            <a:extLst>
              <a:ext uri="{FF2B5EF4-FFF2-40B4-BE49-F238E27FC236}">
                <a16:creationId xmlns:a16="http://schemas.microsoft.com/office/drawing/2014/main" id="{4CDE5546-0DB0-027C-78A8-BFAE9D081190}"/>
              </a:ext>
            </a:extLst>
          </p:cNvPr>
          <p:cNvGrpSpPr>
            <a:grpSpLocks noChangeAspect="1"/>
          </p:cNvGrpSpPr>
          <p:nvPr/>
        </p:nvGrpSpPr>
        <p:grpSpPr bwMode="auto">
          <a:xfrm>
            <a:off x="15805150" y="9525"/>
            <a:ext cx="2476500" cy="1531938"/>
            <a:chOff x="0" y="0"/>
            <a:chExt cx="3300476" cy="2043150"/>
          </a:xfrm>
        </p:grpSpPr>
        <p:sp>
          <p:nvSpPr>
            <p:cNvPr id="6160" name="Freeform 5">
              <a:extLst>
                <a:ext uri="{FF2B5EF4-FFF2-40B4-BE49-F238E27FC236}">
                  <a16:creationId xmlns:a16="http://schemas.microsoft.com/office/drawing/2014/main" id="{F0BB4F0B-EE37-FBF9-8193-864583C4EE3F}"/>
                </a:ext>
              </a:extLst>
            </p:cNvPr>
            <p:cNvSpPr>
              <a:spLocks/>
            </p:cNvSpPr>
            <p:nvPr/>
          </p:nvSpPr>
          <p:spPr bwMode="auto">
            <a:xfrm>
              <a:off x="0" y="0"/>
              <a:ext cx="3300476" cy="2043176"/>
            </a:xfrm>
            <a:custGeom>
              <a:avLst/>
              <a:gdLst>
                <a:gd name="T0" fmla="*/ 0 w 3300476"/>
                <a:gd name="T1" fmla="*/ 0 h 2043176"/>
                <a:gd name="T2" fmla="*/ 3300476 w 3300476"/>
                <a:gd name="T3" fmla="*/ 0 h 2043176"/>
                <a:gd name="T4" fmla="*/ 3300476 w 3300476"/>
                <a:gd name="T5" fmla="*/ 2043176 h 2043176"/>
                <a:gd name="T6" fmla="*/ 0 w 3300476"/>
                <a:gd name="T7" fmla="*/ 2043176 h 2043176"/>
                <a:gd name="T8" fmla="*/ 0 w 3300476"/>
                <a:gd name="T9" fmla="*/ 0 h 204317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300476" h="2043176">
                  <a:moveTo>
                    <a:pt x="0" y="0"/>
                  </a:moveTo>
                  <a:lnTo>
                    <a:pt x="3300476" y="0"/>
                  </a:lnTo>
                  <a:lnTo>
                    <a:pt x="3300476" y="2043176"/>
                  </a:lnTo>
                  <a:lnTo>
                    <a:pt x="0" y="2043176"/>
                  </a:lnTo>
                  <a:lnTo>
                    <a:pt x="0" y="0"/>
                  </a:lnTo>
                  <a:close/>
                </a:path>
              </a:pathLst>
            </a:cu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6148" name="Group 6">
            <a:extLst>
              <a:ext uri="{FF2B5EF4-FFF2-40B4-BE49-F238E27FC236}">
                <a16:creationId xmlns:a16="http://schemas.microsoft.com/office/drawing/2014/main" id="{F207DEE0-4F7D-827F-7CC0-CACA67179B49}"/>
              </a:ext>
            </a:extLst>
          </p:cNvPr>
          <p:cNvGrpSpPr>
            <a:grpSpLocks/>
          </p:cNvGrpSpPr>
          <p:nvPr/>
        </p:nvGrpSpPr>
        <p:grpSpPr bwMode="auto">
          <a:xfrm>
            <a:off x="0" y="0"/>
            <a:ext cx="18288000" cy="10287000"/>
            <a:chOff x="0" y="0"/>
            <a:chExt cx="24384000" cy="13716000"/>
          </a:xfrm>
        </p:grpSpPr>
        <p:sp>
          <p:nvSpPr>
            <p:cNvPr id="6159" name="Freeform 7">
              <a:extLst>
                <a:ext uri="{FF2B5EF4-FFF2-40B4-BE49-F238E27FC236}">
                  <a16:creationId xmlns:a16="http://schemas.microsoft.com/office/drawing/2014/main" id="{E348CB6B-0239-F155-DBC0-4FC7D07275BD}"/>
                </a:ext>
              </a:extLst>
            </p:cNvPr>
            <p:cNvSpPr>
              <a:spLocks/>
            </p:cNvSpPr>
            <p:nvPr/>
          </p:nvSpPr>
          <p:spPr bwMode="auto">
            <a:xfrm>
              <a:off x="0" y="0"/>
              <a:ext cx="24384000" cy="13716000"/>
            </a:xfrm>
            <a:custGeom>
              <a:avLst/>
              <a:gdLst>
                <a:gd name="T0" fmla="*/ 24384000 w 24384000"/>
                <a:gd name="T1" fmla="*/ 0 h 13716000"/>
                <a:gd name="T2" fmla="*/ 0 w 24384000"/>
                <a:gd name="T3" fmla="*/ 0 h 13716000"/>
                <a:gd name="T4" fmla="*/ 0 w 24384000"/>
                <a:gd name="T5" fmla="*/ 13716000 h 13716000"/>
                <a:gd name="T6" fmla="*/ 24384000 w 24384000"/>
                <a:gd name="T7" fmla="*/ 13716000 h 13716000"/>
                <a:gd name="T8" fmla="*/ 24384000 w 24384000"/>
                <a:gd name="T9" fmla="*/ 0 h 13716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384000" h="13716000">
                  <a:moveTo>
                    <a:pt x="24384000" y="0"/>
                  </a:moveTo>
                  <a:lnTo>
                    <a:pt x="0" y="0"/>
                  </a:lnTo>
                  <a:lnTo>
                    <a:pt x="0" y="13716000"/>
                  </a:lnTo>
                  <a:lnTo>
                    <a:pt x="24384000" y="13716000"/>
                  </a:lnTo>
                  <a:lnTo>
                    <a:pt x="24384000" y="0"/>
                  </a:lnTo>
                  <a:close/>
                </a:path>
              </a:pathLst>
            </a:custGeom>
            <a:solidFill>
              <a:srgbClr val="F5F5F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6149" name="Group 8">
            <a:extLst>
              <a:ext uri="{FF2B5EF4-FFF2-40B4-BE49-F238E27FC236}">
                <a16:creationId xmlns:a16="http://schemas.microsoft.com/office/drawing/2014/main" id="{7E24A3E5-238B-E391-6A7B-11D32CDAE458}"/>
              </a:ext>
            </a:extLst>
          </p:cNvPr>
          <p:cNvGrpSpPr>
            <a:grpSpLocks noChangeAspect="1"/>
          </p:cNvGrpSpPr>
          <p:nvPr/>
        </p:nvGrpSpPr>
        <p:grpSpPr bwMode="auto">
          <a:xfrm>
            <a:off x="7502525" y="0"/>
            <a:ext cx="10834688" cy="10287000"/>
            <a:chOff x="64769" y="5"/>
            <a:chExt cx="14445742" cy="13716000"/>
          </a:xfrm>
        </p:grpSpPr>
        <p:sp>
          <p:nvSpPr>
            <p:cNvPr id="6158" name="Freeform 9">
              <a:extLst>
                <a:ext uri="{FF2B5EF4-FFF2-40B4-BE49-F238E27FC236}">
                  <a16:creationId xmlns:a16="http://schemas.microsoft.com/office/drawing/2014/main" id="{82B9999E-A9C7-CA40-313D-88FE5FC0424A}"/>
                </a:ext>
              </a:extLst>
            </p:cNvPr>
            <p:cNvSpPr>
              <a:spLocks/>
            </p:cNvSpPr>
            <p:nvPr/>
          </p:nvSpPr>
          <p:spPr bwMode="auto">
            <a:xfrm>
              <a:off x="64769" y="5"/>
              <a:ext cx="14445742" cy="13716000"/>
            </a:xfrm>
            <a:custGeom>
              <a:avLst/>
              <a:gdLst>
                <a:gd name="T0" fmla="*/ 0 w 14445742"/>
                <a:gd name="T1" fmla="*/ 0 h 13716000"/>
                <a:gd name="T2" fmla="*/ 14445742 w 14445742"/>
                <a:gd name="T3" fmla="*/ 0 h 13716000"/>
                <a:gd name="T4" fmla="*/ 14445742 w 14445742"/>
                <a:gd name="T5" fmla="*/ 13716000 h 13716000"/>
                <a:gd name="T6" fmla="*/ 0 w 14445742"/>
                <a:gd name="T7" fmla="*/ 13716000 h 13716000"/>
                <a:gd name="T8" fmla="*/ 0 w 14445742"/>
                <a:gd name="T9" fmla="*/ 0 h 13716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445742" h="13716000">
                  <a:moveTo>
                    <a:pt x="0" y="0"/>
                  </a:moveTo>
                  <a:lnTo>
                    <a:pt x="14445742" y="0"/>
                  </a:lnTo>
                  <a:lnTo>
                    <a:pt x="14445742" y="13716000"/>
                  </a:lnTo>
                  <a:lnTo>
                    <a:pt x="0" y="13716000"/>
                  </a:lnTo>
                  <a:lnTo>
                    <a:pt x="0" y="0"/>
                  </a:lnTo>
                  <a:close/>
                </a:path>
              </a:pathLst>
            </a:cu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10" name="Freeform 10">
            <a:extLst>
              <a:ext uri="{FF2B5EF4-FFF2-40B4-BE49-F238E27FC236}">
                <a16:creationId xmlns:a16="http://schemas.microsoft.com/office/drawing/2014/main" id="{B6EA8529-2115-A8B0-15F7-FE2099A369B0}"/>
              </a:ext>
            </a:extLst>
          </p:cNvPr>
          <p:cNvSpPr/>
          <p:nvPr/>
        </p:nvSpPr>
        <p:spPr>
          <a:xfrm>
            <a:off x="0" y="0"/>
            <a:ext cx="11658600" cy="10287000"/>
          </a:xfrm>
          <a:custGeom>
            <a:avLst/>
            <a:gdLst/>
            <a:ahLst/>
            <a:cxnLst/>
            <a:rect l="l" t="t" r="r" b="b"/>
            <a:pathLst>
              <a:path w="12788265" h="10287000">
                <a:moveTo>
                  <a:pt x="0" y="0"/>
                </a:moveTo>
                <a:lnTo>
                  <a:pt x="12788265" y="0"/>
                </a:lnTo>
                <a:lnTo>
                  <a:pt x="12788265" y="10287000"/>
                </a:lnTo>
                <a:lnTo>
                  <a:pt x="0" y="10287000"/>
                </a:lnTo>
                <a:lnTo>
                  <a:pt x="0" y="0"/>
                </a:lnTo>
                <a:close/>
              </a:path>
            </a:pathLst>
          </a:custGeom>
          <a:blipFill>
            <a:blip r:embed="rId4"/>
            <a:stretch>
              <a:fillRect/>
            </a:stretch>
          </a:blipFill>
        </p:spPr>
        <p:txBody>
          <a:bodyPr/>
          <a:lstStyle/>
          <a:p>
            <a:pPr eaLnBrk="1" fontAlgn="auto" hangingPunct="1">
              <a:spcBef>
                <a:spcPts val="0"/>
              </a:spcBef>
              <a:spcAft>
                <a:spcPts val="0"/>
              </a:spcAft>
              <a:defRPr/>
            </a:pPr>
            <a:endParaRPr lang="nb-NO" dirty="0">
              <a:latin typeface="+mn-lt"/>
            </a:endParaRPr>
          </a:p>
        </p:txBody>
      </p:sp>
      <p:sp>
        <p:nvSpPr>
          <p:cNvPr id="6151" name="TextBox 11" descr="$PPTXTitle">
            <a:extLst>
              <a:ext uri="{FF2B5EF4-FFF2-40B4-BE49-F238E27FC236}">
                <a16:creationId xmlns:a16="http://schemas.microsoft.com/office/drawing/2014/main" id="{9FB51335-25F7-48FD-D006-5EA3717A9469}"/>
              </a:ext>
            </a:extLst>
          </p:cNvPr>
          <p:cNvSpPr txBox="1">
            <a:spLocks noChangeArrowheads="1"/>
          </p:cNvSpPr>
          <p:nvPr/>
        </p:nvSpPr>
        <p:spPr bwMode="auto">
          <a:xfrm>
            <a:off x="1560513" y="3917950"/>
            <a:ext cx="97980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ts val="5038"/>
              </a:lnSpc>
              <a:spcBef>
                <a:spcPct val="0"/>
              </a:spcBef>
              <a:buFontTx/>
              <a:buNone/>
            </a:pPr>
            <a:r>
              <a:rPr lang="en-US" altLang="nb-NO" sz="4200" dirty="0" err="1">
                <a:solidFill>
                  <a:srgbClr val="0D2841"/>
                </a:solidFill>
                <a:latin typeface="Calibri (MS)" charset="0"/>
                <a:cs typeface="Calibri (MS)" charset="0"/>
                <a:sym typeface="Calibri (MS)" charset="0"/>
              </a:rPr>
              <a:t>Illustrativ</a:t>
            </a:r>
            <a:r>
              <a:rPr lang="en-US" altLang="nb-NO" sz="4200" dirty="0">
                <a:solidFill>
                  <a:srgbClr val="0D2841"/>
                </a:solidFill>
                <a:latin typeface="Calibri (MS)" charset="0"/>
                <a:cs typeface="Calibri (MS)" charset="0"/>
                <a:sym typeface="Calibri (MS)" charset="0"/>
              </a:rPr>
              <a:t> </a:t>
            </a:r>
            <a:r>
              <a:rPr lang="en-US" altLang="nb-NO" sz="4200" dirty="0" err="1">
                <a:solidFill>
                  <a:srgbClr val="0D2841"/>
                </a:solidFill>
                <a:latin typeface="Calibri (MS)" charset="0"/>
                <a:cs typeface="Calibri (MS)" charset="0"/>
                <a:sym typeface="Calibri (MS)" charset="0"/>
              </a:rPr>
              <a:t>investeringsskisse</a:t>
            </a:r>
            <a:endParaRPr lang="en-US" altLang="nb-NO" sz="4200" dirty="0">
              <a:solidFill>
                <a:srgbClr val="0D2841"/>
              </a:solidFill>
              <a:latin typeface="Calibri (MS)" charset="0"/>
              <a:cs typeface="Calibri (MS)" charset="0"/>
              <a:sym typeface="Calibri (MS)" charset="0"/>
            </a:endParaRPr>
          </a:p>
        </p:txBody>
      </p:sp>
      <p:sp>
        <p:nvSpPr>
          <p:cNvPr id="12" name="TextBox 12">
            <a:extLst>
              <a:ext uri="{FF2B5EF4-FFF2-40B4-BE49-F238E27FC236}">
                <a16:creationId xmlns:a16="http://schemas.microsoft.com/office/drawing/2014/main" id="{49BC9762-760F-9462-377C-697953BDFFBA}"/>
              </a:ext>
            </a:extLst>
          </p:cNvPr>
          <p:cNvSpPr txBox="1"/>
          <p:nvPr/>
        </p:nvSpPr>
        <p:spPr>
          <a:xfrm>
            <a:off x="1541463" y="4648200"/>
            <a:ext cx="7678737" cy="461665"/>
          </a:xfrm>
          <a:prstGeom prst="rect">
            <a:avLst/>
          </a:prstGeom>
        </p:spPr>
        <p:txBody>
          <a:bodyPr wrap="square" lIns="0" tIns="0" rIns="0" bIns="0">
            <a:spAutoFit/>
          </a:bodyPr>
          <a:lstStyle/>
          <a:p>
            <a:pPr eaLnBrk="1" fontAlgn="auto" hangingPunct="1">
              <a:lnSpc>
                <a:spcPts val="3600"/>
              </a:lnSpc>
              <a:spcBef>
                <a:spcPts val="0"/>
              </a:spcBef>
              <a:spcAft>
                <a:spcPts val="0"/>
              </a:spcAft>
              <a:defRPr/>
            </a:pPr>
            <a:r>
              <a:rPr lang="en-US" sz="3000" spc="-44" dirty="0">
                <a:solidFill>
                  <a:srgbClr val="2D3C36"/>
                </a:solidFill>
                <a:latin typeface="Calibri (MS)"/>
                <a:ea typeface="Calibri (MS)"/>
                <a:cs typeface="Calibri (MS)"/>
                <a:sym typeface="Calibri (MS)"/>
              </a:rPr>
              <a:t>Eksempel </a:t>
            </a:r>
            <a:r>
              <a:rPr lang="en-US" sz="3000" spc="-44" dirty="0" err="1">
                <a:solidFill>
                  <a:srgbClr val="2D3C36"/>
                </a:solidFill>
                <a:latin typeface="Calibri (MS)"/>
                <a:ea typeface="Calibri (MS)"/>
                <a:cs typeface="Calibri (MS)"/>
                <a:sym typeface="Calibri (MS)"/>
              </a:rPr>
              <a:t>på</a:t>
            </a:r>
            <a:r>
              <a:rPr lang="en-US" sz="3000" spc="-44" dirty="0">
                <a:solidFill>
                  <a:srgbClr val="2D3C36"/>
                </a:solidFill>
                <a:latin typeface="Calibri (MS)"/>
                <a:ea typeface="Calibri (MS)"/>
                <a:cs typeface="Calibri (MS)"/>
                <a:sym typeface="Calibri (MS)"/>
              </a:rPr>
              <a:t> </a:t>
            </a:r>
            <a:r>
              <a:rPr lang="en-US" sz="3000" spc="-44" dirty="0" err="1">
                <a:solidFill>
                  <a:srgbClr val="2D3C36"/>
                </a:solidFill>
                <a:latin typeface="Calibri (MS)"/>
                <a:ea typeface="Calibri (MS)"/>
                <a:cs typeface="Calibri (MS)"/>
                <a:sym typeface="Calibri (MS)"/>
              </a:rPr>
              <a:t>porteføljesammensetning</a:t>
            </a:r>
            <a:endParaRPr lang="en-US" sz="3000" spc="-44" dirty="0">
              <a:solidFill>
                <a:srgbClr val="2D3C36"/>
              </a:solidFill>
              <a:latin typeface="Calibri (MS)"/>
              <a:ea typeface="Calibri (MS)"/>
              <a:cs typeface="Calibri (MS)"/>
              <a:sym typeface="Calibri (MS)"/>
            </a:endParaRPr>
          </a:p>
        </p:txBody>
      </p:sp>
      <p:sp>
        <p:nvSpPr>
          <p:cNvPr id="6153" name="TextBox 13">
            <a:extLst>
              <a:ext uri="{FF2B5EF4-FFF2-40B4-BE49-F238E27FC236}">
                <a16:creationId xmlns:a16="http://schemas.microsoft.com/office/drawing/2014/main" id="{9F32AB1A-AAB3-AB08-7B67-1C1E7A8DF934}"/>
              </a:ext>
            </a:extLst>
          </p:cNvPr>
          <p:cNvSpPr txBox="1">
            <a:spLocks noChangeArrowheads="1"/>
          </p:cNvSpPr>
          <p:nvPr/>
        </p:nvSpPr>
        <p:spPr bwMode="auto">
          <a:xfrm>
            <a:off x="1533502" y="6371664"/>
            <a:ext cx="8372498" cy="1923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ts val="2525"/>
              </a:lnSpc>
              <a:spcBef>
                <a:spcPct val="0"/>
              </a:spcBef>
              <a:buFontTx/>
              <a:buNone/>
            </a:pPr>
            <a:r>
              <a:rPr lang="en-US" altLang="nb-NO" sz="2100" dirty="0" err="1">
                <a:solidFill>
                  <a:srgbClr val="2D3C36"/>
                </a:solidFill>
                <a:latin typeface="Calibri (MS)" charset="0"/>
                <a:cs typeface="Calibri (MS)" charset="0"/>
                <a:sym typeface="Calibri (MS)" charset="0"/>
              </a:rPr>
              <a:t>Utarbeidet</a:t>
            </a:r>
            <a:r>
              <a:rPr lang="en-US" altLang="nb-NO" sz="2100" dirty="0">
                <a:solidFill>
                  <a:srgbClr val="2D3C36"/>
                </a:solidFill>
                <a:latin typeface="Calibri (MS)" charset="0"/>
                <a:cs typeface="Calibri (MS)" charset="0"/>
                <a:sym typeface="Calibri (MS)" charset="0"/>
              </a:rPr>
              <a:t> av Pensum Asset Management AS for:</a:t>
            </a:r>
          </a:p>
          <a:p>
            <a:pPr eaLnBrk="1" hangingPunct="1">
              <a:lnSpc>
                <a:spcPts val="2525"/>
              </a:lnSpc>
              <a:spcBef>
                <a:spcPct val="0"/>
              </a:spcBef>
              <a:buFontTx/>
              <a:buNone/>
            </a:pPr>
            <a:endParaRPr lang="en-US" altLang="nb-NO" sz="2100" dirty="0">
              <a:solidFill>
                <a:srgbClr val="2D3C36"/>
              </a:solidFill>
              <a:latin typeface="Calibri (MS)" charset="0"/>
              <a:cs typeface="Calibri (MS)" charset="0"/>
              <a:sym typeface="Calibri (MS)" charset="0"/>
            </a:endParaRPr>
          </a:p>
          <a:p>
            <a:pPr eaLnBrk="1" hangingPunct="1">
              <a:lnSpc>
                <a:spcPts val="2525"/>
              </a:lnSpc>
              <a:spcBef>
                <a:spcPct val="0"/>
              </a:spcBef>
              <a:buFontTx/>
              <a:buNone/>
            </a:pPr>
            <a:r>
              <a:rPr lang="en-US" altLang="nb-NO" sz="2100" b="1" dirty="0">
                <a:solidFill>
                  <a:srgbClr val="2D3C36"/>
                </a:solidFill>
                <a:latin typeface="Calibri (MS)" charset="0"/>
                <a:cs typeface="Calibri (MS)" charset="0"/>
                <a:sym typeface="Calibri (MS)" charset="0"/>
              </a:rPr>
              <a:t>“</a:t>
            </a:r>
            <a:r>
              <a:rPr lang="en-US" altLang="nb-NO" sz="2100" b="1" dirty="0" err="1">
                <a:solidFill>
                  <a:srgbClr val="2D3C36"/>
                </a:solidFill>
                <a:latin typeface="Calibri (MS)" charset="0"/>
                <a:cs typeface="Calibri (MS)" charset="0"/>
                <a:sym typeface="Calibri (MS)" charset="0"/>
              </a:rPr>
              <a:t>Firma</a:t>
            </a:r>
            <a:r>
              <a:rPr lang="en-US" altLang="nb-NO" sz="2100" b="1" dirty="0">
                <a:solidFill>
                  <a:srgbClr val="2D3C36"/>
                </a:solidFill>
                <a:latin typeface="Calibri (MS)" charset="0"/>
                <a:cs typeface="Calibri (MS)" charset="0"/>
                <a:sym typeface="Calibri (MS)" charset="0"/>
              </a:rPr>
              <a:t> x” AS</a:t>
            </a:r>
          </a:p>
          <a:p>
            <a:pPr eaLnBrk="1" hangingPunct="1">
              <a:lnSpc>
                <a:spcPts val="2525"/>
              </a:lnSpc>
              <a:spcBef>
                <a:spcPct val="0"/>
              </a:spcBef>
              <a:buFontTx/>
              <a:buNone/>
            </a:pPr>
            <a:endParaRPr lang="en-US" altLang="nb-NO" sz="2100" dirty="0">
              <a:solidFill>
                <a:srgbClr val="2D3C36"/>
              </a:solidFill>
              <a:latin typeface="Calibri (MS)" charset="0"/>
              <a:cs typeface="Calibri (MS)" charset="0"/>
              <a:sym typeface="Calibri (MS)" charset="0"/>
            </a:endParaRPr>
          </a:p>
          <a:p>
            <a:pPr eaLnBrk="1" hangingPunct="1">
              <a:lnSpc>
                <a:spcPts val="2525"/>
              </a:lnSpc>
              <a:spcBef>
                <a:spcPct val="0"/>
              </a:spcBef>
              <a:buFontTx/>
              <a:buNone/>
            </a:pPr>
            <a:r>
              <a:rPr lang="en-US" altLang="nb-NO" sz="2100" dirty="0">
                <a:solidFill>
                  <a:srgbClr val="2D3C36"/>
                </a:solidFill>
                <a:latin typeface="Calibri (MS)" charset="0"/>
                <a:cs typeface="Calibri (MS)" charset="0"/>
                <a:sym typeface="Calibri (MS)" charset="0"/>
              </a:rPr>
              <a:t>01.01.2026</a:t>
            </a:r>
          </a:p>
          <a:p>
            <a:pPr eaLnBrk="1" hangingPunct="1">
              <a:lnSpc>
                <a:spcPts val="2525"/>
              </a:lnSpc>
              <a:spcBef>
                <a:spcPct val="0"/>
              </a:spcBef>
              <a:buFontTx/>
              <a:buNone/>
            </a:pPr>
            <a:endParaRPr lang="en-US" altLang="nb-NO" sz="2100" dirty="0">
              <a:solidFill>
                <a:srgbClr val="2D3C36"/>
              </a:solidFill>
              <a:latin typeface="Calibri (MS)" charset="0"/>
              <a:cs typeface="Calibri (MS)" charset="0"/>
              <a:sym typeface="Calibri (MS)" charset="0"/>
            </a:endParaRPr>
          </a:p>
        </p:txBody>
      </p:sp>
      <p:grpSp>
        <p:nvGrpSpPr>
          <p:cNvPr id="6154" name="Group 14">
            <a:extLst>
              <a:ext uri="{FF2B5EF4-FFF2-40B4-BE49-F238E27FC236}">
                <a16:creationId xmlns:a16="http://schemas.microsoft.com/office/drawing/2014/main" id="{B69874B8-193B-9950-103C-452F64C92E7C}"/>
              </a:ext>
            </a:extLst>
          </p:cNvPr>
          <p:cNvGrpSpPr>
            <a:grpSpLocks noChangeAspect="1"/>
          </p:cNvGrpSpPr>
          <p:nvPr/>
        </p:nvGrpSpPr>
        <p:grpSpPr bwMode="auto">
          <a:xfrm>
            <a:off x="14982825" y="0"/>
            <a:ext cx="3305175" cy="1582738"/>
            <a:chOff x="0" y="0"/>
            <a:chExt cx="4406392" cy="2110688"/>
          </a:xfrm>
        </p:grpSpPr>
        <p:sp>
          <p:nvSpPr>
            <p:cNvPr id="15" name="Freeform 15">
              <a:extLst>
                <a:ext uri="{FF2B5EF4-FFF2-40B4-BE49-F238E27FC236}">
                  <a16:creationId xmlns:a16="http://schemas.microsoft.com/office/drawing/2014/main" id="{94F594B0-7483-70E1-DD09-0DBE2BBCFD70}"/>
                </a:ext>
              </a:extLst>
            </p:cNvPr>
            <p:cNvSpPr/>
            <p:nvPr/>
          </p:nvSpPr>
          <p:spPr>
            <a:xfrm>
              <a:off x="0" y="0"/>
              <a:ext cx="4406392" cy="2110740"/>
            </a:xfrm>
            <a:custGeom>
              <a:avLst/>
              <a:gdLst/>
              <a:ahLst/>
              <a:cxnLst/>
              <a:rect l="l" t="t" r="r" b="b"/>
              <a:pathLst>
                <a:path w="4406392" h="2110740">
                  <a:moveTo>
                    <a:pt x="0" y="0"/>
                  </a:moveTo>
                  <a:lnTo>
                    <a:pt x="4406392" y="0"/>
                  </a:lnTo>
                  <a:lnTo>
                    <a:pt x="4406392" y="2110740"/>
                  </a:lnTo>
                  <a:lnTo>
                    <a:pt x="0" y="2110740"/>
                  </a:lnTo>
                  <a:lnTo>
                    <a:pt x="0" y="0"/>
                  </a:lnTo>
                  <a:close/>
                </a:path>
              </a:pathLst>
            </a:custGeom>
            <a:blipFill>
              <a:blip r:embed="rId5"/>
              <a:stretch>
                <a:fillRect t="-238" b="-236"/>
              </a:stretch>
            </a:blipFill>
          </p:spPr>
          <p:txBody>
            <a:bodyPr/>
            <a:lstStyle/>
            <a:p>
              <a:pPr eaLnBrk="1" fontAlgn="auto" hangingPunct="1">
                <a:spcBef>
                  <a:spcPts val="0"/>
                </a:spcBef>
                <a:spcAft>
                  <a:spcPts val="0"/>
                </a:spcAft>
                <a:defRPr/>
              </a:pPr>
              <a:endParaRPr lang="nb-NO">
                <a:latin typeface="+mn-lt"/>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920303-17E9-F2A2-1026-B9F9F7528D32}"/>
            </a:ext>
          </a:extLst>
        </p:cNvPr>
        <p:cNvGrpSpPr/>
        <p:nvPr/>
      </p:nvGrpSpPr>
      <p:grpSpPr>
        <a:xfrm>
          <a:off x="0" y="0"/>
          <a:ext cx="0" cy="0"/>
          <a:chOff x="0" y="0"/>
          <a:chExt cx="0" cy="0"/>
        </a:xfrm>
      </p:grpSpPr>
      <p:grpSp>
        <p:nvGrpSpPr>
          <p:cNvPr id="31746" name="Group 2">
            <a:extLst>
              <a:ext uri="{FF2B5EF4-FFF2-40B4-BE49-F238E27FC236}">
                <a16:creationId xmlns:a16="http://schemas.microsoft.com/office/drawing/2014/main" id="{0197A60C-5D23-EC96-21D3-D44345BF86EA}"/>
              </a:ext>
            </a:extLst>
          </p:cNvPr>
          <p:cNvGrpSpPr>
            <a:grpSpLocks/>
          </p:cNvGrpSpPr>
          <p:nvPr/>
        </p:nvGrpSpPr>
        <p:grpSpPr bwMode="auto">
          <a:xfrm>
            <a:off x="-6350" y="-22225"/>
            <a:ext cx="18288000" cy="10287000"/>
            <a:chOff x="20632" y="225353"/>
            <a:chExt cx="24384000" cy="13716000"/>
          </a:xfrm>
        </p:grpSpPr>
        <p:sp>
          <p:nvSpPr>
            <p:cNvPr id="31752" name="Freeform 3">
              <a:extLst>
                <a:ext uri="{FF2B5EF4-FFF2-40B4-BE49-F238E27FC236}">
                  <a16:creationId xmlns:a16="http://schemas.microsoft.com/office/drawing/2014/main" id="{304A4EC6-F7B3-206E-1F72-EE16D7E470E3}"/>
                </a:ext>
              </a:extLst>
            </p:cNvPr>
            <p:cNvSpPr>
              <a:spLocks/>
            </p:cNvSpPr>
            <p:nvPr/>
          </p:nvSpPr>
          <p:spPr bwMode="auto">
            <a:xfrm>
              <a:off x="20632" y="225353"/>
              <a:ext cx="24384000" cy="13716000"/>
            </a:xfrm>
            <a:custGeom>
              <a:avLst/>
              <a:gdLst>
                <a:gd name="T0" fmla="*/ 24384000 w 24384000"/>
                <a:gd name="T1" fmla="*/ 0 h 13716000"/>
                <a:gd name="T2" fmla="*/ 0 w 24384000"/>
                <a:gd name="T3" fmla="*/ 0 h 13716000"/>
                <a:gd name="T4" fmla="*/ 0 w 24384000"/>
                <a:gd name="T5" fmla="*/ 13716000 h 13716000"/>
                <a:gd name="T6" fmla="*/ 24384000 w 24384000"/>
                <a:gd name="T7" fmla="*/ 13716000 h 13716000"/>
                <a:gd name="T8" fmla="*/ 24384000 w 24384000"/>
                <a:gd name="T9" fmla="*/ 0 h 13716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384000" h="13716000">
                  <a:moveTo>
                    <a:pt x="24384000" y="0"/>
                  </a:moveTo>
                  <a:lnTo>
                    <a:pt x="0" y="0"/>
                  </a:lnTo>
                  <a:lnTo>
                    <a:pt x="0" y="13716000"/>
                  </a:lnTo>
                  <a:lnTo>
                    <a:pt x="24384000" y="13716000"/>
                  </a:lnTo>
                  <a:lnTo>
                    <a:pt x="24384000" y="0"/>
                  </a:lnTo>
                  <a:close/>
                </a:path>
              </a:pathLst>
            </a:custGeom>
            <a:solidFill>
              <a:srgbClr val="F5F5F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31747" name="Group 4">
            <a:extLst>
              <a:ext uri="{FF2B5EF4-FFF2-40B4-BE49-F238E27FC236}">
                <a16:creationId xmlns:a16="http://schemas.microsoft.com/office/drawing/2014/main" id="{0F8CAC0A-02B2-9082-1423-878033820EE5}"/>
              </a:ext>
            </a:extLst>
          </p:cNvPr>
          <p:cNvGrpSpPr>
            <a:grpSpLocks noChangeAspect="1"/>
          </p:cNvGrpSpPr>
          <p:nvPr/>
        </p:nvGrpSpPr>
        <p:grpSpPr bwMode="auto">
          <a:xfrm>
            <a:off x="15805150" y="9525"/>
            <a:ext cx="2476500" cy="1531938"/>
            <a:chOff x="0" y="0"/>
            <a:chExt cx="3300476" cy="2043150"/>
          </a:xfrm>
        </p:grpSpPr>
        <p:sp>
          <p:nvSpPr>
            <p:cNvPr id="31751" name="Freeform 5">
              <a:extLst>
                <a:ext uri="{FF2B5EF4-FFF2-40B4-BE49-F238E27FC236}">
                  <a16:creationId xmlns:a16="http://schemas.microsoft.com/office/drawing/2014/main" id="{D2514B56-9DE0-EBE9-30F6-0B23507118FD}"/>
                </a:ext>
              </a:extLst>
            </p:cNvPr>
            <p:cNvSpPr>
              <a:spLocks/>
            </p:cNvSpPr>
            <p:nvPr/>
          </p:nvSpPr>
          <p:spPr bwMode="auto">
            <a:xfrm>
              <a:off x="0" y="0"/>
              <a:ext cx="3300476" cy="2043176"/>
            </a:xfrm>
            <a:custGeom>
              <a:avLst/>
              <a:gdLst>
                <a:gd name="T0" fmla="*/ 0 w 3300476"/>
                <a:gd name="T1" fmla="*/ 0 h 2043176"/>
                <a:gd name="T2" fmla="*/ 3300476 w 3300476"/>
                <a:gd name="T3" fmla="*/ 0 h 2043176"/>
                <a:gd name="T4" fmla="*/ 3300476 w 3300476"/>
                <a:gd name="T5" fmla="*/ 2043176 h 2043176"/>
                <a:gd name="T6" fmla="*/ 0 w 3300476"/>
                <a:gd name="T7" fmla="*/ 2043176 h 2043176"/>
                <a:gd name="T8" fmla="*/ 0 w 3300476"/>
                <a:gd name="T9" fmla="*/ 0 h 204317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300476" h="2043176">
                  <a:moveTo>
                    <a:pt x="0" y="0"/>
                  </a:moveTo>
                  <a:lnTo>
                    <a:pt x="3300476" y="0"/>
                  </a:lnTo>
                  <a:lnTo>
                    <a:pt x="3300476" y="2043176"/>
                  </a:lnTo>
                  <a:lnTo>
                    <a:pt x="0" y="2043176"/>
                  </a:lnTo>
                  <a:lnTo>
                    <a:pt x="0" y="0"/>
                  </a:lnTo>
                  <a:close/>
                </a:path>
              </a:pathLst>
            </a:cu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31748" name="TextBox 7" descr="$PPTXTitle">
            <a:extLst>
              <a:ext uri="{FF2B5EF4-FFF2-40B4-BE49-F238E27FC236}">
                <a16:creationId xmlns:a16="http://schemas.microsoft.com/office/drawing/2014/main" id="{7AA787A6-1C13-D0C1-CDE4-EAC39E9E37BA}"/>
              </a:ext>
            </a:extLst>
          </p:cNvPr>
          <p:cNvSpPr txBox="1">
            <a:spLocks noChangeArrowheads="1"/>
          </p:cNvSpPr>
          <p:nvPr/>
        </p:nvSpPr>
        <p:spPr bwMode="auto">
          <a:xfrm>
            <a:off x="1079500" y="1965325"/>
            <a:ext cx="10655300" cy="692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ts val="5400"/>
              </a:lnSpc>
              <a:spcBef>
                <a:spcPct val="0"/>
              </a:spcBef>
              <a:buFontTx/>
              <a:buNone/>
            </a:pPr>
            <a:r>
              <a:rPr lang="en-US" altLang="nb-NO" sz="4500" dirty="0" err="1">
                <a:solidFill>
                  <a:srgbClr val="012441"/>
                </a:solidFill>
                <a:latin typeface="Calibri (MS)" panose="020B0604020202020204" charset="0"/>
                <a:cs typeface="Calibri (MS)" panose="020B0604020202020204" charset="0"/>
                <a:sym typeface="Calibri (MS)" panose="020B0604020202020204" charset="0"/>
              </a:rPr>
              <a:t>Viktig</a:t>
            </a:r>
            <a:r>
              <a:rPr lang="en-US" altLang="nb-NO" sz="4500" dirty="0">
                <a:solidFill>
                  <a:srgbClr val="012441"/>
                </a:solidFill>
                <a:latin typeface="Calibri (MS)" panose="020B0604020202020204" charset="0"/>
                <a:cs typeface="Calibri (MS)" panose="020B0604020202020204" charset="0"/>
                <a:sym typeface="Calibri (MS)" panose="020B0604020202020204" charset="0"/>
              </a:rPr>
              <a:t> </a:t>
            </a:r>
            <a:r>
              <a:rPr lang="en-US" altLang="nb-NO" sz="4500" dirty="0" err="1">
                <a:solidFill>
                  <a:srgbClr val="012441"/>
                </a:solidFill>
                <a:latin typeface="Calibri (MS)" panose="020B0604020202020204" charset="0"/>
                <a:cs typeface="Calibri (MS)" panose="020B0604020202020204" charset="0"/>
                <a:sym typeface="Calibri (MS)" panose="020B0604020202020204" charset="0"/>
              </a:rPr>
              <a:t>Informasjon</a:t>
            </a:r>
            <a:r>
              <a:rPr lang="en-US" altLang="nb-NO" sz="4500" dirty="0">
                <a:solidFill>
                  <a:srgbClr val="012441"/>
                </a:solidFill>
                <a:latin typeface="Calibri (MS)" panose="020B0604020202020204" charset="0"/>
                <a:cs typeface="Calibri (MS)" panose="020B0604020202020204" charset="0"/>
                <a:sym typeface="Calibri (MS)" panose="020B0604020202020204" charset="0"/>
              </a:rPr>
              <a:t> – les </a:t>
            </a:r>
            <a:r>
              <a:rPr lang="en-US" altLang="nb-NO" sz="4500" dirty="0" err="1">
                <a:solidFill>
                  <a:srgbClr val="012441"/>
                </a:solidFill>
                <a:latin typeface="Calibri (MS)" panose="020B0604020202020204" charset="0"/>
                <a:cs typeface="Calibri (MS)" panose="020B0604020202020204" charset="0"/>
                <a:sym typeface="Calibri (MS)" panose="020B0604020202020204" charset="0"/>
              </a:rPr>
              <a:t>før</a:t>
            </a:r>
            <a:r>
              <a:rPr lang="en-US" altLang="nb-NO" sz="4500" dirty="0">
                <a:solidFill>
                  <a:srgbClr val="012441"/>
                </a:solidFill>
                <a:latin typeface="Calibri (MS)" panose="020B0604020202020204" charset="0"/>
                <a:cs typeface="Calibri (MS)" panose="020B0604020202020204" charset="0"/>
                <a:sym typeface="Calibri (MS)" panose="020B0604020202020204" charset="0"/>
              </a:rPr>
              <a:t> </a:t>
            </a:r>
            <a:r>
              <a:rPr lang="en-US" altLang="nb-NO" sz="4500" dirty="0" err="1">
                <a:solidFill>
                  <a:srgbClr val="012441"/>
                </a:solidFill>
                <a:latin typeface="Calibri (MS)" panose="020B0604020202020204" charset="0"/>
                <a:cs typeface="Calibri (MS)" panose="020B0604020202020204" charset="0"/>
                <a:sym typeface="Calibri (MS)" panose="020B0604020202020204" charset="0"/>
              </a:rPr>
              <a:t>gjennomgang</a:t>
            </a:r>
            <a:endParaRPr lang="en-US" altLang="nb-NO" sz="4500" dirty="0">
              <a:solidFill>
                <a:srgbClr val="012441"/>
              </a:solidFill>
              <a:latin typeface="Calibri (MS)" panose="020B0604020202020204" charset="0"/>
              <a:cs typeface="Calibri (MS)" panose="020B0604020202020204" charset="0"/>
              <a:sym typeface="Calibri (MS)" panose="020B0604020202020204" charset="0"/>
            </a:endParaRPr>
          </a:p>
        </p:txBody>
      </p:sp>
      <p:sp>
        <p:nvSpPr>
          <p:cNvPr id="31749" name="TextBox 8">
            <a:extLst>
              <a:ext uri="{FF2B5EF4-FFF2-40B4-BE49-F238E27FC236}">
                <a16:creationId xmlns:a16="http://schemas.microsoft.com/office/drawing/2014/main" id="{53C1C382-A495-2C8D-AA87-D5CB76F13A9D}"/>
              </a:ext>
            </a:extLst>
          </p:cNvPr>
          <p:cNvSpPr txBox="1">
            <a:spLocks noChangeArrowheads="1"/>
          </p:cNvSpPr>
          <p:nvPr/>
        </p:nvSpPr>
        <p:spPr bwMode="auto">
          <a:xfrm>
            <a:off x="1079500" y="3622675"/>
            <a:ext cx="16135350" cy="3164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buNone/>
            </a:pPr>
            <a:r>
              <a:rPr lang="nb-NO" sz="2100" dirty="0"/>
              <a:t>Dette dokumentet er utarbeidet som en illustrativ investeringsskisse basert på overordnede og ikke-verifiserte opplysninger gitt i dialog med potensiell kunde. </a:t>
            </a:r>
          </a:p>
          <a:p>
            <a:pPr>
              <a:buNone/>
            </a:pPr>
            <a:endParaRPr lang="nb-NO" sz="2100" dirty="0"/>
          </a:p>
          <a:p>
            <a:pPr>
              <a:buNone/>
            </a:pPr>
            <a:r>
              <a:rPr lang="nb-NO" sz="2100" dirty="0"/>
              <a:t>Dokumentet utgjør ikke investeringsrådgivning, ikke en personlig anbefaling, og forutsetter at Pensum Asset Management AS ikke har gjennomført egnethetsvurdering eller kundetiltak. </a:t>
            </a:r>
          </a:p>
          <a:p>
            <a:pPr>
              <a:buNone/>
            </a:pPr>
            <a:endParaRPr lang="nb-NO" sz="2100" dirty="0"/>
          </a:p>
          <a:p>
            <a:pPr>
              <a:buNone/>
            </a:pPr>
            <a:r>
              <a:rPr lang="nb-NO" sz="2100" dirty="0"/>
              <a:t>Ethvert eventuelt kundeforhold og investeringsråd forutsetter separat kundeetablering, herunder kundeklassifisering, egnethetsvurdering og gjennomføring av lovpålagte KYC/AML-tiltak.</a:t>
            </a:r>
          </a:p>
          <a:p>
            <a:pPr algn="just" eaLnBrk="1" hangingPunct="1">
              <a:lnSpc>
                <a:spcPts val="2525"/>
              </a:lnSpc>
              <a:spcBef>
                <a:spcPct val="0"/>
              </a:spcBef>
              <a:buFontTx/>
              <a:buNone/>
            </a:pPr>
            <a:endParaRPr lang="en-US" altLang="nb-NO" sz="2100" dirty="0">
              <a:solidFill>
                <a:srgbClr val="0D2841"/>
              </a:solidFill>
              <a:latin typeface="Calibri (MS)" panose="020B0604020202020204" charset="0"/>
              <a:ea typeface="Arial" panose="020B0604020202020204" pitchFamily="34" charset="0"/>
              <a:cs typeface="Calibri (MS)" panose="020B0604020202020204" charset="0"/>
              <a:sym typeface="Arial" panose="020B0604020202020204" pitchFamily="34" charset="0"/>
            </a:endParaRPr>
          </a:p>
        </p:txBody>
      </p:sp>
    </p:spTree>
    <p:extLst>
      <p:ext uri="{BB962C8B-B14F-4D97-AF65-F5344CB8AC3E}">
        <p14:creationId xmlns:p14="http://schemas.microsoft.com/office/powerpoint/2010/main" val="8971321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Bilde 2" descr="Et bilde som inneholder tekst, skjermbilde, Font, nummer&#10;&#10;KI-generert innhold kan være feil.">
            <a:extLst>
              <a:ext uri="{FF2B5EF4-FFF2-40B4-BE49-F238E27FC236}">
                <a16:creationId xmlns:a16="http://schemas.microsoft.com/office/drawing/2014/main" id="{6B987CC3-1226-5599-F159-0F93A00A6F4E}"/>
              </a:ext>
            </a:extLst>
          </p:cNvPr>
          <p:cNvPicPr>
            <a:picLocks noChangeAspect="1"/>
          </p:cNvPicPr>
          <p:nvPr/>
        </p:nvPicPr>
        <p:blipFill>
          <a:blip r:embed="rId2"/>
          <a:stretch>
            <a:fillRect/>
          </a:stretch>
        </p:blipFill>
        <p:spPr>
          <a:xfrm>
            <a:off x="0" y="-24847"/>
            <a:ext cx="18288000" cy="10336695"/>
          </a:xfrm>
          <a:prstGeom prst="rect">
            <a:avLst/>
          </a:prstGeom>
        </p:spPr>
      </p:pic>
      <p:pic>
        <p:nvPicPr>
          <p:cNvPr id="7" name="Bilde 6" descr="Et bilde som inneholder hvit, design&#10;&#10;KI-generert innhold kan være feil.">
            <a:extLst>
              <a:ext uri="{FF2B5EF4-FFF2-40B4-BE49-F238E27FC236}">
                <a16:creationId xmlns:a16="http://schemas.microsoft.com/office/drawing/2014/main" id="{E1522DEF-4404-C3A7-968E-C37BF3F52EB5}"/>
              </a:ext>
            </a:extLst>
          </p:cNvPr>
          <p:cNvPicPr>
            <a:picLocks noChangeAspect="1"/>
          </p:cNvPicPr>
          <p:nvPr/>
        </p:nvPicPr>
        <p:blipFill>
          <a:blip r:embed="rId3"/>
          <a:stretch>
            <a:fillRect/>
          </a:stretch>
        </p:blipFill>
        <p:spPr>
          <a:xfrm>
            <a:off x="17430630" y="9524899"/>
            <a:ext cx="857370" cy="724001"/>
          </a:xfrm>
          <a:prstGeom prst="rect">
            <a:avLst/>
          </a:prstGeom>
        </p:spPr>
      </p:pic>
    </p:spTree>
    <p:extLst>
      <p:ext uri="{BB962C8B-B14F-4D97-AF65-F5344CB8AC3E}">
        <p14:creationId xmlns:p14="http://schemas.microsoft.com/office/powerpoint/2010/main" val="5240283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194" name="Group 2">
            <a:extLst>
              <a:ext uri="{FF2B5EF4-FFF2-40B4-BE49-F238E27FC236}">
                <a16:creationId xmlns:a16="http://schemas.microsoft.com/office/drawing/2014/main" id="{CECDB34A-6142-2DA5-C579-2B06C297EFF6}"/>
              </a:ext>
            </a:extLst>
          </p:cNvPr>
          <p:cNvGrpSpPr>
            <a:grpSpLocks/>
          </p:cNvGrpSpPr>
          <p:nvPr/>
        </p:nvGrpSpPr>
        <p:grpSpPr bwMode="auto">
          <a:xfrm>
            <a:off x="0" y="0"/>
            <a:ext cx="18288000" cy="10287000"/>
            <a:chOff x="0" y="0"/>
            <a:chExt cx="24384000" cy="13716000"/>
          </a:xfrm>
        </p:grpSpPr>
        <p:sp>
          <p:nvSpPr>
            <p:cNvPr id="8235" name="Freeform 3">
              <a:extLst>
                <a:ext uri="{FF2B5EF4-FFF2-40B4-BE49-F238E27FC236}">
                  <a16:creationId xmlns:a16="http://schemas.microsoft.com/office/drawing/2014/main" id="{09206EEA-9BE6-4DC4-6F7A-CD2507E375F9}"/>
                </a:ext>
              </a:extLst>
            </p:cNvPr>
            <p:cNvSpPr>
              <a:spLocks/>
            </p:cNvSpPr>
            <p:nvPr/>
          </p:nvSpPr>
          <p:spPr bwMode="auto">
            <a:xfrm>
              <a:off x="0" y="0"/>
              <a:ext cx="24384000" cy="13716000"/>
            </a:xfrm>
            <a:custGeom>
              <a:avLst/>
              <a:gdLst>
                <a:gd name="T0" fmla="*/ 24384000 w 24384000"/>
                <a:gd name="T1" fmla="*/ 0 h 13716000"/>
                <a:gd name="T2" fmla="*/ 0 w 24384000"/>
                <a:gd name="T3" fmla="*/ 0 h 13716000"/>
                <a:gd name="T4" fmla="*/ 0 w 24384000"/>
                <a:gd name="T5" fmla="*/ 13716000 h 13716000"/>
                <a:gd name="T6" fmla="*/ 24384000 w 24384000"/>
                <a:gd name="T7" fmla="*/ 13716000 h 13716000"/>
                <a:gd name="T8" fmla="*/ 24384000 w 24384000"/>
                <a:gd name="T9" fmla="*/ 0 h 13716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384000" h="13716000">
                  <a:moveTo>
                    <a:pt x="24384000" y="0"/>
                  </a:moveTo>
                  <a:lnTo>
                    <a:pt x="0" y="0"/>
                  </a:lnTo>
                  <a:lnTo>
                    <a:pt x="0" y="13716000"/>
                  </a:lnTo>
                  <a:lnTo>
                    <a:pt x="24384000" y="13716000"/>
                  </a:lnTo>
                  <a:lnTo>
                    <a:pt x="24384000" y="0"/>
                  </a:lnTo>
                  <a:close/>
                </a:path>
              </a:pathLst>
            </a:custGeom>
            <a:solidFill>
              <a:srgbClr val="F5F5F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8195" name="Group 4">
            <a:extLst>
              <a:ext uri="{FF2B5EF4-FFF2-40B4-BE49-F238E27FC236}">
                <a16:creationId xmlns:a16="http://schemas.microsoft.com/office/drawing/2014/main" id="{B2FA825F-50FD-AAC3-E10A-E89AC59CA262}"/>
              </a:ext>
            </a:extLst>
          </p:cNvPr>
          <p:cNvGrpSpPr>
            <a:grpSpLocks noChangeAspect="1"/>
          </p:cNvGrpSpPr>
          <p:nvPr/>
        </p:nvGrpSpPr>
        <p:grpSpPr bwMode="auto">
          <a:xfrm>
            <a:off x="15805150" y="9525"/>
            <a:ext cx="2476500" cy="1531938"/>
            <a:chOff x="0" y="0"/>
            <a:chExt cx="3300476" cy="2043150"/>
          </a:xfrm>
        </p:grpSpPr>
        <p:sp>
          <p:nvSpPr>
            <p:cNvPr id="8234" name="Freeform 5">
              <a:extLst>
                <a:ext uri="{FF2B5EF4-FFF2-40B4-BE49-F238E27FC236}">
                  <a16:creationId xmlns:a16="http://schemas.microsoft.com/office/drawing/2014/main" id="{0BFCB9DD-DEBA-7E06-8581-CA0862D75E7D}"/>
                </a:ext>
              </a:extLst>
            </p:cNvPr>
            <p:cNvSpPr>
              <a:spLocks/>
            </p:cNvSpPr>
            <p:nvPr/>
          </p:nvSpPr>
          <p:spPr bwMode="auto">
            <a:xfrm>
              <a:off x="0" y="0"/>
              <a:ext cx="3300476" cy="2043176"/>
            </a:xfrm>
            <a:custGeom>
              <a:avLst/>
              <a:gdLst>
                <a:gd name="T0" fmla="*/ 0 w 3300476"/>
                <a:gd name="T1" fmla="*/ 0 h 2043176"/>
                <a:gd name="T2" fmla="*/ 3300476 w 3300476"/>
                <a:gd name="T3" fmla="*/ 0 h 2043176"/>
                <a:gd name="T4" fmla="*/ 3300476 w 3300476"/>
                <a:gd name="T5" fmla="*/ 2043176 h 2043176"/>
                <a:gd name="T6" fmla="*/ 0 w 3300476"/>
                <a:gd name="T7" fmla="*/ 2043176 h 2043176"/>
                <a:gd name="T8" fmla="*/ 0 w 3300476"/>
                <a:gd name="T9" fmla="*/ 0 h 204317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300476" h="2043176">
                  <a:moveTo>
                    <a:pt x="0" y="0"/>
                  </a:moveTo>
                  <a:lnTo>
                    <a:pt x="3300476" y="0"/>
                  </a:lnTo>
                  <a:lnTo>
                    <a:pt x="3300476" y="2043176"/>
                  </a:lnTo>
                  <a:lnTo>
                    <a:pt x="0" y="2043176"/>
                  </a:lnTo>
                  <a:lnTo>
                    <a:pt x="0" y="0"/>
                  </a:lnTo>
                  <a:close/>
                </a:path>
              </a:pathLst>
            </a:cu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6" name="TextBox 6">
            <a:extLst>
              <a:ext uri="{FF2B5EF4-FFF2-40B4-BE49-F238E27FC236}">
                <a16:creationId xmlns:a16="http://schemas.microsoft.com/office/drawing/2014/main" id="{5BE10C66-9A48-0AF5-6C6A-B32824ADA1A6}"/>
              </a:ext>
            </a:extLst>
          </p:cNvPr>
          <p:cNvSpPr txBox="1"/>
          <p:nvPr/>
        </p:nvSpPr>
        <p:spPr>
          <a:xfrm>
            <a:off x="1477963" y="875083"/>
            <a:ext cx="10744200" cy="646395"/>
          </a:xfrm>
          <a:prstGeom prst="rect">
            <a:avLst/>
          </a:prstGeom>
        </p:spPr>
        <p:txBody>
          <a:bodyPr lIns="0" tIns="0" rIns="0" bIns="0">
            <a:spAutoFit/>
          </a:bodyPr>
          <a:lstStyle/>
          <a:p>
            <a:pPr eaLnBrk="1" fontAlgn="auto" hangingPunct="1">
              <a:lnSpc>
                <a:spcPts val="5184"/>
              </a:lnSpc>
              <a:spcBef>
                <a:spcPts val="0"/>
              </a:spcBef>
              <a:spcAft>
                <a:spcPts val="0"/>
              </a:spcAft>
              <a:defRPr/>
            </a:pPr>
            <a:r>
              <a:rPr lang="en-US" sz="4000" dirty="0" err="1">
                <a:solidFill>
                  <a:srgbClr val="0D2841"/>
                </a:solidFill>
                <a:latin typeface="Calibri (MS)"/>
                <a:ea typeface="Calibri (MS)"/>
                <a:cs typeface="Calibri (MS)"/>
                <a:sym typeface="Calibri (MS)"/>
              </a:rPr>
              <a:t>Overornede</a:t>
            </a:r>
            <a:r>
              <a:rPr lang="en-US" sz="4000" dirty="0">
                <a:solidFill>
                  <a:srgbClr val="0D2841"/>
                </a:solidFill>
                <a:latin typeface="Calibri (MS)"/>
                <a:ea typeface="Calibri (MS)"/>
                <a:cs typeface="Calibri (MS)"/>
                <a:sym typeface="Calibri (MS)"/>
              </a:rPr>
              <a:t> </a:t>
            </a:r>
            <a:r>
              <a:rPr lang="en-US" sz="4000" dirty="0" err="1">
                <a:solidFill>
                  <a:srgbClr val="0D2841"/>
                </a:solidFill>
                <a:latin typeface="Calibri (MS)"/>
                <a:ea typeface="Calibri (MS)"/>
                <a:cs typeface="Calibri (MS)"/>
                <a:sym typeface="Calibri (MS)"/>
              </a:rPr>
              <a:t>forutsetninger</a:t>
            </a:r>
            <a:r>
              <a:rPr lang="en-US" sz="4000" dirty="0">
                <a:solidFill>
                  <a:srgbClr val="0D2841"/>
                </a:solidFill>
                <a:latin typeface="Calibri (MS)"/>
                <a:ea typeface="Calibri (MS)"/>
                <a:cs typeface="Calibri (MS)"/>
                <a:sym typeface="Calibri (MS)"/>
              </a:rPr>
              <a:t> (illustrative) </a:t>
            </a:r>
          </a:p>
        </p:txBody>
      </p:sp>
      <p:sp>
        <p:nvSpPr>
          <p:cNvPr id="8197" name="TextBox 7">
            <a:extLst>
              <a:ext uri="{FF2B5EF4-FFF2-40B4-BE49-F238E27FC236}">
                <a16:creationId xmlns:a16="http://schemas.microsoft.com/office/drawing/2014/main" id="{F42A0323-B98B-4E8E-E3AB-0E9C3C5C0A61}"/>
              </a:ext>
            </a:extLst>
          </p:cNvPr>
          <p:cNvSpPr txBox="1">
            <a:spLocks noChangeArrowheads="1"/>
          </p:cNvSpPr>
          <p:nvPr/>
        </p:nvSpPr>
        <p:spPr bwMode="auto">
          <a:xfrm>
            <a:off x="1470024" y="2222549"/>
            <a:ext cx="15544800" cy="886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buNone/>
            </a:pPr>
            <a:r>
              <a:rPr lang="nb-NO" sz="1800" dirty="0"/>
              <a:t>Denne illustrasjonen tar utgangspunkt i overordnede forutsetninger som er opplyst i dialog, herunder at potensiell kunde i dag benytter ekstern investeringsrådgiver.</a:t>
            </a:r>
          </a:p>
          <a:p>
            <a:pPr>
              <a:buNone/>
            </a:pPr>
            <a:r>
              <a:rPr lang="nb-NO" sz="1800" dirty="0"/>
              <a:t>Illustrasjonen er ment å vise hvordan en mulig porteføljesammensetning kan se ut, og er ikke basert på en formell gjennomgang av den potensielle kundens samlede finansielle situasjon.</a:t>
            </a:r>
          </a:p>
        </p:txBody>
      </p:sp>
      <p:grpSp>
        <p:nvGrpSpPr>
          <p:cNvPr id="8198" name="Group 8">
            <a:extLst>
              <a:ext uri="{FF2B5EF4-FFF2-40B4-BE49-F238E27FC236}">
                <a16:creationId xmlns:a16="http://schemas.microsoft.com/office/drawing/2014/main" id="{2BE97977-7FE5-0588-8480-168CE53D7397}"/>
              </a:ext>
            </a:extLst>
          </p:cNvPr>
          <p:cNvGrpSpPr>
            <a:grpSpLocks/>
          </p:cNvGrpSpPr>
          <p:nvPr/>
        </p:nvGrpSpPr>
        <p:grpSpPr bwMode="auto">
          <a:xfrm>
            <a:off x="1477963" y="3628935"/>
            <a:ext cx="6073775" cy="592138"/>
            <a:chOff x="0" y="0"/>
            <a:chExt cx="8096250" cy="788492"/>
          </a:xfrm>
        </p:grpSpPr>
        <p:sp>
          <p:nvSpPr>
            <p:cNvPr id="8232" name="Freeform 9">
              <a:extLst>
                <a:ext uri="{FF2B5EF4-FFF2-40B4-BE49-F238E27FC236}">
                  <a16:creationId xmlns:a16="http://schemas.microsoft.com/office/drawing/2014/main" id="{EEC675C1-3985-67C0-CBDB-0127DFF3A053}"/>
                </a:ext>
              </a:extLst>
            </p:cNvPr>
            <p:cNvSpPr>
              <a:spLocks/>
            </p:cNvSpPr>
            <p:nvPr/>
          </p:nvSpPr>
          <p:spPr bwMode="auto">
            <a:xfrm>
              <a:off x="0" y="0"/>
              <a:ext cx="8096250" cy="788543"/>
            </a:xfrm>
            <a:custGeom>
              <a:avLst/>
              <a:gdLst>
                <a:gd name="T0" fmla="*/ 0 w 8096250"/>
                <a:gd name="T1" fmla="*/ 137795 h 788543"/>
                <a:gd name="T2" fmla="*/ 140589 w 8096250"/>
                <a:gd name="T3" fmla="*/ 0 h 788543"/>
                <a:gd name="T4" fmla="*/ 7955661 w 8096250"/>
                <a:gd name="T5" fmla="*/ 0 h 788543"/>
                <a:gd name="T6" fmla="*/ 7955661 w 8096250"/>
                <a:gd name="T7" fmla="*/ 9525 h 788543"/>
                <a:gd name="T8" fmla="*/ 7955661 w 8096250"/>
                <a:gd name="T9" fmla="*/ 0 h 788543"/>
                <a:gd name="T10" fmla="*/ 8096250 w 8096250"/>
                <a:gd name="T11" fmla="*/ 137795 h 788543"/>
                <a:gd name="T12" fmla="*/ 8086725 w 8096250"/>
                <a:gd name="T13" fmla="*/ 137795 h 788543"/>
                <a:gd name="T14" fmla="*/ 8096250 w 8096250"/>
                <a:gd name="T15" fmla="*/ 137795 h 788543"/>
                <a:gd name="T16" fmla="*/ 8096250 w 8096250"/>
                <a:gd name="T17" fmla="*/ 650748 h 788543"/>
                <a:gd name="T18" fmla="*/ 8086725 w 8096250"/>
                <a:gd name="T19" fmla="*/ 650748 h 788543"/>
                <a:gd name="T20" fmla="*/ 8096250 w 8096250"/>
                <a:gd name="T21" fmla="*/ 650748 h 788543"/>
                <a:gd name="T22" fmla="*/ 7955661 w 8096250"/>
                <a:gd name="T23" fmla="*/ 788543 h 788543"/>
                <a:gd name="T24" fmla="*/ 7955661 w 8096250"/>
                <a:gd name="T25" fmla="*/ 779018 h 788543"/>
                <a:gd name="T26" fmla="*/ 7955661 w 8096250"/>
                <a:gd name="T27" fmla="*/ 788543 h 788543"/>
                <a:gd name="T28" fmla="*/ 140589 w 8096250"/>
                <a:gd name="T29" fmla="*/ 788543 h 788543"/>
                <a:gd name="T30" fmla="*/ 140589 w 8096250"/>
                <a:gd name="T31" fmla="*/ 779018 h 788543"/>
                <a:gd name="T32" fmla="*/ 140589 w 8096250"/>
                <a:gd name="T33" fmla="*/ 788543 h 788543"/>
                <a:gd name="T34" fmla="*/ 0 w 8096250"/>
                <a:gd name="T35" fmla="*/ 650748 h 788543"/>
                <a:gd name="T36" fmla="*/ 0 w 8096250"/>
                <a:gd name="T37" fmla="*/ 137795 h 788543"/>
                <a:gd name="T38" fmla="*/ 9525 w 8096250"/>
                <a:gd name="T39" fmla="*/ 137795 h 788543"/>
                <a:gd name="T40" fmla="*/ 0 w 8096250"/>
                <a:gd name="T41" fmla="*/ 137795 h 788543"/>
                <a:gd name="T42" fmla="*/ 19050 w 8096250"/>
                <a:gd name="T43" fmla="*/ 137795 h 788543"/>
                <a:gd name="T44" fmla="*/ 19050 w 8096250"/>
                <a:gd name="T45" fmla="*/ 650748 h 788543"/>
                <a:gd name="T46" fmla="*/ 9525 w 8096250"/>
                <a:gd name="T47" fmla="*/ 650748 h 788543"/>
                <a:gd name="T48" fmla="*/ 19050 w 8096250"/>
                <a:gd name="T49" fmla="*/ 650748 h 788543"/>
                <a:gd name="T50" fmla="*/ 140589 w 8096250"/>
                <a:gd name="T51" fmla="*/ 769493 h 788543"/>
                <a:gd name="T52" fmla="*/ 7955661 w 8096250"/>
                <a:gd name="T53" fmla="*/ 769493 h 788543"/>
                <a:gd name="T54" fmla="*/ 8077200 w 8096250"/>
                <a:gd name="T55" fmla="*/ 650748 h 788543"/>
                <a:gd name="T56" fmla="*/ 8077200 w 8096250"/>
                <a:gd name="T57" fmla="*/ 137795 h 788543"/>
                <a:gd name="T58" fmla="*/ 7955661 w 8096250"/>
                <a:gd name="T59" fmla="*/ 19050 h 788543"/>
                <a:gd name="T60" fmla="*/ 140589 w 8096250"/>
                <a:gd name="T61" fmla="*/ 19050 h 788543"/>
                <a:gd name="T62" fmla="*/ 140589 w 8096250"/>
                <a:gd name="T63" fmla="*/ 9525 h 788543"/>
                <a:gd name="T64" fmla="*/ 140589 w 8096250"/>
                <a:gd name="T65" fmla="*/ 19050 h 788543"/>
                <a:gd name="T66" fmla="*/ 19050 w 8096250"/>
                <a:gd name="T67" fmla="*/ 137795 h 78854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8096250" h="788543">
                  <a:moveTo>
                    <a:pt x="0" y="137795"/>
                  </a:moveTo>
                  <a:cubicBezTo>
                    <a:pt x="0" y="61468"/>
                    <a:pt x="63119" y="0"/>
                    <a:pt x="140589" y="0"/>
                  </a:cubicBezTo>
                  <a:lnTo>
                    <a:pt x="7955661" y="0"/>
                  </a:lnTo>
                  <a:lnTo>
                    <a:pt x="7955661" y="9525"/>
                  </a:lnTo>
                  <a:lnTo>
                    <a:pt x="7955661" y="0"/>
                  </a:lnTo>
                  <a:cubicBezTo>
                    <a:pt x="8033131" y="0"/>
                    <a:pt x="8096250" y="61468"/>
                    <a:pt x="8096250" y="137795"/>
                  </a:cubicBezTo>
                  <a:lnTo>
                    <a:pt x="8086725" y="137795"/>
                  </a:lnTo>
                  <a:lnTo>
                    <a:pt x="8096250" y="137795"/>
                  </a:lnTo>
                  <a:lnTo>
                    <a:pt x="8096250" y="650748"/>
                  </a:lnTo>
                  <a:lnTo>
                    <a:pt x="8086725" y="650748"/>
                  </a:lnTo>
                  <a:lnTo>
                    <a:pt x="8096250" y="650748"/>
                  </a:lnTo>
                  <a:cubicBezTo>
                    <a:pt x="8096250" y="727075"/>
                    <a:pt x="8033131" y="788543"/>
                    <a:pt x="7955661" y="788543"/>
                  </a:cubicBezTo>
                  <a:lnTo>
                    <a:pt x="7955661" y="779018"/>
                  </a:lnTo>
                  <a:lnTo>
                    <a:pt x="7955661" y="788543"/>
                  </a:lnTo>
                  <a:lnTo>
                    <a:pt x="140589" y="788543"/>
                  </a:lnTo>
                  <a:lnTo>
                    <a:pt x="140589" y="779018"/>
                  </a:lnTo>
                  <a:lnTo>
                    <a:pt x="140589" y="788543"/>
                  </a:lnTo>
                  <a:cubicBezTo>
                    <a:pt x="63119" y="788543"/>
                    <a:pt x="0" y="726948"/>
                    <a:pt x="0" y="650748"/>
                  </a:cubicBezTo>
                  <a:lnTo>
                    <a:pt x="0" y="137795"/>
                  </a:lnTo>
                  <a:lnTo>
                    <a:pt x="9525" y="137795"/>
                  </a:lnTo>
                  <a:lnTo>
                    <a:pt x="0" y="137795"/>
                  </a:lnTo>
                  <a:moveTo>
                    <a:pt x="19050" y="137795"/>
                  </a:moveTo>
                  <a:lnTo>
                    <a:pt x="19050" y="650748"/>
                  </a:lnTo>
                  <a:lnTo>
                    <a:pt x="9525" y="650748"/>
                  </a:lnTo>
                  <a:lnTo>
                    <a:pt x="19050" y="650748"/>
                  </a:lnTo>
                  <a:cubicBezTo>
                    <a:pt x="19050" y="716153"/>
                    <a:pt x="73279" y="769493"/>
                    <a:pt x="140589" y="769493"/>
                  </a:cubicBezTo>
                  <a:lnTo>
                    <a:pt x="7955661" y="769493"/>
                  </a:lnTo>
                  <a:cubicBezTo>
                    <a:pt x="8022971" y="769493"/>
                    <a:pt x="8077200" y="716153"/>
                    <a:pt x="8077200" y="650748"/>
                  </a:cubicBezTo>
                  <a:lnTo>
                    <a:pt x="8077200" y="137795"/>
                  </a:lnTo>
                  <a:cubicBezTo>
                    <a:pt x="8077200" y="72390"/>
                    <a:pt x="8022971" y="19050"/>
                    <a:pt x="7955661" y="19050"/>
                  </a:cubicBezTo>
                  <a:lnTo>
                    <a:pt x="140589" y="19050"/>
                  </a:lnTo>
                  <a:lnTo>
                    <a:pt x="140589" y="9525"/>
                  </a:lnTo>
                  <a:lnTo>
                    <a:pt x="140589" y="19050"/>
                  </a:lnTo>
                  <a:cubicBezTo>
                    <a:pt x="73279" y="19050"/>
                    <a:pt x="19050" y="72390"/>
                    <a:pt x="19050" y="137795"/>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33" name="TextBox 10">
              <a:extLst>
                <a:ext uri="{FF2B5EF4-FFF2-40B4-BE49-F238E27FC236}">
                  <a16:creationId xmlns:a16="http://schemas.microsoft.com/office/drawing/2014/main" id="{5111C1B3-3534-4162-2889-E6C9CEC70E61}"/>
                </a:ext>
              </a:extLst>
            </p:cNvPr>
            <p:cNvSpPr txBox="1">
              <a:spLocks noChangeArrowheads="1"/>
            </p:cNvSpPr>
            <p:nvPr/>
          </p:nvSpPr>
          <p:spPr bwMode="auto">
            <a:xfrm>
              <a:off x="0" y="-57150"/>
              <a:ext cx="8096250" cy="8456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0800" tIns="50800" rIns="50800" bIns="5080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lnSpc>
                  <a:spcPts val="3238"/>
                </a:lnSpc>
                <a:spcBef>
                  <a:spcPct val="0"/>
                </a:spcBef>
                <a:buFontTx/>
                <a:buNone/>
              </a:pPr>
              <a:endParaRPr lang="nb-NO" altLang="nb-NO" sz="1800" dirty="0"/>
            </a:p>
            <a:p>
              <a:pPr algn="ctr" eaLnBrk="1" hangingPunct="1">
                <a:lnSpc>
                  <a:spcPts val="3238"/>
                </a:lnSpc>
                <a:spcBef>
                  <a:spcPct val="0"/>
                </a:spcBef>
                <a:buFontTx/>
                <a:buNone/>
              </a:pPr>
              <a:r>
                <a:rPr lang="en-US" altLang="nb-NO" sz="2700" dirty="0" err="1">
                  <a:solidFill>
                    <a:srgbClr val="000000"/>
                  </a:solidFill>
                  <a:latin typeface="Calibri (MS)" charset="0"/>
                  <a:cs typeface="Calibri (MS)" charset="0"/>
                  <a:sym typeface="Calibri (MS)" charset="0"/>
                </a:rPr>
                <a:t>Formål</a:t>
              </a:r>
              <a:r>
                <a:rPr lang="en-US" altLang="nb-NO" sz="2700" dirty="0">
                  <a:solidFill>
                    <a:srgbClr val="000000"/>
                  </a:solidFill>
                  <a:latin typeface="Calibri (MS)" charset="0"/>
                  <a:cs typeface="Calibri (MS)" charset="0"/>
                  <a:sym typeface="Calibri (MS)" charset="0"/>
                </a:rPr>
                <a:t> med </a:t>
              </a:r>
              <a:r>
                <a:rPr lang="en-US" altLang="nb-NO" sz="2700" dirty="0" err="1">
                  <a:solidFill>
                    <a:srgbClr val="000000"/>
                  </a:solidFill>
                  <a:latin typeface="Calibri (MS)" charset="0"/>
                  <a:cs typeface="Calibri (MS)" charset="0"/>
                  <a:sym typeface="Calibri (MS)" charset="0"/>
                </a:rPr>
                <a:t>investeringene</a:t>
              </a:r>
              <a:endParaRPr lang="en-US" altLang="nb-NO" sz="2700" dirty="0">
                <a:solidFill>
                  <a:srgbClr val="000000"/>
                </a:solidFill>
                <a:latin typeface="Calibri (MS)" charset="0"/>
                <a:cs typeface="Calibri (MS)" charset="0"/>
                <a:sym typeface="Calibri (MS)" charset="0"/>
              </a:endParaRPr>
            </a:p>
            <a:p>
              <a:pPr algn="ctr" eaLnBrk="1" hangingPunct="1">
                <a:lnSpc>
                  <a:spcPts val="3238"/>
                </a:lnSpc>
                <a:spcBef>
                  <a:spcPct val="0"/>
                </a:spcBef>
                <a:buFontTx/>
                <a:buNone/>
              </a:pPr>
              <a:endParaRPr lang="en-US" altLang="nb-NO" sz="2700" dirty="0">
                <a:solidFill>
                  <a:srgbClr val="000000"/>
                </a:solidFill>
                <a:latin typeface="Calibri (MS)" charset="0"/>
                <a:cs typeface="Calibri (MS)" charset="0"/>
                <a:sym typeface="Calibri (MS)" charset="0"/>
              </a:endParaRPr>
            </a:p>
          </p:txBody>
        </p:sp>
      </p:grpSp>
      <p:grpSp>
        <p:nvGrpSpPr>
          <p:cNvPr id="8199" name="Group 11">
            <a:extLst>
              <a:ext uri="{FF2B5EF4-FFF2-40B4-BE49-F238E27FC236}">
                <a16:creationId xmlns:a16="http://schemas.microsoft.com/office/drawing/2014/main" id="{F11BDD52-32FF-622C-A702-D2DA69DF4024}"/>
              </a:ext>
            </a:extLst>
          </p:cNvPr>
          <p:cNvGrpSpPr>
            <a:grpSpLocks/>
          </p:cNvGrpSpPr>
          <p:nvPr/>
        </p:nvGrpSpPr>
        <p:grpSpPr bwMode="auto">
          <a:xfrm>
            <a:off x="1477963" y="4622710"/>
            <a:ext cx="6073775" cy="592138"/>
            <a:chOff x="0" y="0"/>
            <a:chExt cx="8096250" cy="788492"/>
          </a:xfrm>
        </p:grpSpPr>
        <p:sp>
          <p:nvSpPr>
            <p:cNvPr id="8230" name="Freeform 12">
              <a:extLst>
                <a:ext uri="{FF2B5EF4-FFF2-40B4-BE49-F238E27FC236}">
                  <a16:creationId xmlns:a16="http://schemas.microsoft.com/office/drawing/2014/main" id="{5817D036-11EF-E514-6069-27499263FD87}"/>
                </a:ext>
              </a:extLst>
            </p:cNvPr>
            <p:cNvSpPr>
              <a:spLocks/>
            </p:cNvSpPr>
            <p:nvPr/>
          </p:nvSpPr>
          <p:spPr bwMode="auto">
            <a:xfrm>
              <a:off x="0" y="0"/>
              <a:ext cx="8096250" cy="788543"/>
            </a:xfrm>
            <a:custGeom>
              <a:avLst/>
              <a:gdLst>
                <a:gd name="T0" fmla="*/ 0 w 8096250"/>
                <a:gd name="T1" fmla="*/ 137795 h 788543"/>
                <a:gd name="T2" fmla="*/ 140589 w 8096250"/>
                <a:gd name="T3" fmla="*/ 0 h 788543"/>
                <a:gd name="T4" fmla="*/ 7955661 w 8096250"/>
                <a:gd name="T5" fmla="*/ 0 h 788543"/>
                <a:gd name="T6" fmla="*/ 7955661 w 8096250"/>
                <a:gd name="T7" fmla="*/ 9525 h 788543"/>
                <a:gd name="T8" fmla="*/ 7955661 w 8096250"/>
                <a:gd name="T9" fmla="*/ 0 h 788543"/>
                <a:gd name="T10" fmla="*/ 8096250 w 8096250"/>
                <a:gd name="T11" fmla="*/ 137795 h 788543"/>
                <a:gd name="T12" fmla="*/ 8086725 w 8096250"/>
                <a:gd name="T13" fmla="*/ 137795 h 788543"/>
                <a:gd name="T14" fmla="*/ 8096250 w 8096250"/>
                <a:gd name="T15" fmla="*/ 137795 h 788543"/>
                <a:gd name="T16" fmla="*/ 8096250 w 8096250"/>
                <a:gd name="T17" fmla="*/ 650748 h 788543"/>
                <a:gd name="T18" fmla="*/ 8086725 w 8096250"/>
                <a:gd name="T19" fmla="*/ 650748 h 788543"/>
                <a:gd name="T20" fmla="*/ 8096250 w 8096250"/>
                <a:gd name="T21" fmla="*/ 650748 h 788543"/>
                <a:gd name="T22" fmla="*/ 7955661 w 8096250"/>
                <a:gd name="T23" fmla="*/ 788543 h 788543"/>
                <a:gd name="T24" fmla="*/ 7955661 w 8096250"/>
                <a:gd name="T25" fmla="*/ 779018 h 788543"/>
                <a:gd name="T26" fmla="*/ 7955661 w 8096250"/>
                <a:gd name="T27" fmla="*/ 788543 h 788543"/>
                <a:gd name="T28" fmla="*/ 140589 w 8096250"/>
                <a:gd name="T29" fmla="*/ 788543 h 788543"/>
                <a:gd name="T30" fmla="*/ 140589 w 8096250"/>
                <a:gd name="T31" fmla="*/ 779018 h 788543"/>
                <a:gd name="T32" fmla="*/ 140589 w 8096250"/>
                <a:gd name="T33" fmla="*/ 788543 h 788543"/>
                <a:gd name="T34" fmla="*/ 0 w 8096250"/>
                <a:gd name="T35" fmla="*/ 650748 h 788543"/>
                <a:gd name="T36" fmla="*/ 0 w 8096250"/>
                <a:gd name="T37" fmla="*/ 137795 h 788543"/>
                <a:gd name="T38" fmla="*/ 9525 w 8096250"/>
                <a:gd name="T39" fmla="*/ 137795 h 788543"/>
                <a:gd name="T40" fmla="*/ 0 w 8096250"/>
                <a:gd name="T41" fmla="*/ 137795 h 788543"/>
                <a:gd name="T42" fmla="*/ 19050 w 8096250"/>
                <a:gd name="T43" fmla="*/ 137795 h 788543"/>
                <a:gd name="T44" fmla="*/ 19050 w 8096250"/>
                <a:gd name="T45" fmla="*/ 650748 h 788543"/>
                <a:gd name="T46" fmla="*/ 9525 w 8096250"/>
                <a:gd name="T47" fmla="*/ 650748 h 788543"/>
                <a:gd name="T48" fmla="*/ 19050 w 8096250"/>
                <a:gd name="T49" fmla="*/ 650748 h 788543"/>
                <a:gd name="T50" fmla="*/ 140589 w 8096250"/>
                <a:gd name="T51" fmla="*/ 769493 h 788543"/>
                <a:gd name="T52" fmla="*/ 7955661 w 8096250"/>
                <a:gd name="T53" fmla="*/ 769493 h 788543"/>
                <a:gd name="T54" fmla="*/ 8077200 w 8096250"/>
                <a:gd name="T55" fmla="*/ 650748 h 788543"/>
                <a:gd name="T56" fmla="*/ 8077200 w 8096250"/>
                <a:gd name="T57" fmla="*/ 137795 h 788543"/>
                <a:gd name="T58" fmla="*/ 7955661 w 8096250"/>
                <a:gd name="T59" fmla="*/ 19050 h 788543"/>
                <a:gd name="T60" fmla="*/ 140589 w 8096250"/>
                <a:gd name="T61" fmla="*/ 19050 h 788543"/>
                <a:gd name="T62" fmla="*/ 140589 w 8096250"/>
                <a:gd name="T63" fmla="*/ 9525 h 788543"/>
                <a:gd name="T64" fmla="*/ 140589 w 8096250"/>
                <a:gd name="T65" fmla="*/ 19050 h 788543"/>
                <a:gd name="T66" fmla="*/ 19050 w 8096250"/>
                <a:gd name="T67" fmla="*/ 137795 h 78854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8096250" h="788543">
                  <a:moveTo>
                    <a:pt x="0" y="137795"/>
                  </a:moveTo>
                  <a:cubicBezTo>
                    <a:pt x="0" y="61468"/>
                    <a:pt x="63119" y="0"/>
                    <a:pt x="140589" y="0"/>
                  </a:cubicBezTo>
                  <a:lnTo>
                    <a:pt x="7955661" y="0"/>
                  </a:lnTo>
                  <a:lnTo>
                    <a:pt x="7955661" y="9525"/>
                  </a:lnTo>
                  <a:lnTo>
                    <a:pt x="7955661" y="0"/>
                  </a:lnTo>
                  <a:cubicBezTo>
                    <a:pt x="8033131" y="0"/>
                    <a:pt x="8096250" y="61468"/>
                    <a:pt x="8096250" y="137795"/>
                  </a:cubicBezTo>
                  <a:lnTo>
                    <a:pt x="8086725" y="137795"/>
                  </a:lnTo>
                  <a:lnTo>
                    <a:pt x="8096250" y="137795"/>
                  </a:lnTo>
                  <a:lnTo>
                    <a:pt x="8096250" y="650748"/>
                  </a:lnTo>
                  <a:lnTo>
                    <a:pt x="8086725" y="650748"/>
                  </a:lnTo>
                  <a:lnTo>
                    <a:pt x="8096250" y="650748"/>
                  </a:lnTo>
                  <a:cubicBezTo>
                    <a:pt x="8096250" y="727075"/>
                    <a:pt x="8033131" y="788543"/>
                    <a:pt x="7955661" y="788543"/>
                  </a:cubicBezTo>
                  <a:lnTo>
                    <a:pt x="7955661" y="779018"/>
                  </a:lnTo>
                  <a:lnTo>
                    <a:pt x="7955661" y="788543"/>
                  </a:lnTo>
                  <a:lnTo>
                    <a:pt x="140589" y="788543"/>
                  </a:lnTo>
                  <a:lnTo>
                    <a:pt x="140589" y="779018"/>
                  </a:lnTo>
                  <a:lnTo>
                    <a:pt x="140589" y="788543"/>
                  </a:lnTo>
                  <a:cubicBezTo>
                    <a:pt x="63119" y="788543"/>
                    <a:pt x="0" y="726948"/>
                    <a:pt x="0" y="650748"/>
                  </a:cubicBezTo>
                  <a:lnTo>
                    <a:pt x="0" y="137795"/>
                  </a:lnTo>
                  <a:lnTo>
                    <a:pt x="9525" y="137795"/>
                  </a:lnTo>
                  <a:lnTo>
                    <a:pt x="0" y="137795"/>
                  </a:lnTo>
                  <a:moveTo>
                    <a:pt x="19050" y="137795"/>
                  </a:moveTo>
                  <a:lnTo>
                    <a:pt x="19050" y="650748"/>
                  </a:lnTo>
                  <a:lnTo>
                    <a:pt x="9525" y="650748"/>
                  </a:lnTo>
                  <a:lnTo>
                    <a:pt x="19050" y="650748"/>
                  </a:lnTo>
                  <a:cubicBezTo>
                    <a:pt x="19050" y="716153"/>
                    <a:pt x="73279" y="769493"/>
                    <a:pt x="140589" y="769493"/>
                  </a:cubicBezTo>
                  <a:lnTo>
                    <a:pt x="7955661" y="769493"/>
                  </a:lnTo>
                  <a:cubicBezTo>
                    <a:pt x="8022971" y="769493"/>
                    <a:pt x="8077200" y="716153"/>
                    <a:pt x="8077200" y="650748"/>
                  </a:cubicBezTo>
                  <a:lnTo>
                    <a:pt x="8077200" y="137795"/>
                  </a:lnTo>
                  <a:cubicBezTo>
                    <a:pt x="8077200" y="72390"/>
                    <a:pt x="8022971" y="19050"/>
                    <a:pt x="7955661" y="19050"/>
                  </a:cubicBezTo>
                  <a:lnTo>
                    <a:pt x="140589" y="19050"/>
                  </a:lnTo>
                  <a:lnTo>
                    <a:pt x="140589" y="9525"/>
                  </a:lnTo>
                  <a:lnTo>
                    <a:pt x="140589" y="19050"/>
                  </a:lnTo>
                  <a:cubicBezTo>
                    <a:pt x="73279" y="19050"/>
                    <a:pt x="19050" y="72390"/>
                    <a:pt x="19050" y="137795"/>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31" name="TextBox 13">
              <a:extLst>
                <a:ext uri="{FF2B5EF4-FFF2-40B4-BE49-F238E27FC236}">
                  <a16:creationId xmlns:a16="http://schemas.microsoft.com/office/drawing/2014/main" id="{E8244312-240F-0EE3-BDCB-EE4103B591D8}"/>
                </a:ext>
              </a:extLst>
            </p:cNvPr>
            <p:cNvSpPr txBox="1">
              <a:spLocks noChangeArrowheads="1"/>
            </p:cNvSpPr>
            <p:nvPr/>
          </p:nvSpPr>
          <p:spPr bwMode="auto">
            <a:xfrm>
              <a:off x="0" y="-57150"/>
              <a:ext cx="8096250" cy="8456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0800" tIns="50800" rIns="50800" bIns="5080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lnSpc>
                  <a:spcPts val="3238"/>
                </a:lnSpc>
                <a:spcBef>
                  <a:spcPct val="0"/>
                </a:spcBef>
                <a:buFontTx/>
                <a:buNone/>
              </a:pPr>
              <a:endParaRPr lang="nb-NO" altLang="nb-NO" sz="1800"/>
            </a:p>
            <a:p>
              <a:pPr algn="ctr" eaLnBrk="1" hangingPunct="1">
                <a:lnSpc>
                  <a:spcPts val="3238"/>
                </a:lnSpc>
                <a:spcBef>
                  <a:spcPct val="0"/>
                </a:spcBef>
                <a:buFontTx/>
                <a:buNone/>
              </a:pPr>
              <a:r>
                <a:rPr lang="en-US" altLang="nb-NO" sz="2700">
                  <a:solidFill>
                    <a:srgbClr val="000000"/>
                  </a:solidFill>
                  <a:latin typeface="Calibri (MS)" charset="0"/>
                  <a:cs typeface="Calibri (MS)" charset="0"/>
                  <a:sym typeface="Calibri (MS)" charset="0"/>
                </a:rPr>
                <a:t>Avkastningskrav/mål</a:t>
              </a:r>
            </a:p>
            <a:p>
              <a:pPr algn="ctr" eaLnBrk="1" hangingPunct="1">
                <a:lnSpc>
                  <a:spcPts val="3238"/>
                </a:lnSpc>
                <a:spcBef>
                  <a:spcPct val="0"/>
                </a:spcBef>
                <a:buFontTx/>
                <a:buNone/>
              </a:pPr>
              <a:endParaRPr lang="en-US" altLang="nb-NO" sz="2700">
                <a:solidFill>
                  <a:srgbClr val="000000"/>
                </a:solidFill>
                <a:latin typeface="Calibri (MS)" charset="0"/>
                <a:cs typeface="Calibri (MS)" charset="0"/>
                <a:sym typeface="Calibri (MS)" charset="0"/>
              </a:endParaRPr>
            </a:p>
          </p:txBody>
        </p:sp>
      </p:grpSp>
      <p:grpSp>
        <p:nvGrpSpPr>
          <p:cNvPr id="8200" name="Group 14">
            <a:extLst>
              <a:ext uri="{FF2B5EF4-FFF2-40B4-BE49-F238E27FC236}">
                <a16:creationId xmlns:a16="http://schemas.microsoft.com/office/drawing/2014/main" id="{156B15F0-1C2C-8A51-B329-742811EB8AEA}"/>
              </a:ext>
            </a:extLst>
          </p:cNvPr>
          <p:cNvGrpSpPr>
            <a:grpSpLocks/>
          </p:cNvGrpSpPr>
          <p:nvPr/>
        </p:nvGrpSpPr>
        <p:grpSpPr bwMode="auto">
          <a:xfrm>
            <a:off x="1477963" y="5632360"/>
            <a:ext cx="6073775" cy="590550"/>
            <a:chOff x="0" y="0"/>
            <a:chExt cx="8096250" cy="788492"/>
          </a:xfrm>
        </p:grpSpPr>
        <p:sp>
          <p:nvSpPr>
            <p:cNvPr id="8228" name="Freeform 15">
              <a:extLst>
                <a:ext uri="{FF2B5EF4-FFF2-40B4-BE49-F238E27FC236}">
                  <a16:creationId xmlns:a16="http://schemas.microsoft.com/office/drawing/2014/main" id="{0683790B-B650-7405-DEE0-0C6942E5589D}"/>
                </a:ext>
              </a:extLst>
            </p:cNvPr>
            <p:cNvSpPr>
              <a:spLocks/>
            </p:cNvSpPr>
            <p:nvPr/>
          </p:nvSpPr>
          <p:spPr bwMode="auto">
            <a:xfrm>
              <a:off x="0" y="0"/>
              <a:ext cx="8096250" cy="788543"/>
            </a:xfrm>
            <a:custGeom>
              <a:avLst/>
              <a:gdLst>
                <a:gd name="T0" fmla="*/ 0 w 8096250"/>
                <a:gd name="T1" fmla="*/ 137795 h 788543"/>
                <a:gd name="T2" fmla="*/ 140589 w 8096250"/>
                <a:gd name="T3" fmla="*/ 0 h 788543"/>
                <a:gd name="T4" fmla="*/ 7955661 w 8096250"/>
                <a:gd name="T5" fmla="*/ 0 h 788543"/>
                <a:gd name="T6" fmla="*/ 7955661 w 8096250"/>
                <a:gd name="T7" fmla="*/ 9525 h 788543"/>
                <a:gd name="T8" fmla="*/ 7955661 w 8096250"/>
                <a:gd name="T9" fmla="*/ 0 h 788543"/>
                <a:gd name="T10" fmla="*/ 8096250 w 8096250"/>
                <a:gd name="T11" fmla="*/ 137795 h 788543"/>
                <a:gd name="T12" fmla="*/ 8086725 w 8096250"/>
                <a:gd name="T13" fmla="*/ 137795 h 788543"/>
                <a:gd name="T14" fmla="*/ 8096250 w 8096250"/>
                <a:gd name="T15" fmla="*/ 137795 h 788543"/>
                <a:gd name="T16" fmla="*/ 8096250 w 8096250"/>
                <a:gd name="T17" fmla="*/ 650748 h 788543"/>
                <a:gd name="T18" fmla="*/ 8086725 w 8096250"/>
                <a:gd name="T19" fmla="*/ 650748 h 788543"/>
                <a:gd name="T20" fmla="*/ 8096250 w 8096250"/>
                <a:gd name="T21" fmla="*/ 650748 h 788543"/>
                <a:gd name="T22" fmla="*/ 7955661 w 8096250"/>
                <a:gd name="T23" fmla="*/ 788543 h 788543"/>
                <a:gd name="T24" fmla="*/ 7955661 w 8096250"/>
                <a:gd name="T25" fmla="*/ 779018 h 788543"/>
                <a:gd name="T26" fmla="*/ 7955661 w 8096250"/>
                <a:gd name="T27" fmla="*/ 788543 h 788543"/>
                <a:gd name="T28" fmla="*/ 140589 w 8096250"/>
                <a:gd name="T29" fmla="*/ 788543 h 788543"/>
                <a:gd name="T30" fmla="*/ 140589 w 8096250"/>
                <a:gd name="T31" fmla="*/ 779018 h 788543"/>
                <a:gd name="T32" fmla="*/ 140589 w 8096250"/>
                <a:gd name="T33" fmla="*/ 788543 h 788543"/>
                <a:gd name="T34" fmla="*/ 0 w 8096250"/>
                <a:gd name="T35" fmla="*/ 650748 h 788543"/>
                <a:gd name="T36" fmla="*/ 0 w 8096250"/>
                <a:gd name="T37" fmla="*/ 137795 h 788543"/>
                <a:gd name="T38" fmla="*/ 9525 w 8096250"/>
                <a:gd name="T39" fmla="*/ 137795 h 788543"/>
                <a:gd name="T40" fmla="*/ 0 w 8096250"/>
                <a:gd name="T41" fmla="*/ 137795 h 788543"/>
                <a:gd name="T42" fmla="*/ 19050 w 8096250"/>
                <a:gd name="T43" fmla="*/ 137795 h 788543"/>
                <a:gd name="T44" fmla="*/ 19050 w 8096250"/>
                <a:gd name="T45" fmla="*/ 650748 h 788543"/>
                <a:gd name="T46" fmla="*/ 9525 w 8096250"/>
                <a:gd name="T47" fmla="*/ 650748 h 788543"/>
                <a:gd name="T48" fmla="*/ 19050 w 8096250"/>
                <a:gd name="T49" fmla="*/ 650748 h 788543"/>
                <a:gd name="T50" fmla="*/ 140589 w 8096250"/>
                <a:gd name="T51" fmla="*/ 769493 h 788543"/>
                <a:gd name="T52" fmla="*/ 7955661 w 8096250"/>
                <a:gd name="T53" fmla="*/ 769493 h 788543"/>
                <a:gd name="T54" fmla="*/ 8077200 w 8096250"/>
                <a:gd name="T55" fmla="*/ 650748 h 788543"/>
                <a:gd name="T56" fmla="*/ 8077200 w 8096250"/>
                <a:gd name="T57" fmla="*/ 137795 h 788543"/>
                <a:gd name="T58" fmla="*/ 7955661 w 8096250"/>
                <a:gd name="T59" fmla="*/ 19050 h 788543"/>
                <a:gd name="T60" fmla="*/ 140589 w 8096250"/>
                <a:gd name="T61" fmla="*/ 19050 h 788543"/>
                <a:gd name="T62" fmla="*/ 140589 w 8096250"/>
                <a:gd name="T63" fmla="*/ 9525 h 788543"/>
                <a:gd name="T64" fmla="*/ 140589 w 8096250"/>
                <a:gd name="T65" fmla="*/ 19050 h 788543"/>
                <a:gd name="T66" fmla="*/ 19050 w 8096250"/>
                <a:gd name="T67" fmla="*/ 137795 h 78854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8096250" h="788543">
                  <a:moveTo>
                    <a:pt x="0" y="137795"/>
                  </a:moveTo>
                  <a:cubicBezTo>
                    <a:pt x="0" y="61468"/>
                    <a:pt x="63119" y="0"/>
                    <a:pt x="140589" y="0"/>
                  </a:cubicBezTo>
                  <a:lnTo>
                    <a:pt x="7955661" y="0"/>
                  </a:lnTo>
                  <a:lnTo>
                    <a:pt x="7955661" y="9525"/>
                  </a:lnTo>
                  <a:lnTo>
                    <a:pt x="7955661" y="0"/>
                  </a:lnTo>
                  <a:cubicBezTo>
                    <a:pt x="8033131" y="0"/>
                    <a:pt x="8096250" y="61468"/>
                    <a:pt x="8096250" y="137795"/>
                  </a:cubicBezTo>
                  <a:lnTo>
                    <a:pt x="8086725" y="137795"/>
                  </a:lnTo>
                  <a:lnTo>
                    <a:pt x="8096250" y="137795"/>
                  </a:lnTo>
                  <a:lnTo>
                    <a:pt x="8096250" y="650748"/>
                  </a:lnTo>
                  <a:lnTo>
                    <a:pt x="8086725" y="650748"/>
                  </a:lnTo>
                  <a:lnTo>
                    <a:pt x="8096250" y="650748"/>
                  </a:lnTo>
                  <a:cubicBezTo>
                    <a:pt x="8096250" y="727075"/>
                    <a:pt x="8033131" y="788543"/>
                    <a:pt x="7955661" y="788543"/>
                  </a:cubicBezTo>
                  <a:lnTo>
                    <a:pt x="7955661" y="779018"/>
                  </a:lnTo>
                  <a:lnTo>
                    <a:pt x="7955661" y="788543"/>
                  </a:lnTo>
                  <a:lnTo>
                    <a:pt x="140589" y="788543"/>
                  </a:lnTo>
                  <a:lnTo>
                    <a:pt x="140589" y="779018"/>
                  </a:lnTo>
                  <a:lnTo>
                    <a:pt x="140589" y="788543"/>
                  </a:lnTo>
                  <a:cubicBezTo>
                    <a:pt x="63119" y="788543"/>
                    <a:pt x="0" y="726948"/>
                    <a:pt x="0" y="650748"/>
                  </a:cubicBezTo>
                  <a:lnTo>
                    <a:pt x="0" y="137795"/>
                  </a:lnTo>
                  <a:lnTo>
                    <a:pt x="9525" y="137795"/>
                  </a:lnTo>
                  <a:lnTo>
                    <a:pt x="0" y="137795"/>
                  </a:lnTo>
                  <a:moveTo>
                    <a:pt x="19050" y="137795"/>
                  </a:moveTo>
                  <a:lnTo>
                    <a:pt x="19050" y="650748"/>
                  </a:lnTo>
                  <a:lnTo>
                    <a:pt x="9525" y="650748"/>
                  </a:lnTo>
                  <a:lnTo>
                    <a:pt x="19050" y="650748"/>
                  </a:lnTo>
                  <a:cubicBezTo>
                    <a:pt x="19050" y="716153"/>
                    <a:pt x="73279" y="769493"/>
                    <a:pt x="140589" y="769493"/>
                  </a:cubicBezTo>
                  <a:lnTo>
                    <a:pt x="7955661" y="769493"/>
                  </a:lnTo>
                  <a:cubicBezTo>
                    <a:pt x="8022971" y="769493"/>
                    <a:pt x="8077200" y="716153"/>
                    <a:pt x="8077200" y="650748"/>
                  </a:cubicBezTo>
                  <a:lnTo>
                    <a:pt x="8077200" y="137795"/>
                  </a:lnTo>
                  <a:cubicBezTo>
                    <a:pt x="8077200" y="72390"/>
                    <a:pt x="8022971" y="19050"/>
                    <a:pt x="7955661" y="19050"/>
                  </a:cubicBezTo>
                  <a:lnTo>
                    <a:pt x="140589" y="19050"/>
                  </a:lnTo>
                  <a:lnTo>
                    <a:pt x="140589" y="9525"/>
                  </a:lnTo>
                  <a:lnTo>
                    <a:pt x="140589" y="19050"/>
                  </a:lnTo>
                  <a:cubicBezTo>
                    <a:pt x="73279" y="19050"/>
                    <a:pt x="19050" y="72390"/>
                    <a:pt x="19050" y="137795"/>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29" name="TextBox 16">
              <a:extLst>
                <a:ext uri="{FF2B5EF4-FFF2-40B4-BE49-F238E27FC236}">
                  <a16:creationId xmlns:a16="http://schemas.microsoft.com/office/drawing/2014/main" id="{B6F0B5C3-622D-3606-0DAD-A7A1C40BECD0}"/>
                </a:ext>
              </a:extLst>
            </p:cNvPr>
            <p:cNvSpPr txBox="1">
              <a:spLocks noChangeArrowheads="1"/>
            </p:cNvSpPr>
            <p:nvPr/>
          </p:nvSpPr>
          <p:spPr bwMode="auto">
            <a:xfrm>
              <a:off x="0" y="-57150"/>
              <a:ext cx="8096250" cy="8456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0800" tIns="50800" rIns="50800" bIns="5080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lnSpc>
                  <a:spcPts val="3238"/>
                </a:lnSpc>
                <a:spcBef>
                  <a:spcPct val="0"/>
                </a:spcBef>
                <a:buFontTx/>
                <a:buNone/>
              </a:pPr>
              <a:endParaRPr lang="nb-NO" altLang="nb-NO" sz="1800" dirty="0"/>
            </a:p>
            <a:p>
              <a:pPr algn="ctr" eaLnBrk="1" hangingPunct="1">
                <a:lnSpc>
                  <a:spcPts val="3238"/>
                </a:lnSpc>
                <a:spcBef>
                  <a:spcPct val="0"/>
                </a:spcBef>
                <a:buFontTx/>
                <a:buNone/>
              </a:pPr>
              <a:r>
                <a:rPr lang="en-US" altLang="nb-NO" sz="2700" dirty="0" err="1">
                  <a:solidFill>
                    <a:srgbClr val="000000"/>
                  </a:solidFill>
                  <a:latin typeface="Calibri (MS)" charset="0"/>
                  <a:cs typeface="Calibri (MS)" charset="0"/>
                  <a:sym typeface="Calibri (MS)" charset="0"/>
                </a:rPr>
                <a:t>Investeringshorisont</a:t>
              </a:r>
              <a:endParaRPr lang="en-US" altLang="nb-NO" sz="2700" dirty="0">
                <a:solidFill>
                  <a:srgbClr val="000000"/>
                </a:solidFill>
                <a:latin typeface="Calibri (MS)" charset="0"/>
                <a:cs typeface="Calibri (MS)" charset="0"/>
                <a:sym typeface="Calibri (MS)" charset="0"/>
              </a:endParaRPr>
            </a:p>
            <a:p>
              <a:pPr algn="ctr" eaLnBrk="1" hangingPunct="1">
                <a:lnSpc>
                  <a:spcPts val="3238"/>
                </a:lnSpc>
                <a:spcBef>
                  <a:spcPct val="0"/>
                </a:spcBef>
                <a:buFontTx/>
                <a:buNone/>
              </a:pPr>
              <a:endParaRPr lang="en-US" altLang="nb-NO" sz="2700" dirty="0">
                <a:solidFill>
                  <a:srgbClr val="000000"/>
                </a:solidFill>
                <a:latin typeface="Calibri (MS)" charset="0"/>
                <a:cs typeface="Calibri (MS)" charset="0"/>
                <a:sym typeface="Calibri (MS)" charset="0"/>
              </a:endParaRPr>
            </a:p>
          </p:txBody>
        </p:sp>
      </p:grpSp>
      <p:grpSp>
        <p:nvGrpSpPr>
          <p:cNvPr id="8201" name="Group 17">
            <a:extLst>
              <a:ext uri="{FF2B5EF4-FFF2-40B4-BE49-F238E27FC236}">
                <a16:creationId xmlns:a16="http://schemas.microsoft.com/office/drawing/2014/main" id="{6598CBB7-6A37-A761-D2A8-5350A5D61E8D}"/>
              </a:ext>
            </a:extLst>
          </p:cNvPr>
          <p:cNvGrpSpPr>
            <a:grpSpLocks/>
          </p:cNvGrpSpPr>
          <p:nvPr/>
        </p:nvGrpSpPr>
        <p:grpSpPr bwMode="auto">
          <a:xfrm>
            <a:off x="1470024" y="6591155"/>
            <a:ext cx="6081714" cy="635093"/>
            <a:chOff x="-10582" y="-57150"/>
            <a:chExt cx="8106832" cy="845693"/>
          </a:xfrm>
        </p:grpSpPr>
        <p:sp>
          <p:nvSpPr>
            <p:cNvPr id="8226" name="Freeform 18">
              <a:extLst>
                <a:ext uri="{FF2B5EF4-FFF2-40B4-BE49-F238E27FC236}">
                  <a16:creationId xmlns:a16="http://schemas.microsoft.com/office/drawing/2014/main" id="{94464356-1B1C-4D1A-0ACD-06079C2147BC}"/>
                </a:ext>
              </a:extLst>
            </p:cNvPr>
            <p:cNvSpPr>
              <a:spLocks/>
            </p:cNvSpPr>
            <p:nvPr/>
          </p:nvSpPr>
          <p:spPr bwMode="auto">
            <a:xfrm>
              <a:off x="0" y="0"/>
              <a:ext cx="8096250" cy="788543"/>
            </a:xfrm>
            <a:custGeom>
              <a:avLst/>
              <a:gdLst>
                <a:gd name="T0" fmla="*/ 0 w 8096250"/>
                <a:gd name="T1" fmla="*/ 137795 h 788543"/>
                <a:gd name="T2" fmla="*/ 140589 w 8096250"/>
                <a:gd name="T3" fmla="*/ 0 h 788543"/>
                <a:gd name="T4" fmla="*/ 7955661 w 8096250"/>
                <a:gd name="T5" fmla="*/ 0 h 788543"/>
                <a:gd name="T6" fmla="*/ 7955661 w 8096250"/>
                <a:gd name="T7" fmla="*/ 9525 h 788543"/>
                <a:gd name="T8" fmla="*/ 7955661 w 8096250"/>
                <a:gd name="T9" fmla="*/ 0 h 788543"/>
                <a:gd name="T10" fmla="*/ 8096250 w 8096250"/>
                <a:gd name="T11" fmla="*/ 137795 h 788543"/>
                <a:gd name="T12" fmla="*/ 8086725 w 8096250"/>
                <a:gd name="T13" fmla="*/ 137795 h 788543"/>
                <a:gd name="T14" fmla="*/ 8096250 w 8096250"/>
                <a:gd name="T15" fmla="*/ 137795 h 788543"/>
                <a:gd name="T16" fmla="*/ 8096250 w 8096250"/>
                <a:gd name="T17" fmla="*/ 650748 h 788543"/>
                <a:gd name="T18" fmla="*/ 8086725 w 8096250"/>
                <a:gd name="T19" fmla="*/ 650748 h 788543"/>
                <a:gd name="T20" fmla="*/ 8096250 w 8096250"/>
                <a:gd name="T21" fmla="*/ 650748 h 788543"/>
                <a:gd name="T22" fmla="*/ 7955661 w 8096250"/>
                <a:gd name="T23" fmla="*/ 788543 h 788543"/>
                <a:gd name="T24" fmla="*/ 7955661 w 8096250"/>
                <a:gd name="T25" fmla="*/ 779018 h 788543"/>
                <a:gd name="T26" fmla="*/ 7955661 w 8096250"/>
                <a:gd name="T27" fmla="*/ 788543 h 788543"/>
                <a:gd name="T28" fmla="*/ 140589 w 8096250"/>
                <a:gd name="T29" fmla="*/ 788543 h 788543"/>
                <a:gd name="T30" fmla="*/ 140589 w 8096250"/>
                <a:gd name="T31" fmla="*/ 779018 h 788543"/>
                <a:gd name="T32" fmla="*/ 140589 w 8096250"/>
                <a:gd name="T33" fmla="*/ 788543 h 788543"/>
                <a:gd name="T34" fmla="*/ 0 w 8096250"/>
                <a:gd name="T35" fmla="*/ 650748 h 788543"/>
                <a:gd name="T36" fmla="*/ 0 w 8096250"/>
                <a:gd name="T37" fmla="*/ 137795 h 788543"/>
                <a:gd name="T38" fmla="*/ 9525 w 8096250"/>
                <a:gd name="T39" fmla="*/ 137795 h 788543"/>
                <a:gd name="T40" fmla="*/ 0 w 8096250"/>
                <a:gd name="T41" fmla="*/ 137795 h 788543"/>
                <a:gd name="T42" fmla="*/ 19050 w 8096250"/>
                <a:gd name="T43" fmla="*/ 137795 h 788543"/>
                <a:gd name="T44" fmla="*/ 19050 w 8096250"/>
                <a:gd name="T45" fmla="*/ 650748 h 788543"/>
                <a:gd name="T46" fmla="*/ 9525 w 8096250"/>
                <a:gd name="T47" fmla="*/ 650748 h 788543"/>
                <a:gd name="T48" fmla="*/ 19050 w 8096250"/>
                <a:gd name="T49" fmla="*/ 650748 h 788543"/>
                <a:gd name="T50" fmla="*/ 140589 w 8096250"/>
                <a:gd name="T51" fmla="*/ 769493 h 788543"/>
                <a:gd name="T52" fmla="*/ 7955661 w 8096250"/>
                <a:gd name="T53" fmla="*/ 769493 h 788543"/>
                <a:gd name="T54" fmla="*/ 8077200 w 8096250"/>
                <a:gd name="T55" fmla="*/ 650748 h 788543"/>
                <a:gd name="T56" fmla="*/ 8077200 w 8096250"/>
                <a:gd name="T57" fmla="*/ 137795 h 788543"/>
                <a:gd name="T58" fmla="*/ 7955661 w 8096250"/>
                <a:gd name="T59" fmla="*/ 19050 h 788543"/>
                <a:gd name="T60" fmla="*/ 140589 w 8096250"/>
                <a:gd name="T61" fmla="*/ 19050 h 788543"/>
                <a:gd name="T62" fmla="*/ 140589 w 8096250"/>
                <a:gd name="T63" fmla="*/ 9525 h 788543"/>
                <a:gd name="T64" fmla="*/ 140589 w 8096250"/>
                <a:gd name="T65" fmla="*/ 19050 h 788543"/>
                <a:gd name="T66" fmla="*/ 19050 w 8096250"/>
                <a:gd name="T67" fmla="*/ 137795 h 78854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8096250" h="788543">
                  <a:moveTo>
                    <a:pt x="0" y="137795"/>
                  </a:moveTo>
                  <a:cubicBezTo>
                    <a:pt x="0" y="61468"/>
                    <a:pt x="63119" y="0"/>
                    <a:pt x="140589" y="0"/>
                  </a:cubicBezTo>
                  <a:lnTo>
                    <a:pt x="7955661" y="0"/>
                  </a:lnTo>
                  <a:lnTo>
                    <a:pt x="7955661" y="9525"/>
                  </a:lnTo>
                  <a:lnTo>
                    <a:pt x="7955661" y="0"/>
                  </a:lnTo>
                  <a:cubicBezTo>
                    <a:pt x="8033131" y="0"/>
                    <a:pt x="8096250" y="61468"/>
                    <a:pt x="8096250" y="137795"/>
                  </a:cubicBezTo>
                  <a:lnTo>
                    <a:pt x="8086725" y="137795"/>
                  </a:lnTo>
                  <a:lnTo>
                    <a:pt x="8096250" y="137795"/>
                  </a:lnTo>
                  <a:lnTo>
                    <a:pt x="8096250" y="650748"/>
                  </a:lnTo>
                  <a:lnTo>
                    <a:pt x="8086725" y="650748"/>
                  </a:lnTo>
                  <a:lnTo>
                    <a:pt x="8096250" y="650748"/>
                  </a:lnTo>
                  <a:cubicBezTo>
                    <a:pt x="8096250" y="727075"/>
                    <a:pt x="8033131" y="788543"/>
                    <a:pt x="7955661" y="788543"/>
                  </a:cubicBezTo>
                  <a:lnTo>
                    <a:pt x="7955661" y="779018"/>
                  </a:lnTo>
                  <a:lnTo>
                    <a:pt x="7955661" y="788543"/>
                  </a:lnTo>
                  <a:lnTo>
                    <a:pt x="140589" y="788543"/>
                  </a:lnTo>
                  <a:lnTo>
                    <a:pt x="140589" y="779018"/>
                  </a:lnTo>
                  <a:lnTo>
                    <a:pt x="140589" y="788543"/>
                  </a:lnTo>
                  <a:cubicBezTo>
                    <a:pt x="63119" y="788543"/>
                    <a:pt x="0" y="726948"/>
                    <a:pt x="0" y="650748"/>
                  </a:cubicBezTo>
                  <a:lnTo>
                    <a:pt x="0" y="137795"/>
                  </a:lnTo>
                  <a:lnTo>
                    <a:pt x="9525" y="137795"/>
                  </a:lnTo>
                  <a:lnTo>
                    <a:pt x="0" y="137795"/>
                  </a:lnTo>
                  <a:moveTo>
                    <a:pt x="19050" y="137795"/>
                  </a:moveTo>
                  <a:lnTo>
                    <a:pt x="19050" y="650748"/>
                  </a:lnTo>
                  <a:lnTo>
                    <a:pt x="9525" y="650748"/>
                  </a:lnTo>
                  <a:lnTo>
                    <a:pt x="19050" y="650748"/>
                  </a:lnTo>
                  <a:cubicBezTo>
                    <a:pt x="19050" y="716153"/>
                    <a:pt x="73279" y="769493"/>
                    <a:pt x="140589" y="769493"/>
                  </a:cubicBezTo>
                  <a:lnTo>
                    <a:pt x="7955661" y="769493"/>
                  </a:lnTo>
                  <a:cubicBezTo>
                    <a:pt x="8022971" y="769493"/>
                    <a:pt x="8077200" y="716153"/>
                    <a:pt x="8077200" y="650748"/>
                  </a:cubicBezTo>
                  <a:lnTo>
                    <a:pt x="8077200" y="137795"/>
                  </a:lnTo>
                  <a:cubicBezTo>
                    <a:pt x="8077200" y="72390"/>
                    <a:pt x="8022971" y="19050"/>
                    <a:pt x="7955661" y="19050"/>
                  </a:cubicBezTo>
                  <a:lnTo>
                    <a:pt x="140589" y="19050"/>
                  </a:lnTo>
                  <a:lnTo>
                    <a:pt x="140589" y="9525"/>
                  </a:lnTo>
                  <a:lnTo>
                    <a:pt x="140589" y="19050"/>
                  </a:lnTo>
                  <a:cubicBezTo>
                    <a:pt x="73279" y="19050"/>
                    <a:pt x="19050" y="72390"/>
                    <a:pt x="19050" y="137795"/>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27" name="TextBox 19">
              <a:extLst>
                <a:ext uri="{FF2B5EF4-FFF2-40B4-BE49-F238E27FC236}">
                  <a16:creationId xmlns:a16="http://schemas.microsoft.com/office/drawing/2014/main" id="{C738BF9C-A89A-BC84-6BA1-97E412D4FAA7}"/>
                </a:ext>
              </a:extLst>
            </p:cNvPr>
            <p:cNvSpPr txBox="1">
              <a:spLocks noChangeArrowheads="1"/>
            </p:cNvSpPr>
            <p:nvPr/>
          </p:nvSpPr>
          <p:spPr bwMode="auto">
            <a:xfrm>
              <a:off x="-10582" y="-57150"/>
              <a:ext cx="8096251" cy="8456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0800" tIns="50800" rIns="50800" bIns="5080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lnSpc>
                  <a:spcPts val="3238"/>
                </a:lnSpc>
                <a:spcBef>
                  <a:spcPct val="0"/>
                </a:spcBef>
                <a:buFontTx/>
                <a:buNone/>
              </a:pPr>
              <a:endParaRPr lang="nb-NO" altLang="nb-NO" sz="1800" dirty="0"/>
            </a:p>
            <a:p>
              <a:pPr algn="ctr" eaLnBrk="1" hangingPunct="1">
                <a:lnSpc>
                  <a:spcPts val="3238"/>
                </a:lnSpc>
                <a:spcBef>
                  <a:spcPct val="0"/>
                </a:spcBef>
                <a:buFontTx/>
                <a:buNone/>
              </a:pPr>
              <a:r>
                <a:rPr lang="en-US" altLang="nb-NO" sz="2700" dirty="0" err="1">
                  <a:solidFill>
                    <a:srgbClr val="000000"/>
                  </a:solidFill>
                  <a:latin typeface="Calibri (MS)" charset="0"/>
                  <a:cs typeface="Calibri (MS)" charset="0"/>
                  <a:sym typeface="Calibri (MS)" charset="0"/>
                </a:rPr>
                <a:t>Overordnet</a:t>
              </a:r>
              <a:r>
                <a:rPr lang="en-US" altLang="nb-NO" sz="2700" dirty="0">
                  <a:solidFill>
                    <a:srgbClr val="000000"/>
                  </a:solidFill>
                  <a:latin typeface="Calibri (MS)" charset="0"/>
                  <a:cs typeface="Calibri (MS)" charset="0"/>
                  <a:sym typeface="Calibri (MS)" charset="0"/>
                </a:rPr>
                <a:t> </a:t>
              </a:r>
              <a:r>
                <a:rPr lang="en-US" altLang="nb-NO" sz="2700" dirty="0" err="1">
                  <a:solidFill>
                    <a:srgbClr val="000000"/>
                  </a:solidFill>
                  <a:latin typeface="Calibri (MS)" charset="0"/>
                  <a:cs typeface="Calibri (MS)" charset="0"/>
                  <a:sym typeface="Calibri (MS)" charset="0"/>
                </a:rPr>
                <a:t>risikonivå</a:t>
              </a:r>
              <a:endParaRPr lang="en-US" altLang="nb-NO" sz="2700" dirty="0">
                <a:solidFill>
                  <a:srgbClr val="000000"/>
                </a:solidFill>
                <a:latin typeface="Calibri (MS)" charset="0"/>
                <a:cs typeface="Calibri (MS)" charset="0"/>
                <a:sym typeface="Calibri (MS)" charset="0"/>
              </a:endParaRPr>
            </a:p>
            <a:p>
              <a:pPr algn="ctr" eaLnBrk="1" hangingPunct="1">
                <a:lnSpc>
                  <a:spcPts val="3238"/>
                </a:lnSpc>
                <a:spcBef>
                  <a:spcPct val="0"/>
                </a:spcBef>
                <a:buFontTx/>
                <a:buNone/>
              </a:pPr>
              <a:endParaRPr lang="en-US" altLang="nb-NO" sz="2700" dirty="0">
                <a:solidFill>
                  <a:srgbClr val="000000"/>
                </a:solidFill>
                <a:latin typeface="Calibri (MS)" charset="0"/>
                <a:cs typeface="Calibri (MS)" charset="0"/>
                <a:sym typeface="Calibri (MS)" charset="0"/>
              </a:endParaRPr>
            </a:p>
          </p:txBody>
        </p:sp>
      </p:grpSp>
      <p:grpSp>
        <p:nvGrpSpPr>
          <p:cNvPr id="8203" name="Group 23">
            <a:extLst>
              <a:ext uri="{FF2B5EF4-FFF2-40B4-BE49-F238E27FC236}">
                <a16:creationId xmlns:a16="http://schemas.microsoft.com/office/drawing/2014/main" id="{1A15446D-66DE-0767-9671-5E6398E73450}"/>
              </a:ext>
            </a:extLst>
          </p:cNvPr>
          <p:cNvGrpSpPr>
            <a:grpSpLocks/>
          </p:cNvGrpSpPr>
          <p:nvPr/>
        </p:nvGrpSpPr>
        <p:grpSpPr bwMode="auto">
          <a:xfrm>
            <a:off x="1517934" y="7600950"/>
            <a:ext cx="6073775" cy="590550"/>
            <a:chOff x="0" y="0"/>
            <a:chExt cx="8096250" cy="788492"/>
          </a:xfrm>
        </p:grpSpPr>
        <p:sp>
          <p:nvSpPr>
            <p:cNvPr id="8222" name="Freeform 24">
              <a:extLst>
                <a:ext uri="{FF2B5EF4-FFF2-40B4-BE49-F238E27FC236}">
                  <a16:creationId xmlns:a16="http://schemas.microsoft.com/office/drawing/2014/main" id="{AF7B0819-6B66-179E-1B0A-F221DB318125}"/>
                </a:ext>
              </a:extLst>
            </p:cNvPr>
            <p:cNvSpPr>
              <a:spLocks/>
            </p:cNvSpPr>
            <p:nvPr/>
          </p:nvSpPr>
          <p:spPr bwMode="auto">
            <a:xfrm>
              <a:off x="0" y="0"/>
              <a:ext cx="8096250" cy="788543"/>
            </a:xfrm>
            <a:custGeom>
              <a:avLst/>
              <a:gdLst>
                <a:gd name="T0" fmla="*/ 0 w 8096250"/>
                <a:gd name="T1" fmla="*/ 137795 h 788543"/>
                <a:gd name="T2" fmla="*/ 140589 w 8096250"/>
                <a:gd name="T3" fmla="*/ 0 h 788543"/>
                <a:gd name="T4" fmla="*/ 7955661 w 8096250"/>
                <a:gd name="T5" fmla="*/ 0 h 788543"/>
                <a:gd name="T6" fmla="*/ 7955661 w 8096250"/>
                <a:gd name="T7" fmla="*/ 9525 h 788543"/>
                <a:gd name="T8" fmla="*/ 7955661 w 8096250"/>
                <a:gd name="T9" fmla="*/ 0 h 788543"/>
                <a:gd name="T10" fmla="*/ 8096250 w 8096250"/>
                <a:gd name="T11" fmla="*/ 137795 h 788543"/>
                <a:gd name="T12" fmla="*/ 8086725 w 8096250"/>
                <a:gd name="T13" fmla="*/ 137795 h 788543"/>
                <a:gd name="T14" fmla="*/ 8096250 w 8096250"/>
                <a:gd name="T15" fmla="*/ 137795 h 788543"/>
                <a:gd name="T16" fmla="*/ 8096250 w 8096250"/>
                <a:gd name="T17" fmla="*/ 650748 h 788543"/>
                <a:gd name="T18" fmla="*/ 8086725 w 8096250"/>
                <a:gd name="T19" fmla="*/ 650748 h 788543"/>
                <a:gd name="T20" fmla="*/ 8096250 w 8096250"/>
                <a:gd name="T21" fmla="*/ 650748 h 788543"/>
                <a:gd name="T22" fmla="*/ 7955661 w 8096250"/>
                <a:gd name="T23" fmla="*/ 788543 h 788543"/>
                <a:gd name="T24" fmla="*/ 7955661 w 8096250"/>
                <a:gd name="T25" fmla="*/ 779018 h 788543"/>
                <a:gd name="T26" fmla="*/ 7955661 w 8096250"/>
                <a:gd name="T27" fmla="*/ 788543 h 788543"/>
                <a:gd name="T28" fmla="*/ 140589 w 8096250"/>
                <a:gd name="T29" fmla="*/ 788543 h 788543"/>
                <a:gd name="T30" fmla="*/ 140589 w 8096250"/>
                <a:gd name="T31" fmla="*/ 779018 h 788543"/>
                <a:gd name="T32" fmla="*/ 140589 w 8096250"/>
                <a:gd name="T33" fmla="*/ 788543 h 788543"/>
                <a:gd name="T34" fmla="*/ 0 w 8096250"/>
                <a:gd name="T35" fmla="*/ 650748 h 788543"/>
                <a:gd name="T36" fmla="*/ 0 w 8096250"/>
                <a:gd name="T37" fmla="*/ 137795 h 788543"/>
                <a:gd name="T38" fmla="*/ 9525 w 8096250"/>
                <a:gd name="T39" fmla="*/ 137795 h 788543"/>
                <a:gd name="T40" fmla="*/ 0 w 8096250"/>
                <a:gd name="T41" fmla="*/ 137795 h 788543"/>
                <a:gd name="T42" fmla="*/ 19050 w 8096250"/>
                <a:gd name="T43" fmla="*/ 137795 h 788543"/>
                <a:gd name="T44" fmla="*/ 19050 w 8096250"/>
                <a:gd name="T45" fmla="*/ 650748 h 788543"/>
                <a:gd name="T46" fmla="*/ 9525 w 8096250"/>
                <a:gd name="T47" fmla="*/ 650748 h 788543"/>
                <a:gd name="T48" fmla="*/ 19050 w 8096250"/>
                <a:gd name="T49" fmla="*/ 650748 h 788543"/>
                <a:gd name="T50" fmla="*/ 140589 w 8096250"/>
                <a:gd name="T51" fmla="*/ 769493 h 788543"/>
                <a:gd name="T52" fmla="*/ 7955661 w 8096250"/>
                <a:gd name="T53" fmla="*/ 769493 h 788543"/>
                <a:gd name="T54" fmla="*/ 8077200 w 8096250"/>
                <a:gd name="T55" fmla="*/ 650748 h 788543"/>
                <a:gd name="T56" fmla="*/ 8077200 w 8096250"/>
                <a:gd name="T57" fmla="*/ 137795 h 788543"/>
                <a:gd name="T58" fmla="*/ 7955661 w 8096250"/>
                <a:gd name="T59" fmla="*/ 19050 h 788543"/>
                <a:gd name="T60" fmla="*/ 140589 w 8096250"/>
                <a:gd name="T61" fmla="*/ 19050 h 788543"/>
                <a:gd name="T62" fmla="*/ 140589 w 8096250"/>
                <a:gd name="T63" fmla="*/ 9525 h 788543"/>
                <a:gd name="T64" fmla="*/ 140589 w 8096250"/>
                <a:gd name="T65" fmla="*/ 19050 h 788543"/>
                <a:gd name="T66" fmla="*/ 19050 w 8096250"/>
                <a:gd name="T67" fmla="*/ 137795 h 78854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8096250" h="788543">
                  <a:moveTo>
                    <a:pt x="0" y="137795"/>
                  </a:moveTo>
                  <a:cubicBezTo>
                    <a:pt x="0" y="61468"/>
                    <a:pt x="63119" y="0"/>
                    <a:pt x="140589" y="0"/>
                  </a:cubicBezTo>
                  <a:lnTo>
                    <a:pt x="7955661" y="0"/>
                  </a:lnTo>
                  <a:lnTo>
                    <a:pt x="7955661" y="9525"/>
                  </a:lnTo>
                  <a:lnTo>
                    <a:pt x="7955661" y="0"/>
                  </a:lnTo>
                  <a:cubicBezTo>
                    <a:pt x="8033131" y="0"/>
                    <a:pt x="8096250" y="61468"/>
                    <a:pt x="8096250" y="137795"/>
                  </a:cubicBezTo>
                  <a:lnTo>
                    <a:pt x="8086725" y="137795"/>
                  </a:lnTo>
                  <a:lnTo>
                    <a:pt x="8096250" y="137795"/>
                  </a:lnTo>
                  <a:lnTo>
                    <a:pt x="8096250" y="650748"/>
                  </a:lnTo>
                  <a:lnTo>
                    <a:pt x="8086725" y="650748"/>
                  </a:lnTo>
                  <a:lnTo>
                    <a:pt x="8096250" y="650748"/>
                  </a:lnTo>
                  <a:cubicBezTo>
                    <a:pt x="8096250" y="727075"/>
                    <a:pt x="8033131" y="788543"/>
                    <a:pt x="7955661" y="788543"/>
                  </a:cubicBezTo>
                  <a:lnTo>
                    <a:pt x="7955661" y="779018"/>
                  </a:lnTo>
                  <a:lnTo>
                    <a:pt x="7955661" y="788543"/>
                  </a:lnTo>
                  <a:lnTo>
                    <a:pt x="140589" y="788543"/>
                  </a:lnTo>
                  <a:lnTo>
                    <a:pt x="140589" y="779018"/>
                  </a:lnTo>
                  <a:lnTo>
                    <a:pt x="140589" y="788543"/>
                  </a:lnTo>
                  <a:cubicBezTo>
                    <a:pt x="63119" y="788543"/>
                    <a:pt x="0" y="726948"/>
                    <a:pt x="0" y="650748"/>
                  </a:cubicBezTo>
                  <a:lnTo>
                    <a:pt x="0" y="137795"/>
                  </a:lnTo>
                  <a:lnTo>
                    <a:pt x="9525" y="137795"/>
                  </a:lnTo>
                  <a:lnTo>
                    <a:pt x="0" y="137795"/>
                  </a:lnTo>
                  <a:moveTo>
                    <a:pt x="19050" y="137795"/>
                  </a:moveTo>
                  <a:lnTo>
                    <a:pt x="19050" y="650748"/>
                  </a:lnTo>
                  <a:lnTo>
                    <a:pt x="9525" y="650748"/>
                  </a:lnTo>
                  <a:lnTo>
                    <a:pt x="19050" y="650748"/>
                  </a:lnTo>
                  <a:cubicBezTo>
                    <a:pt x="19050" y="716153"/>
                    <a:pt x="73279" y="769493"/>
                    <a:pt x="140589" y="769493"/>
                  </a:cubicBezTo>
                  <a:lnTo>
                    <a:pt x="7955661" y="769493"/>
                  </a:lnTo>
                  <a:cubicBezTo>
                    <a:pt x="8022971" y="769493"/>
                    <a:pt x="8077200" y="716153"/>
                    <a:pt x="8077200" y="650748"/>
                  </a:cubicBezTo>
                  <a:lnTo>
                    <a:pt x="8077200" y="137795"/>
                  </a:lnTo>
                  <a:cubicBezTo>
                    <a:pt x="8077200" y="72390"/>
                    <a:pt x="8022971" y="19050"/>
                    <a:pt x="7955661" y="19050"/>
                  </a:cubicBezTo>
                  <a:lnTo>
                    <a:pt x="140589" y="19050"/>
                  </a:lnTo>
                  <a:lnTo>
                    <a:pt x="140589" y="9525"/>
                  </a:lnTo>
                  <a:lnTo>
                    <a:pt x="140589" y="19050"/>
                  </a:lnTo>
                  <a:cubicBezTo>
                    <a:pt x="73279" y="19050"/>
                    <a:pt x="19050" y="72390"/>
                    <a:pt x="19050" y="137795"/>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23" name="TextBox 25">
              <a:extLst>
                <a:ext uri="{FF2B5EF4-FFF2-40B4-BE49-F238E27FC236}">
                  <a16:creationId xmlns:a16="http://schemas.microsoft.com/office/drawing/2014/main" id="{9915959F-997A-7C88-A01B-40DF7CBFB3EF}"/>
                </a:ext>
              </a:extLst>
            </p:cNvPr>
            <p:cNvSpPr txBox="1">
              <a:spLocks noChangeArrowheads="1"/>
            </p:cNvSpPr>
            <p:nvPr/>
          </p:nvSpPr>
          <p:spPr bwMode="auto">
            <a:xfrm>
              <a:off x="0" y="-57150"/>
              <a:ext cx="8096250" cy="8456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0800" tIns="50800" rIns="50800" bIns="5080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lnSpc>
                  <a:spcPts val="3238"/>
                </a:lnSpc>
                <a:spcBef>
                  <a:spcPct val="0"/>
                </a:spcBef>
                <a:buFontTx/>
                <a:buNone/>
              </a:pPr>
              <a:endParaRPr lang="nb-NO" altLang="nb-NO" sz="1800" dirty="0"/>
            </a:p>
            <a:p>
              <a:pPr algn="ctr" eaLnBrk="1" hangingPunct="1">
                <a:lnSpc>
                  <a:spcPts val="3238"/>
                </a:lnSpc>
                <a:spcBef>
                  <a:spcPct val="0"/>
                </a:spcBef>
                <a:buFontTx/>
                <a:buNone/>
              </a:pPr>
              <a:r>
                <a:rPr lang="en-US" altLang="nb-NO" sz="2700" dirty="0" err="1">
                  <a:solidFill>
                    <a:srgbClr val="000000"/>
                  </a:solidFill>
                  <a:latin typeface="Calibri (MS)" charset="0"/>
                  <a:cs typeface="Calibri (MS)" charset="0"/>
                  <a:sym typeface="Calibri (MS)" charset="0"/>
                </a:rPr>
                <a:t>Likviditetsbehov</a:t>
              </a:r>
              <a:endParaRPr lang="en-US" altLang="nb-NO" sz="2700" dirty="0">
                <a:solidFill>
                  <a:srgbClr val="000000"/>
                </a:solidFill>
                <a:latin typeface="Calibri (MS)" charset="0"/>
                <a:cs typeface="Calibri (MS)" charset="0"/>
                <a:sym typeface="Calibri (MS)" charset="0"/>
              </a:endParaRPr>
            </a:p>
            <a:p>
              <a:pPr algn="ctr" eaLnBrk="1" hangingPunct="1">
                <a:lnSpc>
                  <a:spcPts val="3238"/>
                </a:lnSpc>
                <a:spcBef>
                  <a:spcPct val="0"/>
                </a:spcBef>
                <a:buFontTx/>
                <a:buNone/>
              </a:pPr>
              <a:endParaRPr lang="en-US" altLang="nb-NO" sz="2700" dirty="0">
                <a:solidFill>
                  <a:srgbClr val="000000"/>
                </a:solidFill>
                <a:latin typeface="Calibri (MS)" charset="0"/>
                <a:cs typeface="Calibri (MS)" charset="0"/>
                <a:sym typeface="Calibri (MS)" charset="0"/>
              </a:endParaRPr>
            </a:p>
          </p:txBody>
        </p:sp>
      </p:grpSp>
      <p:grpSp>
        <p:nvGrpSpPr>
          <p:cNvPr id="8204" name="Group 26">
            <a:extLst>
              <a:ext uri="{FF2B5EF4-FFF2-40B4-BE49-F238E27FC236}">
                <a16:creationId xmlns:a16="http://schemas.microsoft.com/office/drawing/2014/main" id="{2961FFD7-F528-3EA6-78C0-F9B6E32C3178}"/>
              </a:ext>
            </a:extLst>
          </p:cNvPr>
          <p:cNvGrpSpPr>
            <a:grpSpLocks/>
          </p:cNvGrpSpPr>
          <p:nvPr/>
        </p:nvGrpSpPr>
        <p:grpSpPr bwMode="auto">
          <a:xfrm>
            <a:off x="7886700" y="5651410"/>
            <a:ext cx="6057900" cy="577850"/>
            <a:chOff x="0" y="0"/>
            <a:chExt cx="8077200" cy="769442"/>
          </a:xfrm>
        </p:grpSpPr>
        <p:sp>
          <p:nvSpPr>
            <p:cNvPr id="8220" name="Freeform 27">
              <a:extLst>
                <a:ext uri="{FF2B5EF4-FFF2-40B4-BE49-F238E27FC236}">
                  <a16:creationId xmlns:a16="http://schemas.microsoft.com/office/drawing/2014/main" id="{59C8C636-5761-1D26-0C50-773960B706E6}"/>
                </a:ext>
              </a:extLst>
            </p:cNvPr>
            <p:cNvSpPr>
              <a:spLocks/>
            </p:cNvSpPr>
            <p:nvPr/>
          </p:nvSpPr>
          <p:spPr bwMode="auto">
            <a:xfrm>
              <a:off x="0" y="0"/>
              <a:ext cx="8077200" cy="769442"/>
            </a:xfrm>
            <a:custGeom>
              <a:avLst/>
              <a:gdLst>
                <a:gd name="T0" fmla="*/ 0 w 8077200"/>
                <a:gd name="T1" fmla="*/ 0 h 769442"/>
                <a:gd name="T2" fmla="*/ 8077200 w 8077200"/>
                <a:gd name="T3" fmla="*/ 0 h 769442"/>
                <a:gd name="T4" fmla="*/ 8077200 w 8077200"/>
                <a:gd name="T5" fmla="*/ 769442 h 769442"/>
                <a:gd name="T6" fmla="*/ 0 w 8077200"/>
                <a:gd name="T7" fmla="*/ 769442 h 769442"/>
                <a:gd name="T8" fmla="*/ 0 w 8077200"/>
                <a:gd name="T9" fmla="*/ 0 h 7694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077200" h="769442">
                  <a:moveTo>
                    <a:pt x="0" y="0"/>
                  </a:moveTo>
                  <a:lnTo>
                    <a:pt x="8077200" y="0"/>
                  </a:lnTo>
                  <a:lnTo>
                    <a:pt x="8077200" y="769442"/>
                  </a:lnTo>
                  <a:lnTo>
                    <a:pt x="0" y="769442"/>
                  </a:lnTo>
                  <a:lnTo>
                    <a:pt x="0" y="0"/>
                  </a:lnTo>
                  <a:close/>
                </a:path>
              </a:pathLst>
            </a:custGeom>
            <a:solidFill>
              <a:srgbClr val="000000">
                <a:alpha val="0"/>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21" name="TextBox 28">
              <a:extLst>
                <a:ext uri="{FF2B5EF4-FFF2-40B4-BE49-F238E27FC236}">
                  <a16:creationId xmlns:a16="http://schemas.microsoft.com/office/drawing/2014/main" id="{F87C2CBC-757A-DB4A-07F4-6604A330D20E}"/>
                </a:ext>
              </a:extLst>
            </p:cNvPr>
            <p:cNvSpPr txBox="1">
              <a:spLocks noChangeArrowheads="1"/>
            </p:cNvSpPr>
            <p:nvPr/>
          </p:nvSpPr>
          <p:spPr bwMode="auto">
            <a:xfrm>
              <a:off x="0" y="-57150"/>
              <a:ext cx="8077200" cy="8265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ts val="3238"/>
                </a:lnSpc>
                <a:spcBef>
                  <a:spcPct val="0"/>
                </a:spcBef>
                <a:buFontTx/>
                <a:buNone/>
              </a:pPr>
              <a:r>
                <a:rPr lang="en-US" altLang="nb-NO" sz="2700">
                  <a:solidFill>
                    <a:srgbClr val="262626"/>
                  </a:solidFill>
                  <a:latin typeface="Calibri (MS)" charset="0"/>
                  <a:cs typeface="Calibri (MS)" charset="0"/>
                  <a:sym typeface="Calibri (MS)" charset="0"/>
                </a:rPr>
                <a:t>Langsiktig, 5 år +</a:t>
              </a:r>
            </a:p>
          </p:txBody>
        </p:sp>
      </p:grpSp>
      <p:grpSp>
        <p:nvGrpSpPr>
          <p:cNvPr id="8205" name="Group 29">
            <a:extLst>
              <a:ext uri="{FF2B5EF4-FFF2-40B4-BE49-F238E27FC236}">
                <a16:creationId xmlns:a16="http://schemas.microsoft.com/office/drawing/2014/main" id="{7712BC1D-5AA1-461B-229D-8B3F2BA2B359}"/>
              </a:ext>
            </a:extLst>
          </p:cNvPr>
          <p:cNvGrpSpPr>
            <a:grpSpLocks/>
          </p:cNvGrpSpPr>
          <p:nvPr/>
        </p:nvGrpSpPr>
        <p:grpSpPr bwMode="auto">
          <a:xfrm>
            <a:off x="7886700" y="6642010"/>
            <a:ext cx="6057900" cy="576263"/>
            <a:chOff x="0" y="0"/>
            <a:chExt cx="8077200" cy="769442"/>
          </a:xfrm>
        </p:grpSpPr>
        <p:sp>
          <p:nvSpPr>
            <p:cNvPr id="8218" name="Freeform 30">
              <a:extLst>
                <a:ext uri="{FF2B5EF4-FFF2-40B4-BE49-F238E27FC236}">
                  <a16:creationId xmlns:a16="http://schemas.microsoft.com/office/drawing/2014/main" id="{523861D9-CCC9-8A40-3395-5331F78965F9}"/>
                </a:ext>
              </a:extLst>
            </p:cNvPr>
            <p:cNvSpPr>
              <a:spLocks/>
            </p:cNvSpPr>
            <p:nvPr/>
          </p:nvSpPr>
          <p:spPr bwMode="auto">
            <a:xfrm>
              <a:off x="0" y="0"/>
              <a:ext cx="8077200" cy="769442"/>
            </a:xfrm>
            <a:custGeom>
              <a:avLst/>
              <a:gdLst>
                <a:gd name="T0" fmla="*/ 0 w 8077200"/>
                <a:gd name="T1" fmla="*/ 0 h 769442"/>
                <a:gd name="T2" fmla="*/ 8077200 w 8077200"/>
                <a:gd name="T3" fmla="*/ 0 h 769442"/>
                <a:gd name="T4" fmla="*/ 8077200 w 8077200"/>
                <a:gd name="T5" fmla="*/ 769442 h 769442"/>
                <a:gd name="T6" fmla="*/ 0 w 8077200"/>
                <a:gd name="T7" fmla="*/ 769442 h 769442"/>
                <a:gd name="T8" fmla="*/ 0 w 8077200"/>
                <a:gd name="T9" fmla="*/ 0 h 7694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077200" h="769442">
                  <a:moveTo>
                    <a:pt x="0" y="0"/>
                  </a:moveTo>
                  <a:lnTo>
                    <a:pt x="8077200" y="0"/>
                  </a:lnTo>
                  <a:lnTo>
                    <a:pt x="8077200" y="769442"/>
                  </a:lnTo>
                  <a:lnTo>
                    <a:pt x="0" y="769442"/>
                  </a:lnTo>
                  <a:lnTo>
                    <a:pt x="0" y="0"/>
                  </a:lnTo>
                  <a:close/>
                </a:path>
              </a:pathLst>
            </a:custGeom>
            <a:solidFill>
              <a:srgbClr val="000000">
                <a:alpha val="0"/>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19" name="TextBox 31">
              <a:extLst>
                <a:ext uri="{FF2B5EF4-FFF2-40B4-BE49-F238E27FC236}">
                  <a16:creationId xmlns:a16="http://schemas.microsoft.com/office/drawing/2014/main" id="{76A75FC8-9904-088D-62AA-ABEC228EBE97}"/>
                </a:ext>
              </a:extLst>
            </p:cNvPr>
            <p:cNvSpPr txBox="1">
              <a:spLocks noChangeArrowheads="1"/>
            </p:cNvSpPr>
            <p:nvPr/>
          </p:nvSpPr>
          <p:spPr bwMode="auto">
            <a:xfrm>
              <a:off x="0" y="-57150"/>
              <a:ext cx="8077200" cy="8265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ts val="3238"/>
                </a:lnSpc>
                <a:spcBef>
                  <a:spcPct val="0"/>
                </a:spcBef>
                <a:buFontTx/>
                <a:buNone/>
              </a:pPr>
              <a:r>
                <a:rPr lang="en-US" altLang="nb-NO" sz="2700" dirty="0" err="1">
                  <a:solidFill>
                    <a:srgbClr val="262626"/>
                  </a:solidFill>
                  <a:latin typeface="Calibri (MS)" charset="0"/>
                  <a:cs typeface="Calibri (MS)" charset="0"/>
                  <a:sym typeface="Calibri (MS)" charset="0"/>
                </a:rPr>
                <a:t>Moderat</a:t>
              </a:r>
              <a:r>
                <a:rPr lang="en-US" altLang="nb-NO" sz="2700" dirty="0">
                  <a:solidFill>
                    <a:srgbClr val="262626"/>
                  </a:solidFill>
                  <a:latin typeface="Calibri (MS)" charset="0"/>
                  <a:cs typeface="Calibri (MS)" charset="0"/>
                  <a:sym typeface="Calibri (MS)" charset="0"/>
                </a:rPr>
                <a:t> </a:t>
              </a:r>
              <a:r>
                <a:rPr lang="en-US" altLang="nb-NO" sz="2700" dirty="0" err="1">
                  <a:solidFill>
                    <a:srgbClr val="262626"/>
                  </a:solidFill>
                  <a:latin typeface="Calibri (MS)" charset="0"/>
                  <a:cs typeface="Calibri (MS)" charset="0"/>
                  <a:sym typeface="Calibri (MS)" charset="0"/>
                </a:rPr>
                <a:t>til</a:t>
              </a:r>
              <a:r>
                <a:rPr lang="en-US" altLang="nb-NO" sz="2700" dirty="0">
                  <a:solidFill>
                    <a:srgbClr val="262626"/>
                  </a:solidFill>
                  <a:latin typeface="Calibri (MS)" charset="0"/>
                  <a:cs typeface="Calibri (MS)" charset="0"/>
                  <a:sym typeface="Calibri (MS)" charset="0"/>
                </a:rPr>
                <a:t> </a:t>
              </a:r>
              <a:r>
                <a:rPr lang="en-US" altLang="nb-NO" sz="2700" dirty="0" err="1">
                  <a:solidFill>
                    <a:srgbClr val="262626"/>
                  </a:solidFill>
                  <a:latin typeface="Calibri (MS)" charset="0"/>
                  <a:cs typeface="Calibri (MS)" charset="0"/>
                  <a:sym typeface="Calibri (MS)" charset="0"/>
                </a:rPr>
                <a:t>noe</a:t>
              </a:r>
              <a:r>
                <a:rPr lang="en-US" altLang="nb-NO" sz="2700" dirty="0">
                  <a:solidFill>
                    <a:srgbClr val="262626"/>
                  </a:solidFill>
                  <a:latin typeface="Calibri (MS)" charset="0"/>
                  <a:cs typeface="Calibri (MS)" charset="0"/>
                  <a:sym typeface="Calibri (MS)" charset="0"/>
                </a:rPr>
                <a:t> </a:t>
              </a:r>
              <a:r>
                <a:rPr lang="en-US" altLang="nb-NO" sz="2700" dirty="0" err="1">
                  <a:solidFill>
                    <a:srgbClr val="262626"/>
                  </a:solidFill>
                  <a:latin typeface="Calibri (MS)" charset="0"/>
                  <a:cs typeface="Calibri (MS)" charset="0"/>
                  <a:sym typeface="Calibri (MS)" charset="0"/>
                </a:rPr>
                <a:t>høyere</a:t>
              </a:r>
              <a:r>
                <a:rPr lang="en-US" altLang="nb-NO" sz="2700" dirty="0">
                  <a:solidFill>
                    <a:srgbClr val="262626"/>
                  </a:solidFill>
                  <a:latin typeface="Calibri (MS)" charset="0"/>
                  <a:cs typeface="Calibri (MS)" charset="0"/>
                  <a:sym typeface="Calibri (MS)" charset="0"/>
                </a:rPr>
                <a:t> </a:t>
              </a:r>
              <a:r>
                <a:rPr lang="en-US" altLang="nb-NO" sz="2700" dirty="0" err="1">
                  <a:solidFill>
                    <a:srgbClr val="262626"/>
                  </a:solidFill>
                  <a:latin typeface="Calibri (MS)" charset="0"/>
                  <a:cs typeface="Calibri (MS)" charset="0"/>
                  <a:sym typeface="Calibri (MS)" charset="0"/>
                </a:rPr>
                <a:t>risiko</a:t>
              </a:r>
              <a:endParaRPr lang="en-US" altLang="nb-NO" sz="2700" dirty="0">
                <a:solidFill>
                  <a:srgbClr val="262626"/>
                </a:solidFill>
                <a:latin typeface="Calibri (MS)" charset="0"/>
                <a:cs typeface="Calibri (MS)" charset="0"/>
                <a:sym typeface="Calibri (MS)" charset="0"/>
              </a:endParaRPr>
            </a:p>
          </p:txBody>
        </p:sp>
      </p:grpSp>
      <p:sp>
        <p:nvSpPr>
          <p:cNvPr id="8216" name="Freeform 33">
            <a:extLst>
              <a:ext uri="{FF2B5EF4-FFF2-40B4-BE49-F238E27FC236}">
                <a16:creationId xmlns:a16="http://schemas.microsoft.com/office/drawing/2014/main" id="{ED578CEE-6F20-AECA-4671-1C319152D851}"/>
              </a:ext>
            </a:extLst>
          </p:cNvPr>
          <p:cNvSpPr>
            <a:spLocks/>
          </p:cNvSpPr>
          <p:nvPr/>
        </p:nvSpPr>
        <p:spPr bwMode="auto">
          <a:xfrm>
            <a:off x="7886700" y="6216650"/>
            <a:ext cx="6057900" cy="576263"/>
          </a:xfrm>
          <a:custGeom>
            <a:avLst/>
            <a:gdLst>
              <a:gd name="T0" fmla="*/ 0 w 8077200"/>
              <a:gd name="T1" fmla="*/ 0 h 769442"/>
              <a:gd name="T2" fmla="*/ 8077200 w 8077200"/>
              <a:gd name="T3" fmla="*/ 0 h 769442"/>
              <a:gd name="T4" fmla="*/ 8077200 w 8077200"/>
              <a:gd name="T5" fmla="*/ 769442 h 769442"/>
              <a:gd name="T6" fmla="*/ 0 w 8077200"/>
              <a:gd name="T7" fmla="*/ 769442 h 769442"/>
              <a:gd name="T8" fmla="*/ 0 w 8077200"/>
              <a:gd name="T9" fmla="*/ 0 h 7694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077200" h="769442">
                <a:moveTo>
                  <a:pt x="0" y="0"/>
                </a:moveTo>
                <a:lnTo>
                  <a:pt x="8077200" y="0"/>
                </a:lnTo>
                <a:lnTo>
                  <a:pt x="8077200" y="769442"/>
                </a:lnTo>
                <a:lnTo>
                  <a:pt x="0" y="769442"/>
                </a:lnTo>
                <a:lnTo>
                  <a:pt x="0" y="0"/>
                </a:lnTo>
                <a:close/>
              </a:path>
            </a:pathLst>
          </a:custGeom>
          <a:solidFill>
            <a:srgbClr val="000000">
              <a:alpha val="0"/>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15" name="TextBox 37">
            <a:extLst>
              <a:ext uri="{FF2B5EF4-FFF2-40B4-BE49-F238E27FC236}">
                <a16:creationId xmlns:a16="http://schemas.microsoft.com/office/drawing/2014/main" id="{2CFAF52D-7096-E20C-AE15-F29B603FEDAB}"/>
              </a:ext>
            </a:extLst>
          </p:cNvPr>
          <p:cNvSpPr txBox="1">
            <a:spLocks noChangeArrowheads="1"/>
          </p:cNvSpPr>
          <p:nvPr/>
        </p:nvSpPr>
        <p:spPr bwMode="auto">
          <a:xfrm>
            <a:off x="7912858" y="7564439"/>
            <a:ext cx="6057900" cy="620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ts val="3238"/>
              </a:lnSpc>
              <a:spcBef>
                <a:spcPct val="0"/>
              </a:spcBef>
              <a:buFontTx/>
              <a:buNone/>
            </a:pPr>
            <a:r>
              <a:rPr lang="en-US" altLang="nb-NO" sz="2700" dirty="0" err="1">
                <a:solidFill>
                  <a:srgbClr val="262626"/>
                </a:solidFill>
                <a:latin typeface="Calibri (MS)" charset="0"/>
                <a:cs typeface="Calibri (MS)" charset="0"/>
                <a:sym typeface="Calibri (MS)" charset="0"/>
              </a:rPr>
              <a:t>Begrenset</a:t>
            </a:r>
            <a:endParaRPr lang="en-US" altLang="nb-NO" sz="2700" dirty="0">
              <a:solidFill>
                <a:srgbClr val="262626"/>
              </a:solidFill>
              <a:latin typeface="Calibri (MS)" charset="0"/>
              <a:cs typeface="Calibri (MS)" charset="0"/>
              <a:sym typeface="Calibri (MS)" charset="0"/>
            </a:endParaRPr>
          </a:p>
        </p:txBody>
      </p:sp>
      <p:grpSp>
        <p:nvGrpSpPr>
          <p:cNvPr id="8208" name="Group 38">
            <a:extLst>
              <a:ext uri="{FF2B5EF4-FFF2-40B4-BE49-F238E27FC236}">
                <a16:creationId xmlns:a16="http://schemas.microsoft.com/office/drawing/2014/main" id="{89971A43-BEF5-D1E2-28B2-6A37B583C61D}"/>
              </a:ext>
            </a:extLst>
          </p:cNvPr>
          <p:cNvGrpSpPr>
            <a:grpSpLocks/>
          </p:cNvGrpSpPr>
          <p:nvPr/>
        </p:nvGrpSpPr>
        <p:grpSpPr bwMode="auto">
          <a:xfrm>
            <a:off x="7886700" y="4627473"/>
            <a:ext cx="6057900" cy="577850"/>
            <a:chOff x="0" y="0"/>
            <a:chExt cx="8077200" cy="769442"/>
          </a:xfrm>
        </p:grpSpPr>
        <p:sp>
          <p:nvSpPr>
            <p:cNvPr id="8212" name="Freeform 39">
              <a:extLst>
                <a:ext uri="{FF2B5EF4-FFF2-40B4-BE49-F238E27FC236}">
                  <a16:creationId xmlns:a16="http://schemas.microsoft.com/office/drawing/2014/main" id="{E12B5F90-7ECF-F3C1-4C6D-A0CA0C7AB37D}"/>
                </a:ext>
              </a:extLst>
            </p:cNvPr>
            <p:cNvSpPr>
              <a:spLocks/>
            </p:cNvSpPr>
            <p:nvPr/>
          </p:nvSpPr>
          <p:spPr bwMode="auto">
            <a:xfrm>
              <a:off x="0" y="0"/>
              <a:ext cx="8077200" cy="769442"/>
            </a:xfrm>
            <a:custGeom>
              <a:avLst/>
              <a:gdLst>
                <a:gd name="T0" fmla="*/ 0 w 8077200"/>
                <a:gd name="T1" fmla="*/ 0 h 769442"/>
                <a:gd name="T2" fmla="*/ 8077200 w 8077200"/>
                <a:gd name="T3" fmla="*/ 0 h 769442"/>
                <a:gd name="T4" fmla="*/ 8077200 w 8077200"/>
                <a:gd name="T5" fmla="*/ 769442 h 769442"/>
                <a:gd name="T6" fmla="*/ 0 w 8077200"/>
                <a:gd name="T7" fmla="*/ 769442 h 769442"/>
                <a:gd name="T8" fmla="*/ 0 w 8077200"/>
                <a:gd name="T9" fmla="*/ 0 h 7694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077200" h="769442">
                  <a:moveTo>
                    <a:pt x="0" y="0"/>
                  </a:moveTo>
                  <a:lnTo>
                    <a:pt x="8077200" y="0"/>
                  </a:lnTo>
                  <a:lnTo>
                    <a:pt x="8077200" y="769442"/>
                  </a:lnTo>
                  <a:lnTo>
                    <a:pt x="0" y="769442"/>
                  </a:lnTo>
                  <a:lnTo>
                    <a:pt x="0" y="0"/>
                  </a:lnTo>
                  <a:close/>
                </a:path>
              </a:pathLst>
            </a:custGeom>
            <a:solidFill>
              <a:srgbClr val="000000">
                <a:alpha val="0"/>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13" name="TextBox 40">
              <a:extLst>
                <a:ext uri="{FF2B5EF4-FFF2-40B4-BE49-F238E27FC236}">
                  <a16:creationId xmlns:a16="http://schemas.microsoft.com/office/drawing/2014/main" id="{832868B3-C0E5-0964-C70C-5D7F4861610D}"/>
                </a:ext>
              </a:extLst>
            </p:cNvPr>
            <p:cNvSpPr txBox="1">
              <a:spLocks noChangeArrowheads="1"/>
            </p:cNvSpPr>
            <p:nvPr/>
          </p:nvSpPr>
          <p:spPr bwMode="auto">
            <a:xfrm>
              <a:off x="0" y="-57150"/>
              <a:ext cx="8077200" cy="8265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ts val="3238"/>
                </a:lnSpc>
                <a:spcBef>
                  <a:spcPct val="0"/>
                </a:spcBef>
                <a:buFontTx/>
                <a:buNone/>
              </a:pPr>
              <a:r>
                <a:rPr lang="en-US" altLang="nb-NO" sz="2700" dirty="0">
                  <a:solidFill>
                    <a:srgbClr val="262626"/>
                  </a:solidFill>
                  <a:latin typeface="Calibri (MS)" charset="0"/>
                  <a:cs typeface="Calibri (MS)" charset="0"/>
                  <a:sym typeface="Calibri (MS)" charset="0"/>
                </a:rPr>
                <a:t>8-10% p.a.</a:t>
              </a:r>
            </a:p>
          </p:txBody>
        </p:sp>
      </p:grpSp>
      <p:grpSp>
        <p:nvGrpSpPr>
          <p:cNvPr id="8209" name="Group 41">
            <a:extLst>
              <a:ext uri="{FF2B5EF4-FFF2-40B4-BE49-F238E27FC236}">
                <a16:creationId xmlns:a16="http://schemas.microsoft.com/office/drawing/2014/main" id="{67F216B0-00A6-9B07-D7D6-33D2E1DCFB70}"/>
              </a:ext>
            </a:extLst>
          </p:cNvPr>
          <p:cNvGrpSpPr>
            <a:grpSpLocks/>
          </p:cNvGrpSpPr>
          <p:nvPr/>
        </p:nvGrpSpPr>
        <p:grpSpPr bwMode="auto">
          <a:xfrm>
            <a:off x="7886700" y="3660685"/>
            <a:ext cx="6057900" cy="576263"/>
            <a:chOff x="0" y="0"/>
            <a:chExt cx="8077200" cy="769442"/>
          </a:xfrm>
        </p:grpSpPr>
        <p:sp>
          <p:nvSpPr>
            <p:cNvPr id="8210" name="Freeform 42">
              <a:extLst>
                <a:ext uri="{FF2B5EF4-FFF2-40B4-BE49-F238E27FC236}">
                  <a16:creationId xmlns:a16="http://schemas.microsoft.com/office/drawing/2014/main" id="{B988F1F1-A365-9FA1-7010-9207BE22391C}"/>
                </a:ext>
              </a:extLst>
            </p:cNvPr>
            <p:cNvSpPr>
              <a:spLocks/>
            </p:cNvSpPr>
            <p:nvPr/>
          </p:nvSpPr>
          <p:spPr bwMode="auto">
            <a:xfrm>
              <a:off x="0" y="0"/>
              <a:ext cx="8077200" cy="769442"/>
            </a:xfrm>
            <a:custGeom>
              <a:avLst/>
              <a:gdLst>
                <a:gd name="T0" fmla="*/ 0 w 8077200"/>
                <a:gd name="T1" fmla="*/ 0 h 769442"/>
                <a:gd name="T2" fmla="*/ 8077200 w 8077200"/>
                <a:gd name="T3" fmla="*/ 0 h 769442"/>
                <a:gd name="T4" fmla="*/ 8077200 w 8077200"/>
                <a:gd name="T5" fmla="*/ 769442 h 769442"/>
                <a:gd name="T6" fmla="*/ 0 w 8077200"/>
                <a:gd name="T7" fmla="*/ 769442 h 769442"/>
                <a:gd name="T8" fmla="*/ 0 w 8077200"/>
                <a:gd name="T9" fmla="*/ 0 h 7694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077200" h="769442">
                  <a:moveTo>
                    <a:pt x="0" y="0"/>
                  </a:moveTo>
                  <a:lnTo>
                    <a:pt x="8077200" y="0"/>
                  </a:lnTo>
                  <a:lnTo>
                    <a:pt x="8077200" y="769442"/>
                  </a:lnTo>
                  <a:lnTo>
                    <a:pt x="0" y="769442"/>
                  </a:lnTo>
                  <a:lnTo>
                    <a:pt x="0" y="0"/>
                  </a:lnTo>
                  <a:close/>
                </a:path>
              </a:pathLst>
            </a:custGeom>
            <a:solidFill>
              <a:srgbClr val="000000">
                <a:alpha val="0"/>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11" name="TextBox 43">
              <a:extLst>
                <a:ext uri="{FF2B5EF4-FFF2-40B4-BE49-F238E27FC236}">
                  <a16:creationId xmlns:a16="http://schemas.microsoft.com/office/drawing/2014/main" id="{8366D9A7-D0DA-D920-0F54-BEF86D86D62A}"/>
                </a:ext>
              </a:extLst>
            </p:cNvPr>
            <p:cNvSpPr txBox="1">
              <a:spLocks noChangeArrowheads="1"/>
            </p:cNvSpPr>
            <p:nvPr/>
          </p:nvSpPr>
          <p:spPr bwMode="auto">
            <a:xfrm>
              <a:off x="0" y="-57150"/>
              <a:ext cx="8077200" cy="8265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ts val="3238"/>
                </a:lnSpc>
                <a:spcBef>
                  <a:spcPct val="0"/>
                </a:spcBef>
                <a:buFontTx/>
                <a:buNone/>
              </a:pPr>
              <a:r>
                <a:rPr lang="en-US" altLang="nb-NO" sz="2700">
                  <a:solidFill>
                    <a:srgbClr val="262626"/>
                  </a:solidFill>
                  <a:latin typeface="Calibri (MS)" charset="0"/>
                  <a:cs typeface="Calibri (MS)" charset="0"/>
                  <a:sym typeface="Calibri (MS)" charset="0"/>
                </a:rPr>
                <a:t>Utvikle finansiell formue</a:t>
              </a:r>
            </a:p>
          </p:txBody>
        </p:sp>
      </p:grpSp>
      <p:sp>
        <p:nvSpPr>
          <p:cNvPr id="3" name="TextBox 7">
            <a:extLst>
              <a:ext uri="{FF2B5EF4-FFF2-40B4-BE49-F238E27FC236}">
                <a16:creationId xmlns:a16="http://schemas.microsoft.com/office/drawing/2014/main" id="{CFA3B904-FB11-D0F5-7C04-FD185FF5317A}"/>
              </a:ext>
            </a:extLst>
          </p:cNvPr>
          <p:cNvSpPr txBox="1">
            <a:spLocks noChangeArrowheads="1"/>
          </p:cNvSpPr>
          <p:nvPr/>
        </p:nvSpPr>
        <p:spPr bwMode="auto">
          <a:xfrm>
            <a:off x="1517934" y="8802519"/>
            <a:ext cx="1554480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buNone/>
            </a:pPr>
            <a:r>
              <a:rPr lang="nb-NO" sz="1800" b="1" dirty="0"/>
              <a:t>Opplysningene ovenfor er ikke verifisert og er ikke å anse som grunnlag for investeringsrådgivning.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218" name="Group 2">
            <a:extLst>
              <a:ext uri="{FF2B5EF4-FFF2-40B4-BE49-F238E27FC236}">
                <a16:creationId xmlns:a16="http://schemas.microsoft.com/office/drawing/2014/main" id="{BF5D115F-FD07-8A2A-9B7F-62AD44042D7D}"/>
              </a:ext>
            </a:extLst>
          </p:cNvPr>
          <p:cNvGrpSpPr>
            <a:grpSpLocks/>
          </p:cNvGrpSpPr>
          <p:nvPr/>
        </p:nvGrpSpPr>
        <p:grpSpPr bwMode="auto">
          <a:xfrm>
            <a:off x="-9525" y="14288"/>
            <a:ext cx="18288000" cy="10287000"/>
            <a:chOff x="0" y="0"/>
            <a:chExt cx="24384000" cy="13716000"/>
          </a:xfrm>
        </p:grpSpPr>
        <p:sp>
          <p:nvSpPr>
            <p:cNvPr id="9223" name="Freeform 3">
              <a:extLst>
                <a:ext uri="{FF2B5EF4-FFF2-40B4-BE49-F238E27FC236}">
                  <a16:creationId xmlns:a16="http://schemas.microsoft.com/office/drawing/2014/main" id="{C118EEC4-1D55-CCB8-7B25-26F0DA578EF3}"/>
                </a:ext>
              </a:extLst>
            </p:cNvPr>
            <p:cNvSpPr>
              <a:spLocks/>
            </p:cNvSpPr>
            <p:nvPr/>
          </p:nvSpPr>
          <p:spPr bwMode="auto">
            <a:xfrm>
              <a:off x="0" y="0"/>
              <a:ext cx="24384000" cy="13716000"/>
            </a:xfrm>
            <a:custGeom>
              <a:avLst/>
              <a:gdLst>
                <a:gd name="T0" fmla="*/ 24384000 w 24384000"/>
                <a:gd name="T1" fmla="*/ 0 h 13716000"/>
                <a:gd name="T2" fmla="*/ 0 w 24384000"/>
                <a:gd name="T3" fmla="*/ 0 h 13716000"/>
                <a:gd name="T4" fmla="*/ 0 w 24384000"/>
                <a:gd name="T5" fmla="*/ 13716000 h 13716000"/>
                <a:gd name="T6" fmla="*/ 24384000 w 24384000"/>
                <a:gd name="T7" fmla="*/ 13716000 h 13716000"/>
                <a:gd name="T8" fmla="*/ 24384000 w 24384000"/>
                <a:gd name="T9" fmla="*/ 0 h 13716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384000" h="13716000">
                  <a:moveTo>
                    <a:pt x="24384000" y="0"/>
                  </a:moveTo>
                  <a:lnTo>
                    <a:pt x="0" y="0"/>
                  </a:lnTo>
                  <a:lnTo>
                    <a:pt x="0" y="13716000"/>
                  </a:lnTo>
                  <a:lnTo>
                    <a:pt x="24384000" y="13716000"/>
                  </a:lnTo>
                  <a:lnTo>
                    <a:pt x="24384000" y="0"/>
                  </a:lnTo>
                  <a:close/>
                </a:path>
              </a:pathLst>
            </a:custGeom>
            <a:solidFill>
              <a:srgbClr val="F5F5F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9219" name="Group 4">
            <a:extLst>
              <a:ext uri="{FF2B5EF4-FFF2-40B4-BE49-F238E27FC236}">
                <a16:creationId xmlns:a16="http://schemas.microsoft.com/office/drawing/2014/main" id="{CA995118-54BE-B2D0-3663-F815883B93A5}"/>
              </a:ext>
            </a:extLst>
          </p:cNvPr>
          <p:cNvGrpSpPr>
            <a:grpSpLocks noChangeAspect="1"/>
          </p:cNvGrpSpPr>
          <p:nvPr/>
        </p:nvGrpSpPr>
        <p:grpSpPr bwMode="auto">
          <a:xfrm>
            <a:off x="15805150" y="9525"/>
            <a:ext cx="2476500" cy="1531938"/>
            <a:chOff x="0" y="0"/>
            <a:chExt cx="3300476" cy="2043150"/>
          </a:xfrm>
        </p:grpSpPr>
        <p:sp>
          <p:nvSpPr>
            <p:cNvPr id="9222" name="Freeform 5">
              <a:extLst>
                <a:ext uri="{FF2B5EF4-FFF2-40B4-BE49-F238E27FC236}">
                  <a16:creationId xmlns:a16="http://schemas.microsoft.com/office/drawing/2014/main" id="{F8F3F72B-8923-D8D1-4D4F-F55642D6AF98}"/>
                </a:ext>
              </a:extLst>
            </p:cNvPr>
            <p:cNvSpPr>
              <a:spLocks/>
            </p:cNvSpPr>
            <p:nvPr/>
          </p:nvSpPr>
          <p:spPr bwMode="auto">
            <a:xfrm>
              <a:off x="0" y="0"/>
              <a:ext cx="3300476" cy="2043176"/>
            </a:xfrm>
            <a:custGeom>
              <a:avLst/>
              <a:gdLst>
                <a:gd name="T0" fmla="*/ 0 w 3300476"/>
                <a:gd name="T1" fmla="*/ 0 h 2043176"/>
                <a:gd name="T2" fmla="*/ 3300476 w 3300476"/>
                <a:gd name="T3" fmla="*/ 0 h 2043176"/>
                <a:gd name="T4" fmla="*/ 3300476 w 3300476"/>
                <a:gd name="T5" fmla="*/ 2043176 h 2043176"/>
                <a:gd name="T6" fmla="*/ 0 w 3300476"/>
                <a:gd name="T7" fmla="*/ 2043176 h 2043176"/>
                <a:gd name="T8" fmla="*/ 0 w 3300476"/>
                <a:gd name="T9" fmla="*/ 0 h 204317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300476" h="2043176">
                  <a:moveTo>
                    <a:pt x="0" y="0"/>
                  </a:moveTo>
                  <a:lnTo>
                    <a:pt x="3300476" y="0"/>
                  </a:lnTo>
                  <a:lnTo>
                    <a:pt x="3300476" y="2043176"/>
                  </a:lnTo>
                  <a:lnTo>
                    <a:pt x="0" y="2043176"/>
                  </a:lnTo>
                  <a:lnTo>
                    <a:pt x="0" y="0"/>
                  </a:lnTo>
                  <a:close/>
                </a:path>
              </a:pathLst>
            </a:cu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9220" name="TextBox 6" descr="$PPTXTitle">
            <a:extLst>
              <a:ext uri="{FF2B5EF4-FFF2-40B4-BE49-F238E27FC236}">
                <a16:creationId xmlns:a16="http://schemas.microsoft.com/office/drawing/2014/main" id="{29399F4A-3637-8A66-2E13-3BA18FD335D1}"/>
              </a:ext>
            </a:extLst>
          </p:cNvPr>
          <p:cNvSpPr txBox="1">
            <a:spLocks noChangeArrowheads="1"/>
          </p:cNvSpPr>
          <p:nvPr/>
        </p:nvSpPr>
        <p:spPr bwMode="auto">
          <a:xfrm>
            <a:off x="3025775" y="2792413"/>
            <a:ext cx="9090025" cy="554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ts val="4500"/>
              </a:lnSpc>
              <a:spcBef>
                <a:spcPct val="0"/>
              </a:spcBef>
              <a:buFontTx/>
              <a:buNone/>
            </a:pPr>
            <a:r>
              <a:rPr lang="en-US" altLang="nb-NO" sz="3600" dirty="0">
                <a:solidFill>
                  <a:srgbClr val="0D2841"/>
                </a:solidFill>
                <a:latin typeface="Calibri (MS)" charset="0"/>
                <a:cs typeface="Calibri (MS)" charset="0"/>
                <a:sym typeface="Calibri (MS)" charset="0"/>
              </a:rPr>
              <a:t>Eksempel </a:t>
            </a:r>
            <a:r>
              <a:rPr lang="en-US" altLang="nb-NO" sz="3600" dirty="0" err="1">
                <a:solidFill>
                  <a:srgbClr val="0D2841"/>
                </a:solidFill>
                <a:latin typeface="Calibri (MS)" charset="0"/>
                <a:cs typeface="Calibri (MS)" charset="0"/>
                <a:sym typeface="Calibri (MS)" charset="0"/>
              </a:rPr>
              <a:t>på</a:t>
            </a:r>
            <a:r>
              <a:rPr lang="en-US" altLang="nb-NO" sz="3600" dirty="0">
                <a:solidFill>
                  <a:srgbClr val="0D2841"/>
                </a:solidFill>
                <a:latin typeface="Calibri (MS)" charset="0"/>
                <a:cs typeface="Calibri (MS)" charset="0"/>
                <a:sym typeface="Calibri (MS)" charset="0"/>
              </a:rPr>
              <a:t> </a:t>
            </a:r>
            <a:r>
              <a:rPr lang="en-US" altLang="nb-NO" sz="3600" dirty="0" err="1">
                <a:solidFill>
                  <a:srgbClr val="0D2841"/>
                </a:solidFill>
                <a:latin typeface="Calibri (MS)" charset="0"/>
                <a:cs typeface="Calibri (MS)" charset="0"/>
                <a:sym typeface="Calibri (MS)" charset="0"/>
              </a:rPr>
              <a:t>illustrativ</a:t>
            </a:r>
            <a:r>
              <a:rPr lang="en-US" altLang="nb-NO" sz="3600" dirty="0">
                <a:solidFill>
                  <a:srgbClr val="0D2841"/>
                </a:solidFill>
                <a:latin typeface="Calibri (MS)" charset="0"/>
                <a:cs typeface="Calibri (MS)" charset="0"/>
                <a:sym typeface="Calibri (MS)" charset="0"/>
              </a:rPr>
              <a:t> </a:t>
            </a:r>
            <a:r>
              <a:rPr lang="en-US" altLang="nb-NO" sz="3600" dirty="0" err="1">
                <a:solidFill>
                  <a:srgbClr val="0D2841"/>
                </a:solidFill>
                <a:latin typeface="Calibri (MS)" charset="0"/>
                <a:cs typeface="Calibri (MS)" charset="0"/>
                <a:sym typeface="Calibri (MS)" charset="0"/>
              </a:rPr>
              <a:t>porteføljesammensetning</a:t>
            </a:r>
            <a:endParaRPr lang="en-US" altLang="nb-NO" sz="3600" dirty="0">
              <a:solidFill>
                <a:srgbClr val="0D2841"/>
              </a:solidFill>
              <a:latin typeface="Calibri (MS)" charset="0"/>
              <a:cs typeface="Calibri (MS)" charset="0"/>
              <a:sym typeface="Calibri (MS)" charset="0"/>
            </a:endParaRPr>
          </a:p>
        </p:txBody>
      </p:sp>
      <p:sp>
        <p:nvSpPr>
          <p:cNvPr id="7" name="Freeform 7">
            <a:extLst>
              <a:ext uri="{FF2B5EF4-FFF2-40B4-BE49-F238E27FC236}">
                <a16:creationId xmlns:a16="http://schemas.microsoft.com/office/drawing/2014/main" id="{06FFFB6D-EA1A-259C-DB1F-6837EEB11420}"/>
              </a:ext>
            </a:extLst>
          </p:cNvPr>
          <p:cNvSpPr/>
          <p:nvPr/>
        </p:nvSpPr>
        <p:spPr>
          <a:xfrm>
            <a:off x="1646238" y="2597150"/>
            <a:ext cx="1087437" cy="1071563"/>
          </a:xfrm>
          <a:custGeom>
            <a:avLst/>
            <a:gdLst/>
            <a:ahLst/>
            <a:cxnLst/>
            <a:rect l="l" t="t" r="r" b="b"/>
            <a:pathLst>
              <a:path w="1087754" h="1071561">
                <a:moveTo>
                  <a:pt x="0" y="0"/>
                </a:moveTo>
                <a:lnTo>
                  <a:pt x="1087754" y="0"/>
                </a:lnTo>
                <a:lnTo>
                  <a:pt x="1087754" y="1071561"/>
                </a:lnTo>
                <a:lnTo>
                  <a:pt x="0" y="1071561"/>
                </a:lnTo>
                <a:lnTo>
                  <a:pt x="0" y="0"/>
                </a:lnTo>
                <a:close/>
              </a:path>
            </a:pathLst>
          </a:custGeom>
          <a:blipFill>
            <a:blip r:embed="rId3"/>
            <a:stretch>
              <a:fillRect/>
            </a:stretch>
          </a:blipFill>
        </p:spPr>
        <p:txBody>
          <a:bodyPr/>
          <a:lstStyle/>
          <a:p>
            <a:pPr eaLnBrk="1" fontAlgn="auto" hangingPunct="1">
              <a:spcBef>
                <a:spcPts val="0"/>
              </a:spcBef>
              <a:spcAft>
                <a:spcPts val="0"/>
              </a:spcAft>
              <a:defRPr/>
            </a:pPr>
            <a:endParaRPr lang="nb-NO">
              <a:latin typeface="+mn-lt"/>
            </a:endParaRPr>
          </a:p>
        </p:txBody>
      </p:sp>
      <p:sp>
        <p:nvSpPr>
          <p:cNvPr id="2" name="TextBox 6" descr="$PPTXTitle">
            <a:extLst>
              <a:ext uri="{FF2B5EF4-FFF2-40B4-BE49-F238E27FC236}">
                <a16:creationId xmlns:a16="http://schemas.microsoft.com/office/drawing/2014/main" id="{385B5D8B-BD4D-1306-BE21-8D843F5AC845}"/>
              </a:ext>
            </a:extLst>
          </p:cNvPr>
          <p:cNvSpPr txBox="1">
            <a:spLocks noChangeArrowheads="1"/>
          </p:cNvSpPr>
          <p:nvPr/>
        </p:nvSpPr>
        <p:spPr bwMode="auto">
          <a:xfrm>
            <a:off x="3025775" y="4000500"/>
            <a:ext cx="11985625"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buNone/>
            </a:pPr>
            <a:r>
              <a:rPr lang="nb-NO" sz="2100" dirty="0"/>
              <a:t>Porteføljen som presenteres videre er en modellportefølje og er ment som et eksempel på sammensetning og risikospredning. Porteføljen er ikke vurdert opp mot en konkret kundes samlede finansielle situasjon og er ikke å anse som egnethetsvurdert.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2286" y="0"/>
            <a:ext cx="18283428" cy="10287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Bilde 2" descr="Et bilde som inneholder tekst, skjermbilde, diagram, sirkel&#10;&#10;KI-generert innhold kan være feil.">
            <a:extLst>
              <a:ext uri="{FF2B5EF4-FFF2-40B4-BE49-F238E27FC236}">
                <a16:creationId xmlns:a16="http://schemas.microsoft.com/office/drawing/2014/main" id="{AF19128F-796C-40A6-0D66-B60A5EB5766E}"/>
              </a:ext>
            </a:extLst>
          </p:cNvPr>
          <p:cNvPicPr>
            <a:picLocks noChangeAspect="1"/>
          </p:cNvPicPr>
          <p:nvPr/>
        </p:nvPicPr>
        <p:blipFill>
          <a:blip r:embed="rId2"/>
          <a:srcRect b="19"/>
          <a:stretch>
            <a:fillRect/>
          </a:stretch>
        </p:blipFill>
        <p:spPr>
          <a:xfrm>
            <a:off x="20" y="1923"/>
            <a:ext cx="18287980" cy="10285077"/>
          </a:xfrm>
          <a:prstGeom prst="rect">
            <a:avLst/>
          </a:prstGeom>
        </p:spPr>
      </p:pic>
      <p:grpSp>
        <p:nvGrpSpPr>
          <p:cNvPr id="4" name="Group 4">
            <a:extLst>
              <a:ext uri="{FF2B5EF4-FFF2-40B4-BE49-F238E27FC236}">
                <a16:creationId xmlns:a16="http://schemas.microsoft.com/office/drawing/2014/main" id="{60776C23-87FB-3736-B4EB-25F299CD4213}"/>
              </a:ext>
            </a:extLst>
          </p:cNvPr>
          <p:cNvGrpSpPr>
            <a:grpSpLocks noChangeAspect="1"/>
          </p:cNvGrpSpPr>
          <p:nvPr/>
        </p:nvGrpSpPr>
        <p:grpSpPr bwMode="auto">
          <a:xfrm>
            <a:off x="15805150" y="9525"/>
            <a:ext cx="2476500" cy="1531938"/>
            <a:chOff x="0" y="0"/>
            <a:chExt cx="3300476" cy="2043150"/>
          </a:xfrm>
        </p:grpSpPr>
        <p:sp>
          <p:nvSpPr>
            <p:cNvPr id="5" name="Freeform 5">
              <a:extLst>
                <a:ext uri="{FF2B5EF4-FFF2-40B4-BE49-F238E27FC236}">
                  <a16:creationId xmlns:a16="http://schemas.microsoft.com/office/drawing/2014/main" id="{4F036740-D412-AC93-762A-F08FE5E8AB27}"/>
                </a:ext>
              </a:extLst>
            </p:cNvPr>
            <p:cNvSpPr>
              <a:spLocks/>
            </p:cNvSpPr>
            <p:nvPr/>
          </p:nvSpPr>
          <p:spPr bwMode="auto">
            <a:xfrm>
              <a:off x="0" y="0"/>
              <a:ext cx="3300476" cy="2043176"/>
            </a:xfrm>
            <a:custGeom>
              <a:avLst/>
              <a:gdLst>
                <a:gd name="T0" fmla="*/ 0 w 3300476"/>
                <a:gd name="T1" fmla="*/ 0 h 2043176"/>
                <a:gd name="T2" fmla="*/ 3300476 w 3300476"/>
                <a:gd name="T3" fmla="*/ 0 h 2043176"/>
                <a:gd name="T4" fmla="*/ 3300476 w 3300476"/>
                <a:gd name="T5" fmla="*/ 2043176 h 2043176"/>
                <a:gd name="T6" fmla="*/ 0 w 3300476"/>
                <a:gd name="T7" fmla="*/ 2043176 h 2043176"/>
                <a:gd name="T8" fmla="*/ 0 w 3300476"/>
                <a:gd name="T9" fmla="*/ 0 h 204317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300476" h="2043176">
                  <a:moveTo>
                    <a:pt x="0" y="0"/>
                  </a:moveTo>
                  <a:lnTo>
                    <a:pt x="3300476" y="0"/>
                  </a:lnTo>
                  <a:lnTo>
                    <a:pt x="3300476" y="2043176"/>
                  </a:lnTo>
                  <a:lnTo>
                    <a:pt x="0" y="2043176"/>
                  </a:lnTo>
                  <a:lnTo>
                    <a:pt x="0" y="0"/>
                  </a:lnTo>
                  <a:close/>
                </a:path>
              </a:pathLst>
            </a:cu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Tree>
    <p:extLst>
      <p:ext uri="{BB962C8B-B14F-4D97-AF65-F5344CB8AC3E}">
        <p14:creationId xmlns:p14="http://schemas.microsoft.com/office/powerpoint/2010/main" val="41032303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2286" y="0"/>
            <a:ext cx="18283428" cy="10287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Bilde 2" descr="Et bilde som inneholder tekst, skjermbilde, diagram, sirkel&#10;&#10;KI-generert innhold kan være feil.">
            <a:extLst>
              <a:ext uri="{FF2B5EF4-FFF2-40B4-BE49-F238E27FC236}">
                <a16:creationId xmlns:a16="http://schemas.microsoft.com/office/drawing/2014/main" id="{2D33481D-EB93-DABD-ED2C-3F8836E7EBE7}"/>
              </a:ext>
            </a:extLst>
          </p:cNvPr>
          <p:cNvPicPr>
            <a:picLocks noChangeAspect="1"/>
          </p:cNvPicPr>
          <p:nvPr/>
        </p:nvPicPr>
        <p:blipFill>
          <a:blip r:embed="rId2"/>
          <a:srcRect b="461"/>
          <a:stretch>
            <a:fillRect/>
          </a:stretch>
        </p:blipFill>
        <p:spPr>
          <a:xfrm>
            <a:off x="20" y="1923"/>
            <a:ext cx="18287980" cy="10285077"/>
          </a:xfrm>
          <a:prstGeom prst="rect">
            <a:avLst/>
          </a:prstGeom>
        </p:spPr>
      </p:pic>
      <p:grpSp>
        <p:nvGrpSpPr>
          <p:cNvPr id="4" name="Group 4">
            <a:extLst>
              <a:ext uri="{FF2B5EF4-FFF2-40B4-BE49-F238E27FC236}">
                <a16:creationId xmlns:a16="http://schemas.microsoft.com/office/drawing/2014/main" id="{FBC7708A-03FD-9E05-3C74-C6F377C799F4}"/>
              </a:ext>
            </a:extLst>
          </p:cNvPr>
          <p:cNvGrpSpPr>
            <a:grpSpLocks noChangeAspect="1"/>
          </p:cNvGrpSpPr>
          <p:nvPr/>
        </p:nvGrpSpPr>
        <p:grpSpPr bwMode="auto">
          <a:xfrm>
            <a:off x="15805150" y="9525"/>
            <a:ext cx="2476500" cy="1531938"/>
            <a:chOff x="0" y="0"/>
            <a:chExt cx="3300476" cy="2043150"/>
          </a:xfrm>
        </p:grpSpPr>
        <p:sp>
          <p:nvSpPr>
            <p:cNvPr id="5" name="Freeform 5">
              <a:extLst>
                <a:ext uri="{FF2B5EF4-FFF2-40B4-BE49-F238E27FC236}">
                  <a16:creationId xmlns:a16="http://schemas.microsoft.com/office/drawing/2014/main" id="{0909D46A-E248-B907-F0F6-CCFD572CFA92}"/>
                </a:ext>
              </a:extLst>
            </p:cNvPr>
            <p:cNvSpPr>
              <a:spLocks/>
            </p:cNvSpPr>
            <p:nvPr/>
          </p:nvSpPr>
          <p:spPr bwMode="auto">
            <a:xfrm>
              <a:off x="0" y="0"/>
              <a:ext cx="3300476" cy="2043176"/>
            </a:xfrm>
            <a:custGeom>
              <a:avLst/>
              <a:gdLst>
                <a:gd name="T0" fmla="*/ 0 w 3300476"/>
                <a:gd name="T1" fmla="*/ 0 h 2043176"/>
                <a:gd name="T2" fmla="*/ 3300476 w 3300476"/>
                <a:gd name="T3" fmla="*/ 0 h 2043176"/>
                <a:gd name="T4" fmla="*/ 3300476 w 3300476"/>
                <a:gd name="T5" fmla="*/ 2043176 h 2043176"/>
                <a:gd name="T6" fmla="*/ 0 w 3300476"/>
                <a:gd name="T7" fmla="*/ 2043176 h 2043176"/>
                <a:gd name="T8" fmla="*/ 0 w 3300476"/>
                <a:gd name="T9" fmla="*/ 0 h 204317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300476" h="2043176">
                  <a:moveTo>
                    <a:pt x="0" y="0"/>
                  </a:moveTo>
                  <a:lnTo>
                    <a:pt x="3300476" y="0"/>
                  </a:lnTo>
                  <a:lnTo>
                    <a:pt x="3300476" y="2043176"/>
                  </a:lnTo>
                  <a:lnTo>
                    <a:pt x="0" y="2043176"/>
                  </a:lnTo>
                  <a:lnTo>
                    <a:pt x="0" y="0"/>
                  </a:lnTo>
                  <a:close/>
                </a:path>
              </a:pathLst>
            </a:cu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Tree>
    <p:extLst>
      <p:ext uri="{BB962C8B-B14F-4D97-AF65-F5344CB8AC3E}">
        <p14:creationId xmlns:p14="http://schemas.microsoft.com/office/powerpoint/2010/main" val="36418887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2286" y="0"/>
            <a:ext cx="18283428" cy="10287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Bilde 2" descr="Et bilde som inneholder tekst, skjermbilde, diagram, sirkel&#10;&#10;KI-generert innhold kan være feil.">
            <a:extLst>
              <a:ext uri="{FF2B5EF4-FFF2-40B4-BE49-F238E27FC236}">
                <a16:creationId xmlns:a16="http://schemas.microsoft.com/office/drawing/2014/main" id="{417B7466-B0E0-FB20-0886-6662CD37404E}"/>
              </a:ext>
            </a:extLst>
          </p:cNvPr>
          <p:cNvPicPr>
            <a:picLocks noChangeAspect="1"/>
          </p:cNvPicPr>
          <p:nvPr/>
        </p:nvPicPr>
        <p:blipFill>
          <a:blip r:embed="rId2"/>
          <a:srcRect b="461"/>
          <a:stretch>
            <a:fillRect/>
          </a:stretch>
        </p:blipFill>
        <p:spPr>
          <a:xfrm>
            <a:off x="20" y="1923"/>
            <a:ext cx="18287980" cy="10285077"/>
          </a:xfrm>
          <a:prstGeom prst="rect">
            <a:avLst/>
          </a:prstGeom>
        </p:spPr>
      </p:pic>
      <p:grpSp>
        <p:nvGrpSpPr>
          <p:cNvPr id="4" name="Group 4">
            <a:extLst>
              <a:ext uri="{FF2B5EF4-FFF2-40B4-BE49-F238E27FC236}">
                <a16:creationId xmlns:a16="http://schemas.microsoft.com/office/drawing/2014/main" id="{7718E48F-0A61-1BB4-5F49-85C11F0FB682}"/>
              </a:ext>
            </a:extLst>
          </p:cNvPr>
          <p:cNvGrpSpPr>
            <a:grpSpLocks noChangeAspect="1"/>
          </p:cNvGrpSpPr>
          <p:nvPr/>
        </p:nvGrpSpPr>
        <p:grpSpPr bwMode="auto">
          <a:xfrm>
            <a:off x="15805150" y="9525"/>
            <a:ext cx="2476500" cy="1531938"/>
            <a:chOff x="0" y="0"/>
            <a:chExt cx="3300476" cy="2043150"/>
          </a:xfrm>
        </p:grpSpPr>
        <p:sp>
          <p:nvSpPr>
            <p:cNvPr id="5" name="Freeform 5">
              <a:extLst>
                <a:ext uri="{FF2B5EF4-FFF2-40B4-BE49-F238E27FC236}">
                  <a16:creationId xmlns:a16="http://schemas.microsoft.com/office/drawing/2014/main" id="{D5F1EE22-266C-3744-71D9-B1B3CEFDAABC}"/>
                </a:ext>
              </a:extLst>
            </p:cNvPr>
            <p:cNvSpPr>
              <a:spLocks/>
            </p:cNvSpPr>
            <p:nvPr/>
          </p:nvSpPr>
          <p:spPr bwMode="auto">
            <a:xfrm>
              <a:off x="0" y="0"/>
              <a:ext cx="3300476" cy="2043176"/>
            </a:xfrm>
            <a:custGeom>
              <a:avLst/>
              <a:gdLst>
                <a:gd name="T0" fmla="*/ 0 w 3300476"/>
                <a:gd name="T1" fmla="*/ 0 h 2043176"/>
                <a:gd name="T2" fmla="*/ 3300476 w 3300476"/>
                <a:gd name="T3" fmla="*/ 0 h 2043176"/>
                <a:gd name="T4" fmla="*/ 3300476 w 3300476"/>
                <a:gd name="T5" fmla="*/ 2043176 h 2043176"/>
                <a:gd name="T6" fmla="*/ 0 w 3300476"/>
                <a:gd name="T7" fmla="*/ 2043176 h 2043176"/>
                <a:gd name="T8" fmla="*/ 0 w 3300476"/>
                <a:gd name="T9" fmla="*/ 0 h 204317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300476" h="2043176">
                  <a:moveTo>
                    <a:pt x="0" y="0"/>
                  </a:moveTo>
                  <a:lnTo>
                    <a:pt x="3300476" y="0"/>
                  </a:lnTo>
                  <a:lnTo>
                    <a:pt x="3300476" y="2043176"/>
                  </a:lnTo>
                  <a:lnTo>
                    <a:pt x="0" y="2043176"/>
                  </a:lnTo>
                  <a:lnTo>
                    <a:pt x="0" y="0"/>
                  </a:lnTo>
                  <a:close/>
                </a:path>
              </a:pathLst>
            </a:cu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Tree>
    <p:extLst>
      <p:ext uri="{BB962C8B-B14F-4D97-AF65-F5344CB8AC3E}">
        <p14:creationId xmlns:p14="http://schemas.microsoft.com/office/powerpoint/2010/main" val="39504798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2286" y="0"/>
            <a:ext cx="18283428" cy="10287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Bilde 2" descr="Et bilde som inneholder tekst, skjermbilde, diagram, sirkel&#10;&#10;KI-generert innhold kan være feil.">
            <a:extLst>
              <a:ext uri="{FF2B5EF4-FFF2-40B4-BE49-F238E27FC236}">
                <a16:creationId xmlns:a16="http://schemas.microsoft.com/office/drawing/2014/main" id="{5F281B15-5CCD-2111-077F-89644CCAC9CC}"/>
              </a:ext>
            </a:extLst>
          </p:cNvPr>
          <p:cNvPicPr>
            <a:picLocks noChangeAspect="1"/>
          </p:cNvPicPr>
          <p:nvPr/>
        </p:nvPicPr>
        <p:blipFill>
          <a:blip r:embed="rId2"/>
          <a:srcRect r="870" b="-1"/>
          <a:stretch>
            <a:fillRect/>
          </a:stretch>
        </p:blipFill>
        <p:spPr>
          <a:xfrm>
            <a:off x="20" y="1923"/>
            <a:ext cx="18287980" cy="10285077"/>
          </a:xfrm>
          <a:prstGeom prst="rect">
            <a:avLst/>
          </a:prstGeom>
        </p:spPr>
      </p:pic>
      <p:grpSp>
        <p:nvGrpSpPr>
          <p:cNvPr id="4" name="Group 4">
            <a:extLst>
              <a:ext uri="{FF2B5EF4-FFF2-40B4-BE49-F238E27FC236}">
                <a16:creationId xmlns:a16="http://schemas.microsoft.com/office/drawing/2014/main" id="{316BD245-5D94-83E6-E355-43186CB13BB2}"/>
              </a:ext>
            </a:extLst>
          </p:cNvPr>
          <p:cNvGrpSpPr>
            <a:grpSpLocks noChangeAspect="1"/>
          </p:cNvGrpSpPr>
          <p:nvPr/>
        </p:nvGrpSpPr>
        <p:grpSpPr bwMode="auto">
          <a:xfrm>
            <a:off x="15805150" y="9525"/>
            <a:ext cx="2476500" cy="1531938"/>
            <a:chOff x="0" y="0"/>
            <a:chExt cx="3300476" cy="2043150"/>
          </a:xfrm>
        </p:grpSpPr>
        <p:sp>
          <p:nvSpPr>
            <p:cNvPr id="5" name="Freeform 5">
              <a:extLst>
                <a:ext uri="{FF2B5EF4-FFF2-40B4-BE49-F238E27FC236}">
                  <a16:creationId xmlns:a16="http://schemas.microsoft.com/office/drawing/2014/main" id="{205C5AC2-89BC-9353-B445-4E57326B0611}"/>
                </a:ext>
              </a:extLst>
            </p:cNvPr>
            <p:cNvSpPr>
              <a:spLocks/>
            </p:cNvSpPr>
            <p:nvPr/>
          </p:nvSpPr>
          <p:spPr bwMode="auto">
            <a:xfrm>
              <a:off x="0" y="0"/>
              <a:ext cx="3300476" cy="2043176"/>
            </a:xfrm>
            <a:custGeom>
              <a:avLst/>
              <a:gdLst>
                <a:gd name="T0" fmla="*/ 0 w 3300476"/>
                <a:gd name="T1" fmla="*/ 0 h 2043176"/>
                <a:gd name="T2" fmla="*/ 3300476 w 3300476"/>
                <a:gd name="T3" fmla="*/ 0 h 2043176"/>
                <a:gd name="T4" fmla="*/ 3300476 w 3300476"/>
                <a:gd name="T5" fmla="*/ 2043176 h 2043176"/>
                <a:gd name="T6" fmla="*/ 0 w 3300476"/>
                <a:gd name="T7" fmla="*/ 2043176 h 2043176"/>
                <a:gd name="T8" fmla="*/ 0 w 3300476"/>
                <a:gd name="T9" fmla="*/ 0 h 204317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300476" h="2043176">
                  <a:moveTo>
                    <a:pt x="0" y="0"/>
                  </a:moveTo>
                  <a:lnTo>
                    <a:pt x="3300476" y="0"/>
                  </a:lnTo>
                  <a:lnTo>
                    <a:pt x="3300476" y="2043176"/>
                  </a:lnTo>
                  <a:lnTo>
                    <a:pt x="0" y="2043176"/>
                  </a:lnTo>
                  <a:lnTo>
                    <a:pt x="0" y="0"/>
                  </a:lnTo>
                  <a:close/>
                </a:path>
              </a:pathLst>
            </a:cu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6" name="TekstSylinder 5">
            <a:extLst>
              <a:ext uri="{FF2B5EF4-FFF2-40B4-BE49-F238E27FC236}">
                <a16:creationId xmlns:a16="http://schemas.microsoft.com/office/drawing/2014/main" id="{D43C99AE-F7F6-DFC4-4FE9-22B384DFBCCB}"/>
              </a:ext>
            </a:extLst>
          </p:cNvPr>
          <p:cNvSpPr txBox="1"/>
          <p:nvPr/>
        </p:nvSpPr>
        <p:spPr>
          <a:xfrm>
            <a:off x="10059543" y="266700"/>
            <a:ext cx="5486400" cy="646331"/>
          </a:xfrm>
          <a:prstGeom prst="rect">
            <a:avLst/>
          </a:prstGeom>
          <a:noFill/>
        </p:spPr>
        <p:txBody>
          <a:bodyPr wrap="square">
            <a:spAutoFit/>
          </a:bodyPr>
          <a:lstStyle/>
          <a:p>
            <a:pPr>
              <a:buNone/>
            </a:pPr>
            <a:r>
              <a:rPr lang="nb-NO" sz="1200" i="1" dirty="0"/>
              <a:t>Porteføljen som presenteres er en modellportefølje og er ment som et eksempel på sammensetning og risikospredning. Porteføljen er ikke vurdert opp mot en konkret kundes samlede finansielle situasjon og er ikke å anse som egnethetsvurdert</a:t>
            </a:r>
            <a:r>
              <a:rPr lang="nb-NO" sz="1050" i="1" dirty="0"/>
              <a:t>.</a:t>
            </a:r>
          </a:p>
        </p:txBody>
      </p:sp>
    </p:spTree>
    <p:extLst>
      <p:ext uri="{BB962C8B-B14F-4D97-AF65-F5344CB8AC3E}">
        <p14:creationId xmlns:p14="http://schemas.microsoft.com/office/powerpoint/2010/main" val="33921574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2286" y="0"/>
            <a:ext cx="18283428" cy="10287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Bilde 2" descr="Et bilde som inneholder tekst, skjermbilde, diagram, sirkel&#10;&#10;KI-generert innhold kan være feil.">
            <a:extLst>
              <a:ext uri="{FF2B5EF4-FFF2-40B4-BE49-F238E27FC236}">
                <a16:creationId xmlns:a16="http://schemas.microsoft.com/office/drawing/2014/main" id="{22BEA3E6-3D08-B85D-E790-3EFD263AA90A}"/>
              </a:ext>
            </a:extLst>
          </p:cNvPr>
          <p:cNvPicPr>
            <a:picLocks noChangeAspect="1"/>
          </p:cNvPicPr>
          <p:nvPr/>
        </p:nvPicPr>
        <p:blipFill>
          <a:blip r:embed="rId2"/>
          <a:srcRect r="870" b="-1"/>
          <a:stretch>
            <a:fillRect/>
          </a:stretch>
        </p:blipFill>
        <p:spPr>
          <a:xfrm>
            <a:off x="20" y="1923"/>
            <a:ext cx="18287980" cy="10285077"/>
          </a:xfrm>
          <a:prstGeom prst="rect">
            <a:avLst/>
          </a:prstGeom>
        </p:spPr>
      </p:pic>
      <p:grpSp>
        <p:nvGrpSpPr>
          <p:cNvPr id="4" name="Group 4">
            <a:extLst>
              <a:ext uri="{FF2B5EF4-FFF2-40B4-BE49-F238E27FC236}">
                <a16:creationId xmlns:a16="http://schemas.microsoft.com/office/drawing/2014/main" id="{95F5E417-22A5-6ED8-1D5F-D6A41D8E9D02}"/>
              </a:ext>
            </a:extLst>
          </p:cNvPr>
          <p:cNvGrpSpPr>
            <a:grpSpLocks noChangeAspect="1"/>
          </p:cNvGrpSpPr>
          <p:nvPr/>
        </p:nvGrpSpPr>
        <p:grpSpPr bwMode="auto">
          <a:xfrm>
            <a:off x="15805150" y="9525"/>
            <a:ext cx="2476500" cy="1531938"/>
            <a:chOff x="0" y="0"/>
            <a:chExt cx="3300476" cy="2043150"/>
          </a:xfrm>
        </p:grpSpPr>
        <p:sp>
          <p:nvSpPr>
            <p:cNvPr id="5" name="Freeform 5">
              <a:extLst>
                <a:ext uri="{FF2B5EF4-FFF2-40B4-BE49-F238E27FC236}">
                  <a16:creationId xmlns:a16="http://schemas.microsoft.com/office/drawing/2014/main" id="{231BB0D1-86DC-6F40-B7B9-33C7A8466DF8}"/>
                </a:ext>
              </a:extLst>
            </p:cNvPr>
            <p:cNvSpPr>
              <a:spLocks/>
            </p:cNvSpPr>
            <p:nvPr/>
          </p:nvSpPr>
          <p:spPr bwMode="auto">
            <a:xfrm>
              <a:off x="0" y="0"/>
              <a:ext cx="3300476" cy="2043176"/>
            </a:xfrm>
            <a:custGeom>
              <a:avLst/>
              <a:gdLst>
                <a:gd name="T0" fmla="*/ 0 w 3300476"/>
                <a:gd name="T1" fmla="*/ 0 h 2043176"/>
                <a:gd name="T2" fmla="*/ 3300476 w 3300476"/>
                <a:gd name="T3" fmla="*/ 0 h 2043176"/>
                <a:gd name="T4" fmla="*/ 3300476 w 3300476"/>
                <a:gd name="T5" fmla="*/ 2043176 h 2043176"/>
                <a:gd name="T6" fmla="*/ 0 w 3300476"/>
                <a:gd name="T7" fmla="*/ 2043176 h 2043176"/>
                <a:gd name="T8" fmla="*/ 0 w 3300476"/>
                <a:gd name="T9" fmla="*/ 0 h 204317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300476" h="2043176">
                  <a:moveTo>
                    <a:pt x="0" y="0"/>
                  </a:moveTo>
                  <a:lnTo>
                    <a:pt x="3300476" y="0"/>
                  </a:lnTo>
                  <a:lnTo>
                    <a:pt x="3300476" y="2043176"/>
                  </a:lnTo>
                  <a:lnTo>
                    <a:pt x="0" y="2043176"/>
                  </a:lnTo>
                  <a:lnTo>
                    <a:pt x="0" y="0"/>
                  </a:lnTo>
                  <a:close/>
                </a:path>
              </a:pathLst>
            </a:cu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2" name="TekstSylinder 1">
            <a:extLst>
              <a:ext uri="{FF2B5EF4-FFF2-40B4-BE49-F238E27FC236}">
                <a16:creationId xmlns:a16="http://schemas.microsoft.com/office/drawing/2014/main" id="{28C5B798-4313-135D-5107-5B0CC225F59E}"/>
              </a:ext>
            </a:extLst>
          </p:cNvPr>
          <p:cNvSpPr txBox="1"/>
          <p:nvPr/>
        </p:nvSpPr>
        <p:spPr>
          <a:xfrm>
            <a:off x="10059543" y="266700"/>
            <a:ext cx="5486400" cy="646331"/>
          </a:xfrm>
          <a:prstGeom prst="rect">
            <a:avLst/>
          </a:prstGeom>
          <a:noFill/>
        </p:spPr>
        <p:txBody>
          <a:bodyPr wrap="square">
            <a:spAutoFit/>
          </a:bodyPr>
          <a:lstStyle/>
          <a:p>
            <a:pPr>
              <a:buNone/>
            </a:pPr>
            <a:r>
              <a:rPr lang="nb-NO" sz="1200" i="1" dirty="0"/>
              <a:t>Porteføljen som presenteres er en modellportefølje og er ment som et eksempel på sammensetning og risikospredning. Porteføljen er ikke vurdert opp mot en konkret kundes samlede finansielle situasjon og er ikke å anse som egnethetsvurdert</a:t>
            </a:r>
            <a:r>
              <a:rPr lang="nb-NO" sz="1050" i="1" dirty="0"/>
              <a:t>.</a:t>
            </a:r>
          </a:p>
        </p:txBody>
      </p:sp>
    </p:spTree>
    <p:extLst>
      <p:ext uri="{BB962C8B-B14F-4D97-AF65-F5344CB8AC3E}">
        <p14:creationId xmlns:p14="http://schemas.microsoft.com/office/powerpoint/2010/main" val="32284418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2286" y="0"/>
            <a:ext cx="18283428" cy="10287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Bilde 2" descr="Et bilde som inneholder tekst, diagram, line, skjermbilde&#10;&#10;KI-generert innhold kan være feil.">
            <a:extLst>
              <a:ext uri="{FF2B5EF4-FFF2-40B4-BE49-F238E27FC236}">
                <a16:creationId xmlns:a16="http://schemas.microsoft.com/office/drawing/2014/main" id="{AFC825D5-D86F-7563-B471-1ED14E2C0D82}"/>
              </a:ext>
            </a:extLst>
          </p:cNvPr>
          <p:cNvPicPr>
            <a:picLocks noChangeAspect="1"/>
          </p:cNvPicPr>
          <p:nvPr/>
        </p:nvPicPr>
        <p:blipFill>
          <a:blip r:embed="rId3"/>
          <a:srcRect r="427" b="1"/>
          <a:stretch>
            <a:fillRect/>
          </a:stretch>
        </p:blipFill>
        <p:spPr>
          <a:xfrm>
            <a:off x="20" y="1923"/>
            <a:ext cx="18287980" cy="10285077"/>
          </a:xfrm>
          <a:prstGeom prst="rect">
            <a:avLst/>
          </a:prstGeom>
        </p:spPr>
      </p:pic>
      <p:grpSp>
        <p:nvGrpSpPr>
          <p:cNvPr id="4" name="Group 4">
            <a:extLst>
              <a:ext uri="{FF2B5EF4-FFF2-40B4-BE49-F238E27FC236}">
                <a16:creationId xmlns:a16="http://schemas.microsoft.com/office/drawing/2014/main" id="{41CA700A-C817-9FE0-DC66-2D86BB251619}"/>
              </a:ext>
            </a:extLst>
          </p:cNvPr>
          <p:cNvGrpSpPr>
            <a:grpSpLocks noChangeAspect="1"/>
          </p:cNvGrpSpPr>
          <p:nvPr/>
        </p:nvGrpSpPr>
        <p:grpSpPr bwMode="auto">
          <a:xfrm>
            <a:off x="15805150" y="9525"/>
            <a:ext cx="2476500" cy="1531938"/>
            <a:chOff x="0" y="0"/>
            <a:chExt cx="3300476" cy="2043150"/>
          </a:xfrm>
        </p:grpSpPr>
        <p:sp>
          <p:nvSpPr>
            <p:cNvPr id="5" name="Freeform 5">
              <a:extLst>
                <a:ext uri="{FF2B5EF4-FFF2-40B4-BE49-F238E27FC236}">
                  <a16:creationId xmlns:a16="http://schemas.microsoft.com/office/drawing/2014/main" id="{78EDF4C6-3F60-2A0D-8373-DF279DA80405}"/>
                </a:ext>
              </a:extLst>
            </p:cNvPr>
            <p:cNvSpPr>
              <a:spLocks/>
            </p:cNvSpPr>
            <p:nvPr/>
          </p:nvSpPr>
          <p:spPr bwMode="auto">
            <a:xfrm>
              <a:off x="0" y="0"/>
              <a:ext cx="3300476" cy="2043176"/>
            </a:xfrm>
            <a:custGeom>
              <a:avLst/>
              <a:gdLst>
                <a:gd name="T0" fmla="*/ 0 w 3300476"/>
                <a:gd name="T1" fmla="*/ 0 h 2043176"/>
                <a:gd name="T2" fmla="*/ 3300476 w 3300476"/>
                <a:gd name="T3" fmla="*/ 0 h 2043176"/>
                <a:gd name="T4" fmla="*/ 3300476 w 3300476"/>
                <a:gd name="T5" fmla="*/ 2043176 h 2043176"/>
                <a:gd name="T6" fmla="*/ 0 w 3300476"/>
                <a:gd name="T7" fmla="*/ 2043176 h 2043176"/>
                <a:gd name="T8" fmla="*/ 0 w 3300476"/>
                <a:gd name="T9" fmla="*/ 0 h 204317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300476" h="2043176">
                  <a:moveTo>
                    <a:pt x="0" y="0"/>
                  </a:moveTo>
                  <a:lnTo>
                    <a:pt x="3300476" y="0"/>
                  </a:lnTo>
                  <a:lnTo>
                    <a:pt x="3300476" y="2043176"/>
                  </a:lnTo>
                  <a:lnTo>
                    <a:pt x="0" y="2043176"/>
                  </a:lnTo>
                  <a:lnTo>
                    <a:pt x="0" y="0"/>
                  </a:lnTo>
                  <a:close/>
                </a:path>
              </a:pathLst>
            </a:cu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2" name="TekstSylinder 1">
            <a:extLst>
              <a:ext uri="{FF2B5EF4-FFF2-40B4-BE49-F238E27FC236}">
                <a16:creationId xmlns:a16="http://schemas.microsoft.com/office/drawing/2014/main" id="{7771AD1B-E1C7-8CA0-8F1F-7F73B03E605B}"/>
              </a:ext>
            </a:extLst>
          </p:cNvPr>
          <p:cNvSpPr txBox="1"/>
          <p:nvPr/>
        </p:nvSpPr>
        <p:spPr>
          <a:xfrm>
            <a:off x="10059543" y="266700"/>
            <a:ext cx="5486400" cy="646331"/>
          </a:xfrm>
          <a:prstGeom prst="rect">
            <a:avLst/>
          </a:prstGeom>
          <a:noFill/>
        </p:spPr>
        <p:txBody>
          <a:bodyPr wrap="square">
            <a:spAutoFit/>
          </a:bodyPr>
          <a:lstStyle/>
          <a:p>
            <a:pPr>
              <a:buNone/>
            </a:pPr>
            <a:r>
              <a:rPr lang="nb-NO" sz="1200" i="1" dirty="0"/>
              <a:t>Porteføljen som presenteres er en modellportefølje og er ment som et eksempel på sammensetning og risikospredning. Porteføljen er ikke vurdert opp mot en konkret kundes samlede finansielle situasjon og er ikke å anse som egnethetsvurdert</a:t>
            </a:r>
            <a:r>
              <a:rPr lang="nb-NO" sz="1050" i="1" dirty="0"/>
              <a:t>.</a:t>
            </a:r>
          </a:p>
        </p:txBody>
      </p:sp>
    </p:spTree>
    <p:extLst>
      <p:ext uri="{BB962C8B-B14F-4D97-AF65-F5344CB8AC3E}">
        <p14:creationId xmlns:p14="http://schemas.microsoft.com/office/powerpoint/2010/main" val="6112365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2286" y="0"/>
            <a:ext cx="18283428" cy="10287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Bilde 2" descr="Et bilde som inneholder tekst, skjermbilde, diagram, Font&#10;&#10;KI-generert innhold kan være feil.">
            <a:extLst>
              <a:ext uri="{FF2B5EF4-FFF2-40B4-BE49-F238E27FC236}">
                <a16:creationId xmlns:a16="http://schemas.microsoft.com/office/drawing/2014/main" id="{6059ADC2-559D-5C6A-64EB-DF758CD7CA3F}"/>
              </a:ext>
            </a:extLst>
          </p:cNvPr>
          <p:cNvPicPr>
            <a:picLocks noChangeAspect="1"/>
          </p:cNvPicPr>
          <p:nvPr/>
        </p:nvPicPr>
        <p:blipFill>
          <a:blip r:embed="rId2"/>
          <a:srcRect b="461"/>
          <a:stretch>
            <a:fillRect/>
          </a:stretch>
        </p:blipFill>
        <p:spPr>
          <a:xfrm>
            <a:off x="20" y="1923"/>
            <a:ext cx="18287980" cy="10285077"/>
          </a:xfrm>
          <a:prstGeom prst="rect">
            <a:avLst/>
          </a:prstGeom>
        </p:spPr>
      </p:pic>
      <p:grpSp>
        <p:nvGrpSpPr>
          <p:cNvPr id="4" name="Group 4">
            <a:extLst>
              <a:ext uri="{FF2B5EF4-FFF2-40B4-BE49-F238E27FC236}">
                <a16:creationId xmlns:a16="http://schemas.microsoft.com/office/drawing/2014/main" id="{61C13773-3D16-849B-B2C1-8949832B883B}"/>
              </a:ext>
            </a:extLst>
          </p:cNvPr>
          <p:cNvGrpSpPr>
            <a:grpSpLocks noChangeAspect="1"/>
          </p:cNvGrpSpPr>
          <p:nvPr/>
        </p:nvGrpSpPr>
        <p:grpSpPr bwMode="auto">
          <a:xfrm>
            <a:off x="15805150" y="9525"/>
            <a:ext cx="2476500" cy="1531938"/>
            <a:chOff x="0" y="0"/>
            <a:chExt cx="3300476" cy="2043150"/>
          </a:xfrm>
        </p:grpSpPr>
        <p:sp>
          <p:nvSpPr>
            <p:cNvPr id="5" name="Freeform 5">
              <a:extLst>
                <a:ext uri="{FF2B5EF4-FFF2-40B4-BE49-F238E27FC236}">
                  <a16:creationId xmlns:a16="http://schemas.microsoft.com/office/drawing/2014/main" id="{E79FDC24-17B1-7FFD-2A1B-BD0CFB5B925E}"/>
                </a:ext>
              </a:extLst>
            </p:cNvPr>
            <p:cNvSpPr>
              <a:spLocks/>
            </p:cNvSpPr>
            <p:nvPr/>
          </p:nvSpPr>
          <p:spPr bwMode="auto">
            <a:xfrm>
              <a:off x="0" y="0"/>
              <a:ext cx="3300476" cy="2043176"/>
            </a:xfrm>
            <a:custGeom>
              <a:avLst/>
              <a:gdLst>
                <a:gd name="T0" fmla="*/ 0 w 3300476"/>
                <a:gd name="T1" fmla="*/ 0 h 2043176"/>
                <a:gd name="T2" fmla="*/ 3300476 w 3300476"/>
                <a:gd name="T3" fmla="*/ 0 h 2043176"/>
                <a:gd name="T4" fmla="*/ 3300476 w 3300476"/>
                <a:gd name="T5" fmla="*/ 2043176 h 2043176"/>
                <a:gd name="T6" fmla="*/ 0 w 3300476"/>
                <a:gd name="T7" fmla="*/ 2043176 h 2043176"/>
                <a:gd name="T8" fmla="*/ 0 w 3300476"/>
                <a:gd name="T9" fmla="*/ 0 h 204317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300476" h="2043176">
                  <a:moveTo>
                    <a:pt x="0" y="0"/>
                  </a:moveTo>
                  <a:lnTo>
                    <a:pt x="3300476" y="0"/>
                  </a:lnTo>
                  <a:lnTo>
                    <a:pt x="3300476" y="2043176"/>
                  </a:lnTo>
                  <a:lnTo>
                    <a:pt x="0" y="2043176"/>
                  </a:lnTo>
                  <a:lnTo>
                    <a:pt x="0" y="0"/>
                  </a:lnTo>
                  <a:close/>
                </a:path>
              </a:pathLst>
            </a:cu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2" name="TekstSylinder 1">
            <a:extLst>
              <a:ext uri="{FF2B5EF4-FFF2-40B4-BE49-F238E27FC236}">
                <a16:creationId xmlns:a16="http://schemas.microsoft.com/office/drawing/2014/main" id="{8DEEE35F-FAAB-0EAE-0BAF-974B2B1E9512}"/>
              </a:ext>
            </a:extLst>
          </p:cNvPr>
          <p:cNvSpPr txBox="1"/>
          <p:nvPr/>
        </p:nvSpPr>
        <p:spPr>
          <a:xfrm>
            <a:off x="10059543" y="266700"/>
            <a:ext cx="5486400" cy="646331"/>
          </a:xfrm>
          <a:prstGeom prst="rect">
            <a:avLst/>
          </a:prstGeom>
          <a:noFill/>
        </p:spPr>
        <p:txBody>
          <a:bodyPr wrap="square">
            <a:spAutoFit/>
          </a:bodyPr>
          <a:lstStyle/>
          <a:p>
            <a:pPr>
              <a:buNone/>
            </a:pPr>
            <a:r>
              <a:rPr lang="nb-NO" sz="1200" i="1" dirty="0"/>
              <a:t>Porteføljen som presenteres er en modellportefølje og er ment som et eksempel på sammensetning og risikospredning. Porteføljen er ikke vurdert opp mot en konkret kundes samlede finansielle situasjon og er ikke å anse som egnethetsvurdert</a:t>
            </a:r>
            <a:r>
              <a:rPr lang="nb-NO" sz="1050" i="1" dirty="0"/>
              <a:t>.</a:t>
            </a:r>
          </a:p>
        </p:txBody>
      </p:sp>
    </p:spTree>
    <p:extLst>
      <p:ext uri="{BB962C8B-B14F-4D97-AF65-F5344CB8AC3E}">
        <p14:creationId xmlns:p14="http://schemas.microsoft.com/office/powerpoint/2010/main" val="34976667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2286" y="0"/>
            <a:ext cx="18283428" cy="10287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Bilde 2" descr="Et bilde som inneholder tekst, skjermbilde, Font, nummer&#10;&#10;KI-generert innhold kan være feil.">
            <a:extLst>
              <a:ext uri="{FF2B5EF4-FFF2-40B4-BE49-F238E27FC236}">
                <a16:creationId xmlns:a16="http://schemas.microsoft.com/office/drawing/2014/main" id="{544674E3-FD21-3A44-C5F3-E016D28A0FF2}"/>
              </a:ext>
            </a:extLst>
          </p:cNvPr>
          <p:cNvPicPr>
            <a:picLocks noChangeAspect="1"/>
          </p:cNvPicPr>
          <p:nvPr/>
        </p:nvPicPr>
        <p:blipFill>
          <a:blip r:embed="rId2"/>
          <a:srcRect l="426" r="1" b="1"/>
          <a:stretch>
            <a:fillRect/>
          </a:stretch>
        </p:blipFill>
        <p:spPr>
          <a:xfrm>
            <a:off x="20" y="1923"/>
            <a:ext cx="18287980" cy="10285077"/>
          </a:xfrm>
          <a:prstGeom prst="rect">
            <a:avLst/>
          </a:prstGeom>
        </p:spPr>
      </p:pic>
      <p:grpSp>
        <p:nvGrpSpPr>
          <p:cNvPr id="4" name="Group 4">
            <a:extLst>
              <a:ext uri="{FF2B5EF4-FFF2-40B4-BE49-F238E27FC236}">
                <a16:creationId xmlns:a16="http://schemas.microsoft.com/office/drawing/2014/main" id="{84747F36-F319-58C9-EE4A-1331454EF01B}"/>
              </a:ext>
            </a:extLst>
          </p:cNvPr>
          <p:cNvGrpSpPr>
            <a:grpSpLocks noChangeAspect="1"/>
          </p:cNvGrpSpPr>
          <p:nvPr/>
        </p:nvGrpSpPr>
        <p:grpSpPr bwMode="auto">
          <a:xfrm>
            <a:off x="15805150" y="9525"/>
            <a:ext cx="2476500" cy="1531938"/>
            <a:chOff x="0" y="0"/>
            <a:chExt cx="3300476" cy="2043150"/>
          </a:xfrm>
        </p:grpSpPr>
        <p:sp>
          <p:nvSpPr>
            <p:cNvPr id="5" name="Freeform 5">
              <a:extLst>
                <a:ext uri="{FF2B5EF4-FFF2-40B4-BE49-F238E27FC236}">
                  <a16:creationId xmlns:a16="http://schemas.microsoft.com/office/drawing/2014/main" id="{0C7A6A1A-AF06-1B7A-2FC4-DAE6C9FD4B01}"/>
                </a:ext>
              </a:extLst>
            </p:cNvPr>
            <p:cNvSpPr>
              <a:spLocks/>
            </p:cNvSpPr>
            <p:nvPr/>
          </p:nvSpPr>
          <p:spPr bwMode="auto">
            <a:xfrm>
              <a:off x="0" y="0"/>
              <a:ext cx="3300476" cy="2043176"/>
            </a:xfrm>
            <a:custGeom>
              <a:avLst/>
              <a:gdLst>
                <a:gd name="T0" fmla="*/ 0 w 3300476"/>
                <a:gd name="T1" fmla="*/ 0 h 2043176"/>
                <a:gd name="T2" fmla="*/ 3300476 w 3300476"/>
                <a:gd name="T3" fmla="*/ 0 h 2043176"/>
                <a:gd name="T4" fmla="*/ 3300476 w 3300476"/>
                <a:gd name="T5" fmla="*/ 2043176 h 2043176"/>
                <a:gd name="T6" fmla="*/ 0 w 3300476"/>
                <a:gd name="T7" fmla="*/ 2043176 h 2043176"/>
                <a:gd name="T8" fmla="*/ 0 w 3300476"/>
                <a:gd name="T9" fmla="*/ 0 h 204317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300476" h="2043176">
                  <a:moveTo>
                    <a:pt x="0" y="0"/>
                  </a:moveTo>
                  <a:lnTo>
                    <a:pt x="3300476" y="0"/>
                  </a:lnTo>
                  <a:lnTo>
                    <a:pt x="3300476" y="2043176"/>
                  </a:lnTo>
                  <a:lnTo>
                    <a:pt x="0" y="2043176"/>
                  </a:lnTo>
                  <a:lnTo>
                    <a:pt x="0" y="0"/>
                  </a:lnTo>
                  <a:close/>
                </a:path>
              </a:pathLst>
            </a:cu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2" name="TekstSylinder 1">
            <a:extLst>
              <a:ext uri="{FF2B5EF4-FFF2-40B4-BE49-F238E27FC236}">
                <a16:creationId xmlns:a16="http://schemas.microsoft.com/office/drawing/2014/main" id="{24007A48-E743-304F-6F44-5AE3BA778FC0}"/>
              </a:ext>
            </a:extLst>
          </p:cNvPr>
          <p:cNvSpPr txBox="1"/>
          <p:nvPr/>
        </p:nvSpPr>
        <p:spPr>
          <a:xfrm>
            <a:off x="10059543" y="266700"/>
            <a:ext cx="5486400" cy="646331"/>
          </a:xfrm>
          <a:prstGeom prst="rect">
            <a:avLst/>
          </a:prstGeom>
          <a:noFill/>
        </p:spPr>
        <p:txBody>
          <a:bodyPr wrap="square">
            <a:spAutoFit/>
          </a:bodyPr>
          <a:lstStyle/>
          <a:p>
            <a:pPr>
              <a:buNone/>
            </a:pPr>
            <a:r>
              <a:rPr lang="nb-NO" sz="1200" i="1" dirty="0"/>
              <a:t>Porteføljen som presenteres er en modellportefølje og er ment som et eksempel på sammensetning og risikospredning. Porteføljen er ikke vurdert opp mot en konkret kundes samlede finansielle situasjon og er ikke å anse som egnethetsvurdert</a:t>
            </a:r>
            <a:r>
              <a:rPr lang="nb-NO" sz="1050" i="1" dirty="0"/>
              <a:t>.</a:t>
            </a:r>
          </a:p>
        </p:txBody>
      </p:sp>
    </p:spTree>
    <p:extLst>
      <p:ext uri="{BB962C8B-B14F-4D97-AF65-F5344CB8AC3E}">
        <p14:creationId xmlns:p14="http://schemas.microsoft.com/office/powerpoint/2010/main" val="9780681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554" name="Group 2">
            <a:extLst>
              <a:ext uri="{FF2B5EF4-FFF2-40B4-BE49-F238E27FC236}">
                <a16:creationId xmlns:a16="http://schemas.microsoft.com/office/drawing/2014/main" id="{DF1089C7-EC7E-EC74-A7A9-E98DA5794DFD}"/>
              </a:ext>
            </a:extLst>
          </p:cNvPr>
          <p:cNvGrpSpPr>
            <a:grpSpLocks/>
          </p:cNvGrpSpPr>
          <p:nvPr/>
        </p:nvGrpSpPr>
        <p:grpSpPr bwMode="auto">
          <a:xfrm>
            <a:off x="0" y="0"/>
            <a:ext cx="18288000" cy="10287000"/>
            <a:chOff x="0" y="0"/>
            <a:chExt cx="24384000" cy="13716000"/>
          </a:xfrm>
        </p:grpSpPr>
        <p:sp>
          <p:nvSpPr>
            <p:cNvPr id="23560" name="Freeform 3">
              <a:extLst>
                <a:ext uri="{FF2B5EF4-FFF2-40B4-BE49-F238E27FC236}">
                  <a16:creationId xmlns:a16="http://schemas.microsoft.com/office/drawing/2014/main" id="{71C2EB84-7D19-B1D7-A10B-5390B2262924}"/>
                </a:ext>
              </a:extLst>
            </p:cNvPr>
            <p:cNvSpPr>
              <a:spLocks/>
            </p:cNvSpPr>
            <p:nvPr/>
          </p:nvSpPr>
          <p:spPr bwMode="auto">
            <a:xfrm>
              <a:off x="0" y="0"/>
              <a:ext cx="24384000" cy="13716000"/>
            </a:xfrm>
            <a:custGeom>
              <a:avLst/>
              <a:gdLst>
                <a:gd name="T0" fmla="*/ 24384000 w 24384000"/>
                <a:gd name="T1" fmla="*/ 0 h 13716000"/>
                <a:gd name="T2" fmla="*/ 0 w 24384000"/>
                <a:gd name="T3" fmla="*/ 0 h 13716000"/>
                <a:gd name="T4" fmla="*/ 0 w 24384000"/>
                <a:gd name="T5" fmla="*/ 13716000 h 13716000"/>
                <a:gd name="T6" fmla="*/ 24384000 w 24384000"/>
                <a:gd name="T7" fmla="*/ 13716000 h 13716000"/>
                <a:gd name="T8" fmla="*/ 24384000 w 24384000"/>
                <a:gd name="T9" fmla="*/ 0 h 13716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384000" h="13716000">
                  <a:moveTo>
                    <a:pt x="24384000" y="0"/>
                  </a:moveTo>
                  <a:lnTo>
                    <a:pt x="0" y="0"/>
                  </a:lnTo>
                  <a:lnTo>
                    <a:pt x="0" y="13716000"/>
                  </a:lnTo>
                  <a:lnTo>
                    <a:pt x="24384000" y="13716000"/>
                  </a:lnTo>
                  <a:lnTo>
                    <a:pt x="24384000" y="0"/>
                  </a:lnTo>
                  <a:close/>
                </a:path>
              </a:pathLst>
            </a:custGeom>
            <a:solidFill>
              <a:srgbClr val="F5F5F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23555" name="Group 4">
            <a:extLst>
              <a:ext uri="{FF2B5EF4-FFF2-40B4-BE49-F238E27FC236}">
                <a16:creationId xmlns:a16="http://schemas.microsoft.com/office/drawing/2014/main" id="{DD8D8796-DC2D-9358-0000-A3AD91CAB518}"/>
              </a:ext>
            </a:extLst>
          </p:cNvPr>
          <p:cNvGrpSpPr>
            <a:grpSpLocks noChangeAspect="1"/>
          </p:cNvGrpSpPr>
          <p:nvPr/>
        </p:nvGrpSpPr>
        <p:grpSpPr bwMode="auto">
          <a:xfrm>
            <a:off x="15805150" y="9525"/>
            <a:ext cx="2476500" cy="1531938"/>
            <a:chOff x="0" y="0"/>
            <a:chExt cx="3300476" cy="2043150"/>
          </a:xfrm>
        </p:grpSpPr>
        <p:sp>
          <p:nvSpPr>
            <p:cNvPr id="23559" name="Freeform 5">
              <a:extLst>
                <a:ext uri="{FF2B5EF4-FFF2-40B4-BE49-F238E27FC236}">
                  <a16:creationId xmlns:a16="http://schemas.microsoft.com/office/drawing/2014/main" id="{096B3E0D-E8D6-4E95-7718-5E5A4F379AE0}"/>
                </a:ext>
              </a:extLst>
            </p:cNvPr>
            <p:cNvSpPr>
              <a:spLocks/>
            </p:cNvSpPr>
            <p:nvPr/>
          </p:nvSpPr>
          <p:spPr bwMode="auto">
            <a:xfrm>
              <a:off x="0" y="0"/>
              <a:ext cx="3300476" cy="2043176"/>
            </a:xfrm>
            <a:custGeom>
              <a:avLst/>
              <a:gdLst>
                <a:gd name="T0" fmla="*/ 0 w 3300476"/>
                <a:gd name="T1" fmla="*/ 0 h 2043176"/>
                <a:gd name="T2" fmla="*/ 3300476 w 3300476"/>
                <a:gd name="T3" fmla="*/ 0 h 2043176"/>
                <a:gd name="T4" fmla="*/ 3300476 w 3300476"/>
                <a:gd name="T5" fmla="*/ 2043176 h 2043176"/>
                <a:gd name="T6" fmla="*/ 0 w 3300476"/>
                <a:gd name="T7" fmla="*/ 2043176 h 2043176"/>
                <a:gd name="T8" fmla="*/ 0 w 3300476"/>
                <a:gd name="T9" fmla="*/ 0 h 204317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300476" h="2043176">
                  <a:moveTo>
                    <a:pt x="0" y="0"/>
                  </a:moveTo>
                  <a:lnTo>
                    <a:pt x="3300476" y="0"/>
                  </a:lnTo>
                  <a:lnTo>
                    <a:pt x="3300476" y="2043176"/>
                  </a:lnTo>
                  <a:lnTo>
                    <a:pt x="0" y="2043176"/>
                  </a:lnTo>
                  <a:lnTo>
                    <a:pt x="0" y="0"/>
                  </a:lnTo>
                  <a:close/>
                </a:path>
              </a:pathLst>
            </a:cu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6" name="TextBox 6">
            <a:extLst>
              <a:ext uri="{FF2B5EF4-FFF2-40B4-BE49-F238E27FC236}">
                <a16:creationId xmlns:a16="http://schemas.microsoft.com/office/drawing/2014/main" id="{38E66C81-47BD-C326-20C1-E7B52519D805}"/>
              </a:ext>
            </a:extLst>
          </p:cNvPr>
          <p:cNvSpPr txBox="1"/>
          <p:nvPr/>
        </p:nvSpPr>
        <p:spPr>
          <a:xfrm>
            <a:off x="1001713" y="487363"/>
            <a:ext cx="9915525" cy="654050"/>
          </a:xfrm>
          <a:prstGeom prst="rect">
            <a:avLst/>
          </a:prstGeom>
        </p:spPr>
        <p:txBody>
          <a:bodyPr lIns="0" tIns="0" rIns="0" bIns="0">
            <a:spAutoFit/>
          </a:bodyPr>
          <a:lstStyle/>
          <a:p>
            <a:pPr eaLnBrk="1" fontAlgn="auto" hangingPunct="1">
              <a:lnSpc>
                <a:spcPts val="4500"/>
              </a:lnSpc>
              <a:spcBef>
                <a:spcPts val="0"/>
              </a:spcBef>
              <a:spcAft>
                <a:spcPts val="0"/>
              </a:spcAft>
              <a:defRPr/>
            </a:pPr>
            <a:r>
              <a:rPr lang="en-US" sz="3750" dirty="0" err="1">
                <a:solidFill>
                  <a:srgbClr val="0D2841"/>
                </a:solidFill>
                <a:latin typeface="Calibri (MS)"/>
                <a:ea typeface="Calibri (MS)"/>
                <a:cs typeface="Calibri (MS)"/>
                <a:sym typeface="Calibri (MS)"/>
              </a:rPr>
              <a:t>Aksjemarkedet</a:t>
            </a:r>
            <a:r>
              <a:rPr lang="en-US" sz="3750" dirty="0">
                <a:solidFill>
                  <a:srgbClr val="0D2841"/>
                </a:solidFill>
                <a:latin typeface="Calibri (MS)"/>
                <a:ea typeface="Calibri (MS)"/>
                <a:cs typeface="Calibri (MS)"/>
                <a:sym typeface="Calibri (MS)"/>
              </a:rPr>
              <a:t> – </a:t>
            </a:r>
            <a:r>
              <a:rPr lang="en-US" sz="3750" dirty="0" err="1">
                <a:solidFill>
                  <a:srgbClr val="0D2841"/>
                </a:solidFill>
                <a:latin typeface="Calibri (MS)"/>
                <a:ea typeface="Calibri (MS)"/>
                <a:cs typeface="Calibri (MS)"/>
                <a:sym typeface="Calibri (MS)"/>
              </a:rPr>
              <a:t>Historisk</a:t>
            </a:r>
            <a:r>
              <a:rPr lang="en-US" sz="3750" dirty="0">
                <a:solidFill>
                  <a:srgbClr val="0D2841"/>
                </a:solidFill>
                <a:latin typeface="Calibri (MS)"/>
                <a:ea typeface="Calibri (MS)"/>
                <a:cs typeface="Calibri (MS)"/>
                <a:sym typeface="Calibri (MS)"/>
              </a:rPr>
              <a:t> </a:t>
            </a:r>
            <a:r>
              <a:rPr lang="en-US" sz="3750" dirty="0" err="1">
                <a:solidFill>
                  <a:srgbClr val="0D2841"/>
                </a:solidFill>
                <a:latin typeface="Calibri (MS)"/>
                <a:ea typeface="Calibri (MS)"/>
                <a:cs typeface="Calibri (MS)"/>
                <a:sym typeface="Calibri (MS)"/>
              </a:rPr>
              <a:t>utvikling</a:t>
            </a:r>
            <a:endParaRPr lang="en-US" sz="3750" dirty="0">
              <a:solidFill>
                <a:srgbClr val="0D2841"/>
              </a:solidFill>
              <a:latin typeface="Calibri (MS)"/>
              <a:ea typeface="Calibri (MS)"/>
              <a:cs typeface="Calibri (MS)"/>
              <a:sym typeface="Calibri (MS)"/>
            </a:endParaRPr>
          </a:p>
        </p:txBody>
      </p:sp>
      <p:sp>
        <p:nvSpPr>
          <p:cNvPr id="23558" name="TekstSylinder 11">
            <a:extLst>
              <a:ext uri="{FF2B5EF4-FFF2-40B4-BE49-F238E27FC236}">
                <a16:creationId xmlns:a16="http://schemas.microsoft.com/office/drawing/2014/main" id="{C90E3BF1-6CC4-77FA-7A72-85D0CD2CAC38}"/>
              </a:ext>
            </a:extLst>
          </p:cNvPr>
          <p:cNvSpPr txBox="1">
            <a:spLocks noChangeArrowheads="1"/>
          </p:cNvSpPr>
          <p:nvPr/>
        </p:nvSpPr>
        <p:spPr bwMode="auto">
          <a:xfrm>
            <a:off x="723900" y="9285288"/>
            <a:ext cx="16840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nb-NO" altLang="nb-NO" sz="1400" dirty="0"/>
              <a:t>Kilde: </a:t>
            </a:r>
            <a:r>
              <a:rPr lang="nb-NO" altLang="nb-NO" sz="1400" dirty="0" err="1"/>
              <a:t>FactSet</a:t>
            </a:r>
            <a:r>
              <a:rPr lang="nb-NO" altLang="nb-NO" sz="1400" dirty="0"/>
              <a:t>, MSCI, J.P. Morgan Asset Management. Avkastningstallene er kursavkastning basert på MSCI World-indeksen målt i amerikanske dollar. </a:t>
            </a:r>
            <a:r>
              <a:rPr lang="nb-NO" altLang="nb-NO" sz="1400" dirty="0" err="1"/>
              <a:t>Intrårsfallet</a:t>
            </a:r>
            <a:r>
              <a:rPr lang="nb-NO" altLang="nb-NO" sz="1400" dirty="0"/>
              <a:t> er det største fallet fra topp til bunn i løpet av det aktuelle året. Historisk avkastning er ingen pålitelig indikator for nåværende og fremtidige resultater. Dataene gjenspeiler sist tilgjengelige informasjon per 30.09.2025.</a:t>
            </a:r>
          </a:p>
        </p:txBody>
      </p:sp>
      <p:pic>
        <p:nvPicPr>
          <p:cNvPr id="2" name="Bilde 1">
            <a:extLst>
              <a:ext uri="{FF2B5EF4-FFF2-40B4-BE49-F238E27FC236}">
                <a16:creationId xmlns:a16="http://schemas.microsoft.com/office/drawing/2014/main" id="{DEB17BD1-B0A7-6E59-DA41-72476564614C}"/>
              </a:ext>
            </a:extLst>
          </p:cNvPr>
          <p:cNvPicPr>
            <a:picLocks noChangeAspect="1"/>
          </p:cNvPicPr>
          <p:nvPr/>
        </p:nvPicPr>
        <p:blipFill>
          <a:blip r:embed="rId3"/>
          <a:stretch>
            <a:fillRect/>
          </a:stretch>
        </p:blipFill>
        <p:spPr>
          <a:xfrm>
            <a:off x="3657599" y="1837729"/>
            <a:ext cx="10820401" cy="6519714"/>
          </a:xfrm>
          <a:prstGeom prst="rect">
            <a:avLst/>
          </a:prstGeom>
        </p:spPr>
      </p:pic>
      <p:sp>
        <p:nvSpPr>
          <p:cNvPr id="4" name="TekstSylinder 3">
            <a:extLst>
              <a:ext uri="{FF2B5EF4-FFF2-40B4-BE49-F238E27FC236}">
                <a16:creationId xmlns:a16="http://schemas.microsoft.com/office/drawing/2014/main" id="{CCBCF184-5F1B-97EF-0D92-0E9CB64258C9}"/>
              </a:ext>
            </a:extLst>
          </p:cNvPr>
          <p:cNvSpPr txBox="1"/>
          <p:nvPr/>
        </p:nvSpPr>
        <p:spPr>
          <a:xfrm>
            <a:off x="10896600" y="850587"/>
            <a:ext cx="3581400" cy="523220"/>
          </a:xfrm>
          <a:prstGeom prst="rect">
            <a:avLst/>
          </a:prstGeom>
          <a:noFill/>
        </p:spPr>
        <p:txBody>
          <a:bodyPr wrap="square">
            <a:spAutoFit/>
          </a:bodyPr>
          <a:lstStyle/>
          <a:p>
            <a:r>
              <a:rPr lang="nb-NO" sz="1400" dirty="0"/>
              <a:t>Denne fremstillingen er generell og uavhengig av den illustrerte porteføljesammensetningen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550DD350-4734-CC65-DB93-4D7E3DA6FB6F}"/>
              </a:ext>
            </a:extLst>
          </p:cNvPr>
          <p:cNvSpPr>
            <a:spLocks noGrp="1"/>
          </p:cNvSpPr>
          <p:nvPr>
            <p:ph type="title"/>
          </p:nvPr>
        </p:nvSpPr>
        <p:spPr/>
        <p:txBody>
          <a:bodyPr/>
          <a:lstStyle/>
          <a:p>
            <a:endParaRPr lang="en-US" dirty="0"/>
          </a:p>
        </p:txBody>
      </p:sp>
      <p:pic>
        <p:nvPicPr>
          <p:cNvPr id="6" name="Bilde 5" descr="Et bilde som inneholder tekst, skjermbilde, Font, nummer&#10;&#10;KI-generert innhold kan være feil.">
            <a:extLst>
              <a:ext uri="{FF2B5EF4-FFF2-40B4-BE49-F238E27FC236}">
                <a16:creationId xmlns:a16="http://schemas.microsoft.com/office/drawing/2014/main" id="{CB2AA4B0-C173-8C72-9F2D-54CBAB3554B3}"/>
              </a:ext>
            </a:extLst>
          </p:cNvPr>
          <p:cNvPicPr>
            <a:picLocks noChangeAspect="1"/>
          </p:cNvPicPr>
          <p:nvPr/>
        </p:nvPicPr>
        <p:blipFill>
          <a:blip r:embed="rId2"/>
          <a:stretch>
            <a:fillRect/>
          </a:stretch>
        </p:blipFill>
        <p:spPr>
          <a:xfrm>
            <a:off x="-67596" y="0"/>
            <a:ext cx="18423192" cy="10287000"/>
          </a:xfrm>
          <a:prstGeom prst="rect">
            <a:avLst/>
          </a:prstGeom>
        </p:spPr>
      </p:pic>
      <p:pic>
        <p:nvPicPr>
          <p:cNvPr id="8" name="Bilde 7" descr="Et bilde som inneholder hvit, design&#10;&#10;KI-generert innhold kan være feil.">
            <a:extLst>
              <a:ext uri="{FF2B5EF4-FFF2-40B4-BE49-F238E27FC236}">
                <a16:creationId xmlns:a16="http://schemas.microsoft.com/office/drawing/2014/main" id="{41A8EDE1-F607-F406-CA85-34ECD4FC7DB8}"/>
              </a:ext>
            </a:extLst>
          </p:cNvPr>
          <p:cNvPicPr>
            <a:picLocks noChangeAspect="1"/>
          </p:cNvPicPr>
          <p:nvPr/>
        </p:nvPicPr>
        <p:blipFill>
          <a:blip r:embed="rId3"/>
          <a:stretch>
            <a:fillRect/>
          </a:stretch>
        </p:blipFill>
        <p:spPr>
          <a:xfrm>
            <a:off x="16535400" y="9410947"/>
            <a:ext cx="1590897" cy="781159"/>
          </a:xfrm>
          <a:prstGeom prst="rect">
            <a:avLst/>
          </a:prstGeom>
        </p:spPr>
      </p:pic>
      <p:pic>
        <p:nvPicPr>
          <p:cNvPr id="14" name="Bilde 13" descr="Et bilde som inneholder Font, design, logo, tekst&#10;&#10;KI-generert innhold kan være feil.">
            <a:extLst>
              <a:ext uri="{FF2B5EF4-FFF2-40B4-BE49-F238E27FC236}">
                <a16:creationId xmlns:a16="http://schemas.microsoft.com/office/drawing/2014/main" id="{B25074CD-94E9-19AE-47A8-813F0B89923B}"/>
              </a:ext>
            </a:extLst>
          </p:cNvPr>
          <p:cNvPicPr>
            <a:picLocks noChangeAspect="1"/>
          </p:cNvPicPr>
          <p:nvPr/>
        </p:nvPicPr>
        <p:blipFill>
          <a:blip r:embed="rId4"/>
          <a:stretch>
            <a:fillRect/>
          </a:stretch>
        </p:blipFill>
        <p:spPr>
          <a:xfrm>
            <a:off x="15010943" y="0"/>
            <a:ext cx="3277057" cy="1467055"/>
          </a:xfrm>
          <a:prstGeom prst="rect">
            <a:avLst/>
          </a:prstGeom>
        </p:spPr>
      </p:pic>
      <p:pic>
        <p:nvPicPr>
          <p:cNvPr id="10" name="Bilde 9">
            <a:extLst>
              <a:ext uri="{FF2B5EF4-FFF2-40B4-BE49-F238E27FC236}">
                <a16:creationId xmlns:a16="http://schemas.microsoft.com/office/drawing/2014/main" id="{C963A1DC-5A45-1884-99E8-4790887374EF}"/>
              </a:ext>
            </a:extLst>
          </p:cNvPr>
          <p:cNvPicPr>
            <a:picLocks noChangeAspect="1"/>
          </p:cNvPicPr>
          <p:nvPr/>
        </p:nvPicPr>
        <p:blipFill>
          <a:blip r:embed="rId5"/>
          <a:stretch>
            <a:fillRect/>
          </a:stretch>
        </p:blipFill>
        <p:spPr>
          <a:xfrm>
            <a:off x="10058400" y="688801"/>
            <a:ext cx="419158" cy="504895"/>
          </a:xfrm>
          <a:prstGeom prst="rect">
            <a:avLst/>
          </a:prstGeom>
        </p:spPr>
      </p:pic>
      <p:sp>
        <p:nvSpPr>
          <p:cNvPr id="3" name="TekstSylinder 2">
            <a:extLst>
              <a:ext uri="{FF2B5EF4-FFF2-40B4-BE49-F238E27FC236}">
                <a16:creationId xmlns:a16="http://schemas.microsoft.com/office/drawing/2014/main" id="{3F147CDF-3A4A-47A4-9AC5-DEEB807807B1}"/>
              </a:ext>
            </a:extLst>
          </p:cNvPr>
          <p:cNvSpPr txBox="1"/>
          <p:nvPr/>
        </p:nvSpPr>
        <p:spPr>
          <a:xfrm>
            <a:off x="9220200" y="8801100"/>
            <a:ext cx="8186280" cy="1107996"/>
          </a:xfrm>
          <a:prstGeom prst="rect">
            <a:avLst/>
          </a:prstGeom>
          <a:noFill/>
        </p:spPr>
        <p:txBody>
          <a:bodyPr wrap="none" rtlCol="0">
            <a:spAutoFit/>
          </a:bodyPr>
          <a:lstStyle/>
          <a:p>
            <a:r>
              <a:rPr lang="nb-NO" sz="1600" i="1" dirty="0"/>
              <a:t>Informasjonen om beskatning er av generell karakter og utgjør ikke individuell skatterådgivning. </a:t>
            </a:r>
          </a:p>
          <a:p>
            <a:r>
              <a:rPr lang="nb-NO" sz="1600" i="1" dirty="0"/>
              <a:t>Skatteregler kan endres og vil avhenge av kundens konkrete forhold.</a:t>
            </a:r>
          </a:p>
          <a:p>
            <a:endParaRPr lang="nb-NO" sz="1600" i="1" dirty="0"/>
          </a:p>
          <a:p>
            <a:r>
              <a:rPr lang="nb-NO" sz="1600" i="1" dirty="0"/>
              <a:t>Kilder: Skattesatser 2025 - regjeringen.no / norgesbank.no</a:t>
            </a:r>
          </a:p>
        </p:txBody>
      </p:sp>
    </p:spTree>
    <p:extLst>
      <p:ext uri="{BB962C8B-B14F-4D97-AF65-F5344CB8AC3E}">
        <p14:creationId xmlns:p14="http://schemas.microsoft.com/office/powerpoint/2010/main" val="9535895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578" name="Group 2">
            <a:extLst>
              <a:ext uri="{FF2B5EF4-FFF2-40B4-BE49-F238E27FC236}">
                <a16:creationId xmlns:a16="http://schemas.microsoft.com/office/drawing/2014/main" id="{6A2AA542-964A-299E-9060-C15708020F26}"/>
              </a:ext>
            </a:extLst>
          </p:cNvPr>
          <p:cNvGrpSpPr>
            <a:grpSpLocks/>
          </p:cNvGrpSpPr>
          <p:nvPr/>
        </p:nvGrpSpPr>
        <p:grpSpPr bwMode="auto">
          <a:xfrm>
            <a:off x="0" y="0"/>
            <a:ext cx="18288000" cy="10287000"/>
            <a:chOff x="0" y="0"/>
            <a:chExt cx="24384000" cy="13716000"/>
          </a:xfrm>
        </p:grpSpPr>
        <p:sp>
          <p:nvSpPr>
            <p:cNvPr id="24583" name="Freeform 3">
              <a:extLst>
                <a:ext uri="{FF2B5EF4-FFF2-40B4-BE49-F238E27FC236}">
                  <a16:creationId xmlns:a16="http://schemas.microsoft.com/office/drawing/2014/main" id="{D08F0DEC-974E-09C5-D4F0-6814B19BEDE8}"/>
                </a:ext>
              </a:extLst>
            </p:cNvPr>
            <p:cNvSpPr>
              <a:spLocks/>
            </p:cNvSpPr>
            <p:nvPr/>
          </p:nvSpPr>
          <p:spPr bwMode="auto">
            <a:xfrm>
              <a:off x="0" y="0"/>
              <a:ext cx="24384000" cy="13716000"/>
            </a:xfrm>
            <a:custGeom>
              <a:avLst/>
              <a:gdLst>
                <a:gd name="T0" fmla="*/ 24384000 w 24384000"/>
                <a:gd name="T1" fmla="*/ 0 h 13716000"/>
                <a:gd name="T2" fmla="*/ 0 w 24384000"/>
                <a:gd name="T3" fmla="*/ 0 h 13716000"/>
                <a:gd name="T4" fmla="*/ 0 w 24384000"/>
                <a:gd name="T5" fmla="*/ 13716000 h 13716000"/>
                <a:gd name="T6" fmla="*/ 24384000 w 24384000"/>
                <a:gd name="T7" fmla="*/ 13716000 h 13716000"/>
                <a:gd name="T8" fmla="*/ 24384000 w 24384000"/>
                <a:gd name="T9" fmla="*/ 0 h 13716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384000" h="13716000">
                  <a:moveTo>
                    <a:pt x="24384000" y="0"/>
                  </a:moveTo>
                  <a:lnTo>
                    <a:pt x="0" y="0"/>
                  </a:lnTo>
                  <a:lnTo>
                    <a:pt x="0" y="13716000"/>
                  </a:lnTo>
                  <a:lnTo>
                    <a:pt x="24384000" y="13716000"/>
                  </a:lnTo>
                  <a:lnTo>
                    <a:pt x="24384000" y="0"/>
                  </a:lnTo>
                  <a:close/>
                </a:path>
              </a:pathLst>
            </a:custGeom>
            <a:solidFill>
              <a:srgbClr val="F5F5F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24579" name="Group 4">
            <a:extLst>
              <a:ext uri="{FF2B5EF4-FFF2-40B4-BE49-F238E27FC236}">
                <a16:creationId xmlns:a16="http://schemas.microsoft.com/office/drawing/2014/main" id="{98851ED2-6C23-7BA5-1A2F-00BBC5BEDFFF}"/>
              </a:ext>
            </a:extLst>
          </p:cNvPr>
          <p:cNvGrpSpPr>
            <a:grpSpLocks noChangeAspect="1"/>
          </p:cNvGrpSpPr>
          <p:nvPr/>
        </p:nvGrpSpPr>
        <p:grpSpPr bwMode="auto">
          <a:xfrm>
            <a:off x="15805150" y="9525"/>
            <a:ext cx="2476500" cy="1531938"/>
            <a:chOff x="0" y="0"/>
            <a:chExt cx="3300476" cy="2043150"/>
          </a:xfrm>
        </p:grpSpPr>
        <p:sp>
          <p:nvSpPr>
            <p:cNvPr id="24582" name="Freeform 5">
              <a:extLst>
                <a:ext uri="{FF2B5EF4-FFF2-40B4-BE49-F238E27FC236}">
                  <a16:creationId xmlns:a16="http://schemas.microsoft.com/office/drawing/2014/main" id="{8BAC0EB7-97A9-DF69-3666-3A8621CEE5CA}"/>
                </a:ext>
              </a:extLst>
            </p:cNvPr>
            <p:cNvSpPr>
              <a:spLocks/>
            </p:cNvSpPr>
            <p:nvPr/>
          </p:nvSpPr>
          <p:spPr bwMode="auto">
            <a:xfrm>
              <a:off x="0" y="0"/>
              <a:ext cx="3300476" cy="2043176"/>
            </a:xfrm>
            <a:custGeom>
              <a:avLst/>
              <a:gdLst>
                <a:gd name="T0" fmla="*/ 0 w 3300476"/>
                <a:gd name="T1" fmla="*/ 0 h 2043176"/>
                <a:gd name="T2" fmla="*/ 3300476 w 3300476"/>
                <a:gd name="T3" fmla="*/ 0 h 2043176"/>
                <a:gd name="T4" fmla="*/ 3300476 w 3300476"/>
                <a:gd name="T5" fmla="*/ 2043176 h 2043176"/>
                <a:gd name="T6" fmla="*/ 0 w 3300476"/>
                <a:gd name="T7" fmla="*/ 2043176 h 2043176"/>
                <a:gd name="T8" fmla="*/ 0 w 3300476"/>
                <a:gd name="T9" fmla="*/ 0 h 204317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300476" h="2043176">
                  <a:moveTo>
                    <a:pt x="0" y="0"/>
                  </a:moveTo>
                  <a:lnTo>
                    <a:pt x="3300476" y="0"/>
                  </a:lnTo>
                  <a:lnTo>
                    <a:pt x="3300476" y="2043176"/>
                  </a:lnTo>
                  <a:lnTo>
                    <a:pt x="0" y="2043176"/>
                  </a:lnTo>
                  <a:lnTo>
                    <a:pt x="0" y="0"/>
                  </a:lnTo>
                  <a:close/>
                </a:path>
              </a:pathLst>
            </a:cu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6" name="TextBox 6" descr="$PPTXTitle">
            <a:extLst>
              <a:ext uri="{FF2B5EF4-FFF2-40B4-BE49-F238E27FC236}">
                <a16:creationId xmlns:a16="http://schemas.microsoft.com/office/drawing/2014/main" id="{D10E0711-562E-E0F0-5339-F3C232647FDE}"/>
              </a:ext>
            </a:extLst>
          </p:cNvPr>
          <p:cNvSpPr txBox="1"/>
          <p:nvPr/>
        </p:nvSpPr>
        <p:spPr>
          <a:xfrm>
            <a:off x="2971800" y="2746375"/>
            <a:ext cx="4746625" cy="627063"/>
          </a:xfrm>
          <a:prstGeom prst="rect">
            <a:avLst/>
          </a:prstGeom>
        </p:spPr>
        <p:txBody>
          <a:bodyPr lIns="0" tIns="0" rIns="0" bIns="0">
            <a:spAutoFit/>
          </a:bodyPr>
          <a:lstStyle/>
          <a:p>
            <a:pPr eaLnBrk="1" fontAlgn="auto" hangingPunct="1">
              <a:lnSpc>
                <a:spcPts val="4320"/>
              </a:lnSpc>
              <a:spcBef>
                <a:spcPts val="0"/>
              </a:spcBef>
              <a:spcAft>
                <a:spcPts val="0"/>
              </a:spcAft>
              <a:defRPr/>
            </a:pPr>
            <a:r>
              <a:rPr lang="en-US" sz="3600" spc="-89">
                <a:solidFill>
                  <a:srgbClr val="404040"/>
                </a:solidFill>
                <a:latin typeface="Calibri (MS)"/>
                <a:ea typeface="Calibri (MS)"/>
                <a:cs typeface="Calibri (MS)"/>
                <a:sym typeface="Calibri (MS)"/>
              </a:rPr>
              <a:t>Forvaltningsteamet</a:t>
            </a:r>
          </a:p>
        </p:txBody>
      </p:sp>
      <p:sp>
        <p:nvSpPr>
          <p:cNvPr id="7" name="Freeform 7">
            <a:extLst>
              <a:ext uri="{FF2B5EF4-FFF2-40B4-BE49-F238E27FC236}">
                <a16:creationId xmlns:a16="http://schemas.microsoft.com/office/drawing/2014/main" id="{19E75234-7DDB-A466-558E-6A1B6DA3E4A5}"/>
              </a:ext>
            </a:extLst>
          </p:cNvPr>
          <p:cNvSpPr/>
          <p:nvPr/>
        </p:nvSpPr>
        <p:spPr>
          <a:xfrm>
            <a:off x="1646238" y="2597150"/>
            <a:ext cx="1087437" cy="1071563"/>
          </a:xfrm>
          <a:custGeom>
            <a:avLst/>
            <a:gdLst/>
            <a:ahLst/>
            <a:cxnLst/>
            <a:rect l="l" t="t" r="r" b="b"/>
            <a:pathLst>
              <a:path w="1087754" h="1071561">
                <a:moveTo>
                  <a:pt x="0" y="0"/>
                </a:moveTo>
                <a:lnTo>
                  <a:pt x="1087754" y="0"/>
                </a:lnTo>
                <a:lnTo>
                  <a:pt x="1087754" y="1071561"/>
                </a:lnTo>
                <a:lnTo>
                  <a:pt x="0" y="1071561"/>
                </a:lnTo>
                <a:lnTo>
                  <a:pt x="0" y="0"/>
                </a:lnTo>
                <a:close/>
              </a:path>
            </a:pathLst>
          </a:custGeom>
          <a:blipFill>
            <a:blip r:embed="rId3"/>
            <a:stretch>
              <a:fillRect/>
            </a:stretch>
          </a:blipFill>
        </p:spPr>
        <p:txBody>
          <a:bodyPr/>
          <a:lstStyle/>
          <a:p>
            <a:pPr eaLnBrk="1" fontAlgn="auto" hangingPunct="1">
              <a:spcBef>
                <a:spcPts val="0"/>
              </a:spcBef>
              <a:spcAft>
                <a:spcPts val="0"/>
              </a:spcAft>
              <a:defRPr/>
            </a:pPr>
            <a:endParaRPr lang="nb-NO">
              <a:latin typeface="+mn-l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602" name="Group 2">
            <a:extLst>
              <a:ext uri="{FF2B5EF4-FFF2-40B4-BE49-F238E27FC236}">
                <a16:creationId xmlns:a16="http://schemas.microsoft.com/office/drawing/2014/main" id="{7D458094-C7F2-BA33-12F5-42774DF85F10}"/>
              </a:ext>
            </a:extLst>
          </p:cNvPr>
          <p:cNvGrpSpPr>
            <a:grpSpLocks/>
          </p:cNvGrpSpPr>
          <p:nvPr/>
        </p:nvGrpSpPr>
        <p:grpSpPr bwMode="auto">
          <a:xfrm>
            <a:off x="0" y="0"/>
            <a:ext cx="18288000" cy="10287000"/>
            <a:chOff x="0" y="0"/>
            <a:chExt cx="24384000" cy="13716000"/>
          </a:xfrm>
        </p:grpSpPr>
        <p:sp>
          <p:nvSpPr>
            <p:cNvPr id="25608" name="Freeform 3">
              <a:extLst>
                <a:ext uri="{FF2B5EF4-FFF2-40B4-BE49-F238E27FC236}">
                  <a16:creationId xmlns:a16="http://schemas.microsoft.com/office/drawing/2014/main" id="{5A203FFB-FD21-6C45-0943-6AE52224B4DD}"/>
                </a:ext>
              </a:extLst>
            </p:cNvPr>
            <p:cNvSpPr>
              <a:spLocks/>
            </p:cNvSpPr>
            <p:nvPr/>
          </p:nvSpPr>
          <p:spPr bwMode="auto">
            <a:xfrm>
              <a:off x="0" y="0"/>
              <a:ext cx="24384000" cy="13716000"/>
            </a:xfrm>
            <a:custGeom>
              <a:avLst/>
              <a:gdLst>
                <a:gd name="T0" fmla="*/ 24384000 w 24384000"/>
                <a:gd name="T1" fmla="*/ 0 h 13716000"/>
                <a:gd name="T2" fmla="*/ 0 w 24384000"/>
                <a:gd name="T3" fmla="*/ 0 h 13716000"/>
                <a:gd name="T4" fmla="*/ 0 w 24384000"/>
                <a:gd name="T5" fmla="*/ 13716000 h 13716000"/>
                <a:gd name="T6" fmla="*/ 24384000 w 24384000"/>
                <a:gd name="T7" fmla="*/ 13716000 h 13716000"/>
                <a:gd name="T8" fmla="*/ 24384000 w 24384000"/>
                <a:gd name="T9" fmla="*/ 0 h 13716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384000" h="13716000">
                  <a:moveTo>
                    <a:pt x="24384000" y="0"/>
                  </a:moveTo>
                  <a:lnTo>
                    <a:pt x="0" y="0"/>
                  </a:lnTo>
                  <a:lnTo>
                    <a:pt x="0" y="13716000"/>
                  </a:lnTo>
                  <a:lnTo>
                    <a:pt x="24384000" y="13716000"/>
                  </a:lnTo>
                  <a:lnTo>
                    <a:pt x="24384000" y="0"/>
                  </a:lnTo>
                  <a:close/>
                </a:path>
              </a:pathLst>
            </a:custGeom>
            <a:solidFill>
              <a:srgbClr val="F5F5F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25603" name="Group 4">
            <a:extLst>
              <a:ext uri="{FF2B5EF4-FFF2-40B4-BE49-F238E27FC236}">
                <a16:creationId xmlns:a16="http://schemas.microsoft.com/office/drawing/2014/main" id="{4061D54F-88BB-EE1E-1A4E-ACE64DB0B709}"/>
              </a:ext>
            </a:extLst>
          </p:cNvPr>
          <p:cNvGrpSpPr>
            <a:grpSpLocks noChangeAspect="1"/>
          </p:cNvGrpSpPr>
          <p:nvPr/>
        </p:nvGrpSpPr>
        <p:grpSpPr bwMode="auto">
          <a:xfrm>
            <a:off x="15805150" y="9525"/>
            <a:ext cx="2476500" cy="1531938"/>
            <a:chOff x="0" y="0"/>
            <a:chExt cx="3300476" cy="2043150"/>
          </a:xfrm>
        </p:grpSpPr>
        <p:sp>
          <p:nvSpPr>
            <p:cNvPr id="25607" name="Freeform 5">
              <a:extLst>
                <a:ext uri="{FF2B5EF4-FFF2-40B4-BE49-F238E27FC236}">
                  <a16:creationId xmlns:a16="http://schemas.microsoft.com/office/drawing/2014/main" id="{88AFFBC7-1DF6-957F-EE40-44D399336AC6}"/>
                </a:ext>
              </a:extLst>
            </p:cNvPr>
            <p:cNvSpPr>
              <a:spLocks/>
            </p:cNvSpPr>
            <p:nvPr/>
          </p:nvSpPr>
          <p:spPr bwMode="auto">
            <a:xfrm>
              <a:off x="0" y="0"/>
              <a:ext cx="3300476" cy="2043176"/>
            </a:xfrm>
            <a:custGeom>
              <a:avLst/>
              <a:gdLst>
                <a:gd name="T0" fmla="*/ 0 w 3300476"/>
                <a:gd name="T1" fmla="*/ 0 h 2043176"/>
                <a:gd name="T2" fmla="*/ 3300476 w 3300476"/>
                <a:gd name="T3" fmla="*/ 0 h 2043176"/>
                <a:gd name="T4" fmla="*/ 3300476 w 3300476"/>
                <a:gd name="T5" fmla="*/ 2043176 h 2043176"/>
                <a:gd name="T6" fmla="*/ 0 w 3300476"/>
                <a:gd name="T7" fmla="*/ 2043176 h 2043176"/>
                <a:gd name="T8" fmla="*/ 0 w 3300476"/>
                <a:gd name="T9" fmla="*/ 0 h 204317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300476" h="2043176">
                  <a:moveTo>
                    <a:pt x="0" y="0"/>
                  </a:moveTo>
                  <a:lnTo>
                    <a:pt x="3300476" y="0"/>
                  </a:lnTo>
                  <a:lnTo>
                    <a:pt x="3300476" y="2043176"/>
                  </a:lnTo>
                  <a:lnTo>
                    <a:pt x="0" y="2043176"/>
                  </a:lnTo>
                  <a:lnTo>
                    <a:pt x="0" y="0"/>
                  </a:lnTo>
                  <a:close/>
                </a:path>
              </a:pathLst>
            </a:cu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6" name="TextBox 6" descr="$PPTXTitle">
            <a:extLst>
              <a:ext uri="{FF2B5EF4-FFF2-40B4-BE49-F238E27FC236}">
                <a16:creationId xmlns:a16="http://schemas.microsoft.com/office/drawing/2014/main" id="{ACFF315D-8B7A-7492-45CB-FF2EBEE67404}"/>
              </a:ext>
            </a:extLst>
          </p:cNvPr>
          <p:cNvSpPr txBox="1"/>
          <p:nvPr/>
        </p:nvSpPr>
        <p:spPr>
          <a:xfrm>
            <a:off x="1001713" y="609600"/>
            <a:ext cx="9915525" cy="576263"/>
          </a:xfrm>
          <a:prstGeom prst="rect">
            <a:avLst/>
          </a:prstGeom>
        </p:spPr>
        <p:txBody>
          <a:bodyPr lIns="0" tIns="0" rIns="0" bIns="0">
            <a:spAutoFit/>
          </a:bodyPr>
          <a:lstStyle/>
          <a:p>
            <a:pPr eaLnBrk="1" fontAlgn="auto" hangingPunct="1">
              <a:lnSpc>
                <a:spcPts val="4500"/>
              </a:lnSpc>
              <a:spcBef>
                <a:spcPts val="0"/>
              </a:spcBef>
              <a:spcAft>
                <a:spcPts val="0"/>
              </a:spcAft>
              <a:defRPr/>
            </a:pPr>
            <a:r>
              <a:rPr lang="en-US" sz="3750" dirty="0" err="1">
                <a:solidFill>
                  <a:srgbClr val="0D2841"/>
                </a:solidFill>
                <a:latin typeface="Calibri (MS)"/>
                <a:ea typeface="Calibri (MS)"/>
                <a:cs typeface="Calibri (MS)"/>
                <a:sym typeface="Calibri (MS)"/>
              </a:rPr>
              <a:t>Forvaltningsteam</a:t>
            </a:r>
            <a:endParaRPr lang="en-US" sz="3750" dirty="0">
              <a:solidFill>
                <a:srgbClr val="0D2841"/>
              </a:solidFill>
              <a:latin typeface="Calibri (MS)"/>
              <a:ea typeface="Calibri (MS)"/>
              <a:cs typeface="Calibri (MS)"/>
              <a:sym typeface="Calibri (MS)"/>
            </a:endParaRPr>
          </a:p>
        </p:txBody>
      </p:sp>
      <p:grpSp>
        <p:nvGrpSpPr>
          <p:cNvPr id="25605" name="Group 7">
            <a:extLst>
              <a:ext uri="{FF2B5EF4-FFF2-40B4-BE49-F238E27FC236}">
                <a16:creationId xmlns:a16="http://schemas.microsoft.com/office/drawing/2014/main" id="{041E0C45-9580-7FFE-51AD-91DDE251CCA5}"/>
              </a:ext>
            </a:extLst>
          </p:cNvPr>
          <p:cNvGrpSpPr>
            <a:grpSpLocks noChangeAspect="1"/>
          </p:cNvGrpSpPr>
          <p:nvPr/>
        </p:nvGrpSpPr>
        <p:grpSpPr bwMode="auto">
          <a:xfrm>
            <a:off x="3511550" y="1936750"/>
            <a:ext cx="10647363" cy="7100888"/>
            <a:chOff x="0" y="0"/>
            <a:chExt cx="14195298" cy="9468104"/>
          </a:xfrm>
        </p:grpSpPr>
        <p:sp>
          <p:nvSpPr>
            <p:cNvPr id="25606" name="Freeform 8" descr="Et bilde som inneholder klær, person, sko, mann  Automatisk generert beskrivelse">
              <a:extLst>
                <a:ext uri="{FF2B5EF4-FFF2-40B4-BE49-F238E27FC236}">
                  <a16:creationId xmlns:a16="http://schemas.microsoft.com/office/drawing/2014/main" id="{F4EB6169-DA52-245F-BA7B-42F84DC97D0D}"/>
                </a:ext>
              </a:extLst>
            </p:cNvPr>
            <p:cNvSpPr>
              <a:spLocks/>
            </p:cNvSpPr>
            <p:nvPr/>
          </p:nvSpPr>
          <p:spPr bwMode="auto">
            <a:xfrm>
              <a:off x="0" y="0"/>
              <a:ext cx="14195298" cy="9468104"/>
            </a:xfrm>
            <a:custGeom>
              <a:avLst/>
              <a:gdLst>
                <a:gd name="T0" fmla="*/ 0 w 14195298"/>
                <a:gd name="T1" fmla="*/ 0 h 9468104"/>
                <a:gd name="T2" fmla="*/ 14195298 w 14195298"/>
                <a:gd name="T3" fmla="*/ 0 h 9468104"/>
                <a:gd name="T4" fmla="*/ 14195298 w 14195298"/>
                <a:gd name="T5" fmla="*/ 9468104 h 9468104"/>
                <a:gd name="T6" fmla="*/ 0 w 14195298"/>
                <a:gd name="T7" fmla="*/ 9468104 h 9468104"/>
                <a:gd name="T8" fmla="*/ 0 w 14195298"/>
                <a:gd name="T9" fmla="*/ 0 h 946810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195298" h="9468104">
                  <a:moveTo>
                    <a:pt x="0" y="0"/>
                  </a:moveTo>
                  <a:lnTo>
                    <a:pt x="14195298" y="0"/>
                  </a:lnTo>
                  <a:lnTo>
                    <a:pt x="14195298" y="9468104"/>
                  </a:lnTo>
                  <a:lnTo>
                    <a:pt x="0" y="9468104"/>
                  </a:lnTo>
                  <a:lnTo>
                    <a:pt x="0" y="0"/>
                  </a:lnTo>
                  <a:close/>
                </a:path>
              </a:pathLst>
            </a:cu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Bilde 2" descr="Et bilde som inneholder tekst, skjermbilde, Font, nummer&#10;&#10;KI-generert innhold kan være feil.">
            <a:extLst>
              <a:ext uri="{FF2B5EF4-FFF2-40B4-BE49-F238E27FC236}">
                <a16:creationId xmlns:a16="http://schemas.microsoft.com/office/drawing/2014/main" id="{87965587-27A4-7C82-E0BF-1F3900771A17}"/>
              </a:ext>
            </a:extLst>
          </p:cNvPr>
          <p:cNvPicPr>
            <a:picLocks noChangeAspect="1"/>
          </p:cNvPicPr>
          <p:nvPr/>
        </p:nvPicPr>
        <p:blipFill>
          <a:blip r:embed="rId2"/>
          <a:stretch>
            <a:fillRect/>
          </a:stretch>
        </p:blipFill>
        <p:spPr>
          <a:xfrm>
            <a:off x="-33857" y="-22098"/>
            <a:ext cx="18321857" cy="10309098"/>
          </a:xfrm>
          <a:prstGeom prst="rect">
            <a:avLst/>
          </a:prstGeom>
        </p:spPr>
      </p:pic>
      <p:pic>
        <p:nvPicPr>
          <p:cNvPr id="7" name="Bilde 6">
            <a:extLst>
              <a:ext uri="{FF2B5EF4-FFF2-40B4-BE49-F238E27FC236}">
                <a16:creationId xmlns:a16="http://schemas.microsoft.com/office/drawing/2014/main" id="{8850C44F-6BF5-7ABC-A613-99B7DA0C0ECE}"/>
              </a:ext>
            </a:extLst>
          </p:cNvPr>
          <p:cNvPicPr>
            <a:picLocks noChangeAspect="1"/>
          </p:cNvPicPr>
          <p:nvPr/>
        </p:nvPicPr>
        <p:blipFill>
          <a:blip r:embed="rId3"/>
          <a:stretch>
            <a:fillRect/>
          </a:stretch>
        </p:blipFill>
        <p:spPr>
          <a:xfrm>
            <a:off x="17526000" y="9715500"/>
            <a:ext cx="571580" cy="314369"/>
          </a:xfrm>
          <a:prstGeom prst="rect">
            <a:avLst/>
          </a:prstGeom>
        </p:spPr>
      </p:pic>
    </p:spTree>
    <p:extLst>
      <p:ext uri="{BB962C8B-B14F-4D97-AF65-F5344CB8AC3E}">
        <p14:creationId xmlns:p14="http://schemas.microsoft.com/office/powerpoint/2010/main" val="22904119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650" name="Group 2">
            <a:extLst>
              <a:ext uri="{FF2B5EF4-FFF2-40B4-BE49-F238E27FC236}">
                <a16:creationId xmlns:a16="http://schemas.microsoft.com/office/drawing/2014/main" id="{5DB8C92D-DD4B-2AFA-B1BE-888974AEFC77}"/>
              </a:ext>
            </a:extLst>
          </p:cNvPr>
          <p:cNvGrpSpPr>
            <a:grpSpLocks/>
          </p:cNvGrpSpPr>
          <p:nvPr/>
        </p:nvGrpSpPr>
        <p:grpSpPr bwMode="auto">
          <a:xfrm>
            <a:off x="0" y="0"/>
            <a:ext cx="18288000" cy="10287000"/>
            <a:chOff x="0" y="0"/>
            <a:chExt cx="24384000" cy="13716000"/>
          </a:xfrm>
        </p:grpSpPr>
        <p:sp>
          <p:nvSpPr>
            <p:cNvPr id="27655" name="Freeform 3">
              <a:extLst>
                <a:ext uri="{FF2B5EF4-FFF2-40B4-BE49-F238E27FC236}">
                  <a16:creationId xmlns:a16="http://schemas.microsoft.com/office/drawing/2014/main" id="{B2D96485-2F7E-5451-CF2D-A558A4BC7855}"/>
                </a:ext>
              </a:extLst>
            </p:cNvPr>
            <p:cNvSpPr>
              <a:spLocks/>
            </p:cNvSpPr>
            <p:nvPr/>
          </p:nvSpPr>
          <p:spPr bwMode="auto">
            <a:xfrm>
              <a:off x="0" y="0"/>
              <a:ext cx="24384000" cy="13716000"/>
            </a:xfrm>
            <a:custGeom>
              <a:avLst/>
              <a:gdLst>
                <a:gd name="T0" fmla="*/ 24384000 w 24384000"/>
                <a:gd name="T1" fmla="*/ 0 h 13716000"/>
                <a:gd name="T2" fmla="*/ 0 w 24384000"/>
                <a:gd name="T3" fmla="*/ 0 h 13716000"/>
                <a:gd name="T4" fmla="*/ 0 w 24384000"/>
                <a:gd name="T5" fmla="*/ 13716000 h 13716000"/>
                <a:gd name="T6" fmla="*/ 24384000 w 24384000"/>
                <a:gd name="T7" fmla="*/ 13716000 h 13716000"/>
                <a:gd name="T8" fmla="*/ 24384000 w 24384000"/>
                <a:gd name="T9" fmla="*/ 0 h 13716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384000" h="13716000">
                  <a:moveTo>
                    <a:pt x="24384000" y="0"/>
                  </a:moveTo>
                  <a:lnTo>
                    <a:pt x="0" y="0"/>
                  </a:lnTo>
                  <a:lnTo>
                    <a:pt x="0" y="13716000"/>
                  </a:lnTo>
                  <a:lnTo>
                    <a:pt x="24384000" y="13716000"/>
                  </a:lnTo>
                  <a:lnTo>
                    <a:pt x="24384000" y="0"/>
                  </a:lnTo>
                  <a:close/>
                </a:path>
              </a:pathLst>
            </a:custGeom>
            <a:solidFill>
              <a:srgbClr val="F5F5F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27651" name="Group 4">
            <a:extLst>
              <a:ext uri="{FF2B5EF4-FFF2-40B4-BE49-F238E27FC236}">
                <a16:creationId xmlns:a16="http://schemas.microsoft.com/office/drawing/2014/main" id="{6DEBB77B-FA86-5AE5-7FD8-FC314F29B900}"/>
              </a:ext>
            </a:extLst>
          </p:cNvPr>
          <p:cNvGrpSpPr>
            <a:grpSpLocks noChangeAspect="1"/>
          </p:cNvGrpSpPr>
          <p:nvPr/>
        </p:nvGrpSpPr>
        <p:grpSpPr bwMode="auto">
          <a:xfrm>
            <a:off x="15805150" y="9525"/>
            <a:ext cx="2476500" cy="1531938"/>
            <a:chOff x="0" y="0"/>
            <a:chExt cx="3300476" cy="2043150"/>
          </a:xfrm>
        </p:grpSpPr>
        <p:sp>
          <p:nvSpPr>
            <p:cNvPr id="27654" name="Freeform 5">
              <a:extLst>
                <a:ext uri="{FF2B5EF4-FFF2-40B4-BE49-F238E27FC236}">
                  <a16:creationId xmlns:a16="http://schemas.microsoft.com/office/drawing/2014/main" id="{6535804E-8899-E26B-7BBA-446784AD94C5}"/>
                </a:ext>
              </a:extLst>
            </p:cNvPr>
            <p:cNvSpPr>
              <a:spLocks/>
            </p:cNvSpPr>
            <p:nvPr/>
          </p:nvSpPr>
          <p:spPr bwMode="auto">
            <a:xfrm>
              <a:off x="0" y="0"/>
              <a:ext cx="3300476" cy="2043176"/>
            </a:xfrm>
            <a:custGeom>
              <a:avLst/>
              <a:gdLst>
                <a:gd name="T0" fmla="*/ 0 w 3300476"/>
                <a:gd name="T1" fmla="*/ 0 h 2043176"/>
                <a:gd name="T2" fmla="*/ 3300476 w 3300476"/>
                <a:gd name="T3" fmla="*/ 0 h 2043176"/>
                <a:gd name="T4" fmla="*/ 3300476 w 3300476"/>
                <a:gd name="T5" fmla="*/ 2043176 h 2043176"/>
                <a:gd name="T6" fmla="*/ 0 w 3300476"/>
                <a:gd name="T7" fmla="*/ 2043176 h 2043176"/>
                <a:gd name="T8" fmla="*/ 0 w 3300476"/>
                <a:gd name="T9" fmla="*/ 0 h 204317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300476" h="2043176">
                  <a:moveTo>
                    <a:pt x="0" y="0"/>
                  </a:moveTo>
                  <a:lnTo>
                    <a:pt x="3300476" y="0"/>
                  </a:lnTo>
                  <a:lnTo>
                    <a:pt x="3300476" y="2043176"/>
                  </a:lnTo>
                  <a:lnTo>
                    <a:pt x="0" y="2043176"/>
                  </a:lnTo>
                  <a:lnTo>
                    <a:pt x="0" y="0"/>
                  </a:lnTo>
                  <a:close/>
                </a:path>
              </a:pathLst>
            </a:cu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7" name="TextBox 7" descr="$PPTXTitle">
            <a:extLst>
              <a:ext uri="{FF2B5EF4-FFF2-40B4-BE49-F238E27FC236}">
                <a16:creationId xmlns:a16="http://schemas.microsoft.com/office/drawing/2014/main" id="{BD276745-D1A5-0FE0-E852-E04CD88CB190}"/>
              </a:ext>
            </a:extLst>
          </p:cNvPr>
          <p:cNvSpPr txBox="1"/>
          <p:nvPr/>
        </p:nvSpPr>
        <p:spPr>
          <a:xfrm>
            <a:off x="3086100" y="2746375"/>
            <a:ext cx="8712200" cy="627063"/>
          </a:xfrm>
          <a:prstGeom prst="rect">
            <a:avLst/>
          </a:prstGeom>
        </p:spPr>
        <p:txBody>
          <a:bodyPr lIns="0" tIns="0" rIns="0" bIns="0">
            <a:spAutoFit/>
          </a:bodyPr>
          <a:lstStyle/>
          <a:p>
            <a:pPr eaLnBrk="1" fontAlgn="auto" hangingPunct="1">
              <a:lnSpc>
                <a:spcPts val="4320"/>
              </a:lnSpc>
              <a:spcBef>
                <a:spcPts val="0"/>
              </a:spcBef>
              <a:spcAft>
                <a:spcPts val="0"/>
              </a:spcAft>
              <a:defRPr/>
            </a:pPr>
            <a:r>
              <a:rPr lang="en-US" sz="3600" spc="-105">
                <a:solidFill>
                  <a:srgbClr val="404040"/>
                </a:solidFill>
                <a:latin typeface="Calibri (MS)"/>
                <a:ea typeface="Calibri (MS)"/>
                <a:cs typeface="Calibri (MS)"/>
                <a:sym typeface="Calibri (MS)"/>
              </a:rPr>
              <a:t>Kommunikasjon og rapportering</a:t>
            </a:r>
          </a:p>
        </p:txBody>
      </p:sp>
      <p:sp>
        <p:nvSpPr>
          <p:cNvPr id="8" name="Freeform 8">
            <a:extLst>
              <a:ext uri="{FF2B5EF4-FFF2-40B4-BE49-F238E27FC236}">
                <a16:creationId xmlns:a16="http://schemas.microsoft.com/office/drawing/2014/main" id="{DD29BFE4-D3C3-8C00-E2FD-27626C960302}"/>
              </a:ext>
            </a:extLst>
          </p:cNvPr>
          <p:cNvSpPr/>
          <p:nvPr/>
        </p:nvSpPr>
        <p:spPr>
          <a:xfrm>
            <a:off x="1646238" y="2597150"/>
            <a:ext cx="1087437" cy="1071563"/>
          </a:xfrm>
          <a:custGeom>
            <a:avLst/>
            <a:gdLst/>
            <a:ahLst/>
            <a:cxnLst/>
            <a:rect l="l" t="t" r="r" b="b"/>
            <a:pathLst>
              <a:path w="1087754" h="1071561">
                <a:moveTo>
                  <a:pt x="0" y="0"/>
                </a:moveTo>
                <a:lnTo>
                  <a:pt x="1087754" y="0"/>
                </a:lnTo>
                <a:lnTo>
                  <a:pt x="1087754" y="1071561"/>
                </a:lnTo>
                <a:lnTo>
                  <a:pt x="0" y="1071561"/>
                </a:lnTo>
                <a:lnTo>
                  <a:pt x="0" y="0"/>
                </a:lnTo>
                <a:close/>
              </a:path>
            </a:pathLst>
          </a:custGeom>
          <a:blipFill>
            <a:blip r:embed="rId3"/>
            <a:stretch>
              <a:fillRect/>
            </a:stretch>
          </a:blipFill>
        </p:spPr>
        <p:txBody>
          <a:bodyPr/>
          <a:lstStyle/>
          <a:p>
            <a:pPr eaLnBrk="1" fontAlgn="auto" hangingPunct="1">
              <a:spcBef>
                <a:spcPts val="0"/>
              </a:spcBef>
              <a:spcAft>
                <a:spcPts val="0"/>
              </a:spcAft>
              <a:defRPr/>
            </a:pPr>
            <a:endParaRPr lang="nb-NO">
              <a:latin typeface="+mn-l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674" name="Group 2">
            <a:extLst>
              <a:ext uri="{FF2B5EF4-FFF2-40B4-BE49-F238E27FC236}">
                <a16:creationId xmlns:a16="http://schemas.microsoft.com/office/drawing/2014/main" id="{64884EBC-CBA1-6A83-B376-E6A149E53785}"/>
              </a:ext>
            </a:extLst>
          </p:cNvPr>
          <p:cNvGrpSpPr>
            <a:grpSpLocks/>
          </p:cNvGrpSpPr>
          <p:nvPr/>
        </p:nvGrpSpPr>
        <p:grpSpPr bwMode="auto">
          <a:xfrm>
            <a:off x="0" y="0"/>
            <a:ext cx="18288000" cy="10287000"/>
            <a:chOff x="0" y="0"/>
            <a:chExt cx="24384000" cy="13716000"/>
          </a:xfrm>
        </p:grpSpPr>
        <p:sp>
          <p:nvSpPr>
            <p:cNvPr id="28697" name="Freeform 3">
              <a:extLst>
                <a:ext uri="{FF2B5EF4-FFF2-40B4-BE49-F238E27FC236}">
                  <a16:creationId xmlns:a16="http://schemas.microsoft.com/office/drawing/2014/main" id="{921477A4-76BC-E1DC-CEBB-9B3B773445E9}"/>
                </a:ext>
              </a:extLst>
            </p:cNvPr>
            <p:cNvSpPr>
              <a:spLocks/>
            </p:cNvSpPr>
            <p:nvPr/>
          </p:nvSpPr>
          <p:spPr bwMode="auto">
            <a:xfrm>
              <a:off x="0" y="0"/>
              <a:ext cx="24384000" cy="13716000"/>
            </a:xfrm>
            <a:custGeom>
              <a:avLst/>
              <a:gdLst>
                <a:gd name="T0" fmla="*/ 24384000 w 24384000"/>
                <a:gd name="T1" fmla="*/ 0 h 13716000"/>
                <a:gd name="T2" fmla="*/ 0 w 24384000"/>
                <a:gd name="T3" fmla="*/ 0 h 13716000"/>
                <a:gd name="T4" fmla="*/ 0 w 24384000"/>
                <a:gd name="T5" fmla="*/ 13716000 h 13716000"/>
                <a:gd name="T6" fmla="*/ 24384000 w 24384000"/>
                <a:gd name="T7" fmla="*/ 13716000 h 13716000"/>
                <a:gd name="T8" fmla="*/ 24384000 w 24384000"/>
                <a:gd name="T9" fmla="*/ 0 h 13716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384000" h="13716000">
                  <a:moveTo>
                    <a:pt x="24384000" y="0"/>
                  </a:moveTo>
                  <a:lnTo>
                    <a:pt x="0" y="0"/>
                  </a:lnTo>
                  <a:lnTo>
                    <a:pt x="0" y="13716000"/>
                  </a:lnTo>
                  <a:lnTo>
                    <a:pt x="24384000" y="13716000"/>
                  </a:lnTo>
                  <a:lnTo>
                    <a:pt x="24384000" y="0"/>
                  </a:lnTo>
                  <a:close/>
                </a:path>
              </a:pathLst>
            </a:custGeom>
            <a:solidFill>
              <a:srgbClr val="F5F5F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28675" name="Group 4">
            <a:extLst>
              <a:ext uri="{FF2B5EF4-FFF2-40B4-BE49-F238E27FC236}">
                <a16:creationId xmlns:a16="http://schemas.microsoft.com/office/drawing/2014/main" id="{FAC1F1D8-F555-F4F9-5156-A2CEF5B3C11D}"/>
              </a:ext>
            </a:extLst>
          </p:cNvPr>
          <p:cNvGrpSpPr>
            <a:grpSpLocks noChangeAspect="1"/>
          </p:cNvGrpSpPr>
          <p:nvPr/>
        </p:nvGrpSpPr>
        <p:grpSpPr bwMode="auto">
          <a:xfrm>
            <a:off x="15805150" y="9525"/>
            <a:ext cx="2476500" cy="1531938"/>
            <a:chOff x="0" y="0"/>
            <a:chExt cx="3300476" cy="2043150"/>
          </a:xfrm>
        </p:grpSpPr>
        <p:sp>
          <p:nvSpPr>
            <p:cNvPr id="28696" name="Freeform 5">
              <a:extLst>
                <a:ext uri="{FF2B5EF4-FFF2-40B4-BE49-F238E27FC236}">
                  <a16:creationId xmlns:a16="http://schemas.microsoft.com/office/drawing/2014/main" id="{D0AB94C0-3F3C-32FA-43FD-C50DD8D4AD63}"/>
                </a:ext>
              </a:extLst>
            </p:cNvPr>
            <p:cNvSpPr>
              <a:spLocks/>
            </p:cNvSpPr>
            <p:nvPr/>
          </p:nvSpPr>
          <p:spPr bwMode="auto">
            <a:xfrm>
              <a:off x="0" y="0"/>
              <a:ext cx="3300476" cy="2043176"/>
            </a:xfrm>
            <a:custGeom>
              <a:avLst/>
              <a:gdLst>
                <a:gd name="T0" fmla="*/ 0 w 3300476"/>
                <a:gd name="T1" fmla="*/ 0 h 2043176"/>
                <a:gd name="T2" fmla="*/ 3300476 w 3300476"/>
                <a:gd name="T3" fmla="*/ 0 h 2043176"/>
                <a:gd name="T4" fmla="*/ 3300476 w 3300476"/>
                <a:gd name="T5" fmla="*/ 2043176 h 2043176"/>
                <a:gd name="T6" fmla="*/ 0 w 3300476"/>
                <a:gd name="T7" fmla="*/ 2043176 h 2043176"/>
                <a:gd name="T8" fmla="*/ 0 w 3300476"/>
                <a:gd name="T9" fmla="*/ 0 h 204317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300476" h="2043176">
                  <a:moveTo>
                    <a:pt x="0" y="0"/>
                  </a:moveTo>
                  <a:lnTo>
                    <a:pt x="3300476" y="0"/>
                  </a:lnTo>
                  <a:lnTo>
                    <a:pt x="3300476" y="2043176"/>
                  </a:lnTo>
                  <a:lnTo>
                    <a:pt x="0" y="2043176"/>
                  </a:lnTo>
                  <a:lnTo>
                    <a:pt x="0" y="0"/>
                  </a:lnTo>
                  <a:close/>
                </a:path>
              </a:pathLst>
            </a:cu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28676" name="Group 6">
            <a:extLst>
              <a:ext uri="{FF2B5EF4-FFF2-40B4-BE49-F238E27FC236}">
                <a16:creationId xmlns:a16="http://schemas.microsoft.com/office/drawing/2014/main" id="{CF0E97E5-28ED-D242-6C3F-6805F4C5CF11}"/>
              </a:ext>
            </a:extLst>
          </p:cNvPr>
          <p:cNvGrpSpPr>
            <a:grpSpLocks noChangeAspect="1"/>
          </p:cNvGrpSpPr>
          <p:nvPr/>
        </p:nvGrpSpPr>
        <p:grpSpPr bwMode="auto">
          <a:xfrm>
            <a:off x="11544300" y="1616075"/>
            <a:ext cx="6167438" cy="3089275"/>
            <a:chOff x="0" y="0"/>
            <a:chExt cx="8223758" cy="4118610"/>
          </a:xfrm>
        </p:grpSpPr>
        <p:sp>
          <p:nvSpPr>
            <p:cNvPr id="28695" name="Freeform 7">
              <a:extLst>
                <a:ext uri="{FF2B5EF4-FFF2-40B4-BE49-F238E27FC236}">
                  <a16:creationId xmlns:a16="http://schemas.microsoft.com/office/drawing/2014/main" id="{06063CA8-FF0A-617E-E844-B0903AF04DC9}"/>
                </a:ext>
              </a:extLst>
            </p:cNvPr>
            <p:cNvSpPr>
              <a:spLocks/>
            </p:cNvSpPr>
            <p:nvPr/>
          </p:nvSpPr>
          <p:spPr bwMode="auto">
            <a:xfrm>
              <a:off x="0" y="0"/>
              <a:ext cx="8223758" cy="4118610"/>
            </a:xfrm>
            <a:custGeom>
              <a:avLst/>
              <a:gdLst>
                <a:gd name="T0" fmla="*/ 0 w 8223758"/>
                <a:gd name="T1" fmla="*/ 0 h 4118610"/>
                <a:gd name="T2" fmla="*/ 8223758 w 8223758"/>
                <a:gd name="T3" fmla="*/ 0 h 4118610"/>
                <a:gd name="T4" fmla="*/ 8223758 w 8223758"/>
                <a:gd name="T5" fmla="*/ 4118610 h 4118610"/>
                <a:gd name="T6" fmla="*/ 0 w 8223758"/>
                <a:gd name="T7" fmla="*/ 4118610 h 4118610"/>
                <a:gd name="T8" fmla="*/ 0 w 8223758"/>
                <a:gd name="T9" fmla="*/ 0 h 41186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223758" h="4118610">
                  <a:moveTo>
                    <a:pt x="0" y="0"/>
                  </a:moveTo>
                  <a:lnTo>
                    <a:pt x="8223758" y="0"/>
                  </a:lnTo>
                  <a:lnTo>
                    <a:pt x="8223758" y="4118610"/>
                  </a:lnTo>
                  <a:lnTo>
                    <a:pt x="0" y="4118610"/>
                  </a:lnTo>
                  <a:lnTo>
                    <a:pt x="0" y="0"/>
                  </a:lnTo>
                  <a:close/>
                </a:path>
              </a:pathLst>
            </a:cu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9" name="TextBox 9" descr="$PPTXTitle">
            <a:extLst>
              <a:ext uri="{FF2B5EF4-FFF2-40B4-BE49-F238E27FC236}">
                <a16:creationId xmlns:a16="http://schemas.microsoft.com/office/drawing/2014/main" id="{CAEBE462-5806-2BA5-D3AB-8A53999493C4}"/>
              </a:ext>
            </a:extLst>
          </p:cNvPr>
          <p:cNvSpPr txBox="1"/>
          <p:nvPr/>
        </p:nvSpPr>
        <p:spPr>
          <a:xfrm>
            <a:off x="1001713" y="587375"/>
            <a:ext cx="9915525" cy="700088"/>
          </a:xfrm>
          <a:prstGeom prst="rect">
            <a:avLst/>
          </a:prstGeom>
        </p:spPr>
        <p:txBody>
          <a:bodyPr lIns="0" tIns="0" rIns="0" bIns="0">
            <a:spAutoFit/>
          </a:bodyPr>
          <a:lstStyle/>
          <a:p>
            <a:pPr eaLnBrk="1" fontAlgn="auto" hangingPunct="1">
              <a:lnSpc>
                <a:spcPts val="4500"/>
              </a:lnSpc>
              <a:spcBef>
                <a:spcPts val="0"/>
              </a:spcBef>
              <a:spcAft>
                <a:spcPts val="0"/>
              </a:spcAft>
              <a:defRPr/>
            </a:pPr>
            <a:r>
              <a:rPr lang="en-US" sz="3750" spc="262">
                <a:solidFill>
                  <a:srgbClr val="0D2841"/>
                </a:solidFill>
                <a:latin typeface="Calibri (MS)"/>
                <a:ea typeface="Calibri (MS)"/>
                <a:cs typeface="Calibri (MS)"/>
                <a:sym typeface="Calibri (MS)"/>
              </a:rPr>
              <a:t>Kommunikasjon &amp; løpende oppdateringer</a:t>
            </a:r>
          </a:p>
        </p:txBody>
      </p:sp>
      <p:grpSp>
        <p:nvGrpSpPr>
          <p:cNvPr id="28678" name="Group 10">
            <a:extLst>
              <a:ext uri="{FF2B5EF4-FFF2-40B4-BE49-F238E27FC236}">
                <a16:creationId xmlns:a16="http://schemas.microsoft.com/office/drawing/2014/main" id="{88C650FD-7645-2DB1-4ABF-343A1E3D9FBE}"/>
              </a:ext>
            </a:extLst>
          </p:cNvPr>
          <p:cNvGrpSpPr>
            <a:grpSpLocks noChangeAspect="1"/>
          </p:cNvGrpSpPr>
          <p:nvPr/>
        </p:nvGrpSpPr>
        <p:grpSpPr bwMode="auto">
          <a:xfrm>
            <a:off x="461963" y="1614488"/>
            <a:ext cx="4554537" cy="3090862"/>
            <a:chOff x="0" y="0"/>
            <a:chExt cx="6071616" cy="4120896"/>
          </a:xfrm>
        </p:grpSpPr>
        <p:sp>
          <p:nvSpPr>
            <p:cNvPr id="28694" name="Freeform 11">
              <a:extLst>
                <a:ext uri="{FF2B5EF4-FFF2-40B4-BE49-F238E27FC236}">
                  <a16:creationId xmlns:a16="http://schemas.microsoft.com/office/drawing/2014/main" id="{8239C482-507C-9726-BDEC-954A130B30D3}"/>
                </a:ext>
              </a:extLst>
            </p:cNvPr>
            <p:cNvSpPr>
              <a:spLocks/>
            </p:cNvSpPr>
            <p:nvPr/>
          </p:nvSpPr>
          <p:spPr bwMode="auto">
            <a:xfrm>
              <a:off x="0" y="0"/>
              <a:ext cx="6071616" cy="4120896"/>
            </a:xfrm>
            <a:custGeom>
              <a:avLst/>
              <a:gdLst>
                <a:gd name="T0" fmla="*/ 0 w 6071616"/>
                <a:gd name="T1" fmla="*/ 0 h 4120896"/>
                <a:gd name="T2" fmla="*/ 6071616 w 6071616"/>
                <a:gd name="T3" fmla="*/ 0 h 4120896"/>
                <a:gd name="T4" fmla="*/ 6071616 w 6071616"/>
                <a:gd name="T5" fmla="*/ 4120896 h 4120896"/>
                <a:gd name="T6" fmla="*/ 0 w 6071616"/>
                <a:gd name="T7" fmla="*/ 4120896 h 4120896"/>
                <a:gd name="T8" fmla="*/ 0 w 6071616"/>
                <a:gd name="T9" fmla="*/ 0 h 412089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71616" h="4120896">
                  <a:moveTo>
                    <a:pt x="0" y="0"/>
                  </a:moveTo>
                  <a:lnTo>
                    <a:pt x="6071616" y="0"/>
                  </a:lnTo>
                  <a:lnTo>
                    <a:pt x="6071616" y="4120896"/>
                  </a:lnTo>
                  <a:lnTo>
                    <a:pt x="0" y="4120896"/>
                  </a:lnTo>
                  <a:lnTo>
                    <a:pt x="0" y="0"/>
                  </a:lnTo>
                  <a:close/>
                </a:path>
              </a:pathLst>
            </a:cu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28679" name="Group 12">
            <a:extLst>
              <a:ext uri="{FF2B5EF4-FFF2-40B4-BE49-F238E27FC236}">
                <a16:creationId xmlns:a16="http://schemas.microsoft.com/office/drawing/2014/main" id="{87BE04CE-2174-7F0E-C69F-6A490BFC8BAF}"/>
              </a:ext>
            </a:extLst>
          </p:cNvPr>
          <p:cNvGrpSpPr>
            <a:grpSpLocks noChangeAspect="1"/>
          </p:cNvGrpSpPr>
          <p:nvPr/>
        </p:nvGrpSpPr>
        <p:grpSpPr bwMode="auto">
          <a:xfrm>
            <a:off x="6108700" y="1614488"/>
            <a:ext cx="4662488" cy="3090862"/>
            <a:chOff x="0" y="0"/>
            <a:chExt cx="6216394" cy="4120896"/>
          </a:xfrm>
        </p:grpSpPr>
        <p:sp>
          <p:nvSpPr>
            <p:cNvPr id="28693" name="Freeform 13">
              <a:extLst>
                <a:ext uri="{FF2B5EF4-FFF2-40B4-BE49-F238E27FC236}">
                  <a16:creationId xmlns:a16="http://schemas.microsoft.com/office/drawing/2014/main" id="{63845471-FD9A-04A3-382A-DB16E2F99DE8}"/>
                </a:ext>
              </a:extLst>
            </p:cNvPr>
            <p:cNvSpPr>
              <a:spLocks/>
            </p:cNvSpPr>
            <p:nvPr/>
          </p:nvSpPr>
          <p:spPr bwMode="auto">
            <a:xfrm>
              <a:off x="0" y="0"/>
              <a:ext cx="6216396" cy="4120896"/>
            </a:xfrm>
            <a:custGeom>
              <a:avLst/>
              <a:gdLst>
                <a:gd name="T0" fmla="*/ 0 w 6216396"/>
                <a:gd name="T1" fmla="*/ 0 h 4120896"/>
                <a:gd name="T2" fmla="*/ 6216396 w 6216396"/>
                <a:gd name="T3" fmla="*/ 0 h 4120896"/>
                <a:gd name="T4" fmla="*/ 6216396 w 6216396"/>
                <a:gd name="T5" fmla="*/ 4120896 h 4120896"/>
                <a:gd name="T6" fmla="*/ 0 w 6216396"/>
                <a:gd name="T7" fmla="*/ 4120896 h 4120896"/>
                <a:gd name="T8" fmla="*/ 0 w 6216396"/>
                <a:gd name="T9" fmla="*/ 0 h 412089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16396" h="4120896">
                  <a:moveTo>
                    <a:pt x="0" y="0"/>
                  </a:moveTo>
                  <a:lnTo>
                    <a:pt x="6216396" y="0"/>
                  </a:lnTo>
                  <a:lnTo>
                    <a:pt x="6216396" y="4120896"/>
                  </a:lnTo>
                  <a:lnTo>
                    <a:pt x="0" y="4120896"/>
                  </a:lnTo>
                  <a:lnTo>
                    <a:pt x="0" y="0"/>
                  </a:lnTo>
                  <a:close/>
                </a:path>
              </a:pathLst>
            </a:cu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28680" name="Group 14">
            <a:extLst>
              <a:ext uri="{FF2B5EF4-FFF2-40B4-BE49-F238E27FC236}">
                <a16:creationId xmlns:a16="http://schemas.microsoft.com/office/drawing/2014/main" id="{77F412E7-E8E0-8FDC-7C9E-133FAAF9D472}"/>
              </a:ext>
            </a:extLst>
          </p:cNvPr>
          <p:cNvGrpSpPr>
            <a:grpSpLocks noChangeAspect="1"/>
          </p:cNvGrpSpPr>
          <p:nvPr/>
        </p:nvGrpSpPr>
        <p:grpSpPr bwMode="auto">
          <a:xfrm>
            <a:off x="461963" y="5581650"/>
            <a:ext cx="3540125" cy="3894138"/>
            <a:chOff x="0" y="0"/>
            <a:chExt cx="4718812" cy="4736084"/>
          </a:xfrm>
        </p:grpSpPr>
        <p:sp>
          <p:nvSpPr>
            <p:cNvPr id="28692" name="Freeform 15">
              <a:extLst>
                <a:ext uri="{FF2B5EF4-FFF2-40B4-BE49-F238E27FC236}">
                  <a16:creationId xmlns:a16="http://schemas.microsoft.com/office/drawing/2014/main" id="{6653491A-D676-1456-ECAB-9582A6CEF982}"/>
                </a:ext>
              </a:extLst>
            </p:cNvPr>
            <p:cNvSpPr>
              <a:spLocks/>
            </p:cNvSpPr>
            <p:nvPr/>
          </p:nvSpPr>
          <p:spPr bwMode="auto">
            <a:xfrm>
              <a:off x="0" y="0"/>
              <a:ext cx="4718812" cy="4736084"/>
            </a:xfrm>
            <a:custGeom>
              <a:avLst/>
              <a:gdLst>
                <a:gd name="T0" fmla="*/ 0 w 4718812"/>
                <a:gd name="T1" fmla="*/ 0 h 4736084"/>
                <a:gd name="T2" fmla="*/ 4718812 w 4718812"/>
                <a:gd name="T3" fmla="*/ 0 h 4736084"/>
                <a:gd name="T4" fmla="*/ 4718812 w 4718812"/>
                <a:gd name="T5" fmla="*/ 4736084 h 4736084"/>
                <a:gd name="T6" fmla="*/ 0 w 4718812"/>
                <a:gd name="T7" fmla="*/ 4736084 h 4736084"/>
                <a:gd name="T8" fmla="*/ 0 w 4718812"/>
                <a:gd name="T9" fmla="*/ 0 h 47360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718812" h="4736084">
                  <a:moveTo>
                    <a:pt x="0" y="0"/>
                  </a:moveTo>
                  <a:lnTo>
                    <a:pt x="4718812" y="0"/>
                  </a:lnTo>
                  <a:lnTo>
                    <a:pt x="4718812" y="4736084"/>
                  </a:lnTo>
                  <a:lnTo>
                    <a:pt x="0" y="4736084"/>
                  </a:lnTo>
                  <a:lnTo>
                    <a:pt x="0" y="0"/>
                  </a:lnTo>
                  <a:close/>
                </a:path>
              </a:pathLst>
            </a:custGeom>
            <a:blipFill dpi="0" rotWithShape="1">
              <a:blip r:embed="rId6"/>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28681" name="Group 16">
            <a:extLst>
              <a:ext uri="{FF2B5EF4-FFF2-40B4-BE49-F238E27FC236}">
                <a16:creationId xmlns:a16="http://schemas.microsoft.com/office/drawing/2014/main" id="{8B4DDC44-E276-2485-0FC0-281EAB437DB7}"/>
              </a:ext>
            </a:extLst>
          </p:cNvPr>
          <p:cNvGrpSpPr>
            <a:grpSpLocks noChangeAspect="1"/>
          </p:cNvGrpSpPr>
          <p:nvPr/>
        </p:nvGrpSpPr>
        <p:grpSpPr bwMode="auto">
          <a:xfrm>
            <a:off x="10614025" y="5581650"/>
            <a:ext cx="7108825" cy="3527425"/>
            <a:chOff x="0" y="0"/>
            <a:chExt cx="9479788" cy="4702302"/>
          </a:xfrm>
        </p:grpSpPr>
        <p:sp>
          <p:nvSpPr>
            <p:cNvPr id="28691" name="Freeform 17">
              <a:extLst>
                <a:ext uri="{FF2B5EF4-FFF2-40B4-BE49-F238E27FC236}">
                  <a16:creationId xmlns:a16="http://schemas.microsoft.com/office/drawing/2014/main" id="{01A913EA-4F36-11A5-DEE4-38117B3614E2}"/>
                </a:ext>
              </a:extLst>
            </p:cNvPr>
            <p:cNvSpPr>
              <a:spLocks/>
            </p:cNvSpPr>
            <p:nvPr/>
          </p:nvSpPr>
          <p:spPr bwMode="auto">
            <a:xfrm>
              <a:off x="0" y="0"/>
              <a:ext cx="9479788" cy="4702302"/>
            </a:xfrm>
            <a:custGeom>
              <a:avLst/>
              <a:gdLst>
                <a:gd name="T0" fmla="*/ 0 w 9479788"/>
                <a:gd name="T1" fmla="*/ 0 h 4702302"/>
                <a:gd name="T2" fmla="*/ 9479788 w 9479788"/>
                <a:gd name="T3" fmla="*/ 0 h 4702302"/>
                <a:gd name="T4" fmla="*/ 9479788 w 9479788"/>
                <a:gd name="T5" fmla="*/ 4702302 h 4702302"/>
                <a:gd name="T6" fmla="*/ 0 w 9479788"/>
                <a:gd name="T7" fmla="*/ 4702302 h 4702302"/>
                <a:gd name="T8" fmla="*/ 0 w 9479788"/>
                <a:gd name="T9" fmla="*/ 0 h 470230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479788" h="4702302">
                  <a:moveTo>
                    <a:pt x="0" y="0"/>
                  </a:moveTo>
                  <a:lnTo>
                    <a:pt x="9479788" y="0"/>
                  </a:lnTo>
                  <a:lnTo>
                    <a:pt x="9479788" y="4702302"/>
                  </a:lnTo>
                  <a:lnTo>
                    <a:pt x="0" y="4702302"/>
                  </a:lnTo>
                  <a:lnTo>
                    <a:pt x="0" y="0"/>
                  </a:lnTo>
                  <a:close/>
                </a:path>
              </a:pathLst>
            </a:custGeom>
            <a:blipFill dpi="0" rotWithShape="1">
              <a:blip r:embed="rId7"/>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28682" name="TextBox 18">
            <a:extLst>
              <a:ext uri="{FF2B5EF4-FFF2-40B4-BE49-F238E27FC236}">
                <a16:creationId xmlns:a16="http://schemas.microsoft.com/office/drawing/2014/main" id="{EAA1DE0D-EC71-AC85-5A76-2394ED11411D}"/>
              </a:ext>
            </a:extLst>
          </p:cNvPr>
          <p:cNvSpPr txBox="1">
            <a:spLocks noChangeArrowheads="1"/>
          </p:cNvSpPr>
          <p:nvPr/>
        </p:nvSpPr>
        <p:spPr bwMode="auto">
          <a:xfrm>
            <a:off x="13442950" y="8413750"/>
            <a:ext cx="2106613" cy="48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ts val="3600"/>
              </a:lnSpc>
              <a:spcBef>
                <a:spcPct val="0"/>
              </a:spcBef>
              <a:buFontTx/>
              <a:buNone/>
            </a:pPr>
            <a:r>
              <a:rPr lang="en-US" altLang="nb-NO" sz="3000">
                <a:solidFill>
                  <a:srgbClr val="F5F5F5"/>
                </a:solidFill>
                <a:latin typeface="Merriweather Sans" pitchFamily="2" charset="0"/>
                <a:cs typeface="Merriweather Sans" pitchFamily="2" charset="0"/>
                <a:sym typeface="Merriweather Sans" pitchFamily="2" charset="0"/>
              </a:rPr>
              <a:t>Pensum TV</a:t>
            </a:r>
          </a:p>
        </p:txBody>
      </p:sp>
      <p:sp>
        <p:nvSpPr>
          <p:cNvPr id="19" name="TextBox 19">
            <a:extLst>
              <a:ext uri="{FF2B5EF4-FFF2-40B4-BE49-F238E27FC236}">
                <a16:creationId xmlns:a16="http://schemas.microsoft.com/office/drawing/2014/main" id="{3BB03A4B-BE69-1EF0-63A0-29AE3283CD14}"/>
              </a:ext>
            </a:extLst>
          </p:cNvPr>
          <p:cNvSpPr txBox="1"/>
          <p:nvPr/>
        </p:nvSpPr>
        <p:spPr>
          <a:xfrm>
            <a:off x="12593638" y="4049713"/>
            <a:ext cx="3786187" cy="482600"/>
          </a:xfrm>
          <a:prstGeom prst="rect">
            <a:avLst/>
          </a:prstGeom>
        </p:spPr>
        <p:txBody>
          <a:bodyPr lIns="0" tIns="0" rIns="0" bIns="0">
            <a:spAutoFit/>
          </a:bodyPr>
          <a:lstStyle/>
          <a:p>
            <a:pPr eaLnBrk="1" fontAlgn="auto" hangingPunct="1">
              <a:lnSpc>
                <a:spcPts val="3600"/>
              </a:lnSpc>
              <a:spcBef>
                <a:spcPts val="0"/>
              </a:spcBef>
              <a:spcAft>
                <a:spcPts val="0"/>
              </a:spcAft>
              <a:defRPr/>
            </a:pPr>
            <a:r>
              <a:rPr lang="en-US" sz="3000" spc="-14">
                <a:solidFill>
                  <a:srgbClr val="F5F5F5"/>
                </a:solidFill>
                <a:latin typeface="Merriweather Sans"/>
                <a:ea typeface="Merriweather Sans"/>
                <a:cs typeface="Merriweather Sans"/>
                <a:sym typeface="Merriweather Sans"/>
              </a:rPr>
              <a:t>Pensum Konferanse</a:t>
            </a:r>
          </a:p>
        </p:txBody>
      </p:sp>
      <p:sp>
        <p:nvSpPr>
          <p:cNvPr id="28684" name="TextBox 20">
            <a:extLst>
              <a:ext uri="{FF2B5EF4-FFF2-40B4-BE49-F238E27FC236}">
                <a16:creationId xmlns:a16="http://schemas.microsoft.com/office/drawing/2014/main" id="{C50BD37A-F3CF-E9F4-EEB2-BAD86DBB3067}"/>
              </a:ext>
            </a:extLst>
          </p:cNvPr>
          <p:cNvSpPr txBox="1">
            <a:spLocks noChangeArrowheads="1"/>
          </p:cNvSpPr>
          <p:nvPr/>
        </p:nvSpPr>
        <p:spPr bwMode="auto">
          <a:xfrm>
            <a:off x="5143500" y="9166225"/>
            <a:ext cx="1893888"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ts val="2163"/>
              </a:lnSpc>
              <a:spcBef>
                <a:spcPct val="0"/>
              </a:spcBef>
              <a:buFontTx/>
              <a:buNone/>
            </a:pPr>
            <a:r>
              <a:rPr lang="en-US" altLang="nb-NO" sz="1800">
                <a:solidFill>
                  <a:srgbClr val="0D2841"/>
                </a:solidFill>
                <a:latin typeface="Merriweather Sans" pitchFamily="2" charset="0"/>
                <a:cs typeface="Merriweather Sans" pitchFamily="2" charset="0"/>
                <a:sym typeface="Merriweather Sans" pitchFamily="2" charset="0"/>
              </a:rPr>
              <a:t>Pensum i media</a:t>
            </a:r>
          </a:p>
        </p:txBody>
      </p:sp>
      <p:grpSp>
        <p:nvGrpSpPr>
          <p:cNvPr id="28685" name="Group 21">
            <a:extLst>
              <a:ext uri="{FF2B5EF4-FFF2-40B4-BE49-F238E27FC236}">
                <a16:creationId xmlns:a16="http://schemas.microsoft.com/office/drawing/2014/main" id="{BE5FBB4F-452C-9DED-0639-B9EBF6E4C9C9}"/>
              </a:ext>
            </a:extLst>
          </p:cNvPr>
          <p:cNvGrpSpPr>
            <a:grpSpLocks noChangeAspect="1"/>
          </p:cNvGrpSpPr>
          <p:nvPr/>
        </p:nvGrpSpPr>
        <p:grpSpPr bwMode="auto">
          <a:xfrm>
            <a:off x="7562850" y="5608638"/>
            <a:ext cx="2701925" cy="1531937"/>
            <a:chOff x="0" y="0"/>
            <a:chExt cx="3604004" cy="2042236"/>
          </a:xfrm>
        </p:grpSpPr>
        <p:sp>
          <p:nvSpPr>
            <p:cNvPr id="28690" name="Freeform 22">
              <a:extLst>
                <a:ext uri="{FF2B5EF4-FFF2-40B4-BE49-F238E27FC236}">
                  <a16:creationId xmlns:a16="http://schemas.microsoft.com/office/drawing/2014/main" id="{79991AD8-DCCA-DE62-AE04-31CD65A2FA92}"/>
                </a:ext>
              </a:extLst>
            </p:cNvPr>
            <p:cNvSpPr>
              <a:spLocks/>
            </p:cNvSpPr>
            <p:nvPr/>
          </p:nvSpPr>
          <p:spPr bwMode="auto">
            <a:xfrm>
              <a:off x="0" y="0"/>
              <a:ext cx="3604006" cy="2042287"/>
            </a:xfrm>
            <a:custGeom>
              <a:avLst/>
              <a:gdLst>
                <a:gd name="T0" fmla="*/ 0 w 3604006"/>
                <a:gd name="T1" fmla="*/ 0 h 2042287"/>
                <a:gd name="T2" fmla="*/ 3604006 w 3604006"/>
                <a:gd name="T3" fmla="*/ 0 h 2042287"/>
                <a:gd name="T4" fmla="*/ 3604006 w 3604006"/>
                <a:gd name="T5" fmla="*/ 2042287 h 2042287"/>
                <a:gd name="T6" fmla="*/ 0 w 3604006"/>
                <a:gd name="T7" fmla="*/ 2042287 h 2042287"/>
                <a:gd name="T8" fmla="*/ 0 w 3604006"/>
                <a:gd name="T9" fmla="*/ 0 h 204228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04006" h="2042287">
                  <a:moveTo>
                    <a:pt x="0" y="0"/>
                  </a:moveTo>
                  <a:lnTo>
                    <a:pt x="3604006" y="0"/>
                  </a:lnTo>
                  <a:lnTo>
                    <a:pt x="3604006" y="2042287"/>
                  </a:lnTo>
                  <a:lnTo>
                    <a:pt x="0" y="2042287"/>
                  </a:lnTo>
                  <a:lnTo>
                    <a:pt x="0" y="0"/>
                  </a:lnTo>
                  <a:close/>
                </a:path>
              </a:pathLst>
            </a:custGeom>
            <a:blipFill dpi="0" rotWithShape="1">
              <a:blip r:embed="rId8"/>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28686" name="Group 23">
            <a:extLst>
              <a:ext uri="{FF2B5EF4-FFF2-40B4-BE49-F238E27FC236}">
                <a16:creationId xmlns:a16="http://schemas.microsoft.com/office/drawing/2014/main" id="{727ACC6A-DA44-CAF3-DF3C-38F988A5E293}"/>
              </a:ext>
            </a:extLst>
          </p:cNvPr>
          <p:cNvGrpSpPr>
            <a:grpSpLocks noChangeAspect="1"/>
          </p:cNvGrpSpPr>
          <p:nvPr/>
        </p:nvGrpSpPr>
        <p:grpSpPr bwMode="auto">
          <a:xfrm>
            <a:off x="4356100" y="5581650"/>
            <a:ext cx="2906713" cy="3894138"/>
            <a:chOff x="0" y="0"/>
            <a:chExt cx="3874768" cy="4869180"/>
          </a:xfrm>
        </p:grpSpPr>
        <p:sp>
          <p:nvSpPr>
            <p:cNvPr id="28689" name="Freeform 24">
              <a:extLst>
                <a:ext uri="{FF2B5EF4-FFF2-40B4-BE49-F238E27FC236}">
                  <a16:creationId xmlns:a16="http://schemas.microsoft.com/office/drawing/2014/main" id="{A1887C2D-CE03-3F2C-B3AB-28B0EBEC867C}"/>
                </a:ext>
              </a:extLst>
            </p:cNvPr>
            <p:cNvSpPr>
              <a:spLocks/>
            </p:cNvSpPr>
            <p:nvPr/>
          </p:nvSpPr>
          <p:spPr bwMode="auto">
            <a:xfrm>
              <a:off x="0" y="0"/>
              <a:ext cx="3874770" cy="4869180"/>
            </a:xfrm>
            <a:custGeom>
              <a:avLst/>
              <a:gdLst>
                <a:gd name="T0" fmla="*/ 0 w 3874770"/>
                <a:gd name="T1" fmla="*/ 0 h 4869180"/>
                <a:gd name="T2" fmla="*/ 3874770 w 3874770"/>
                <a:gd name="T3" fmla="*/ 0 h 4869180"/>
                <a:gd name="T4" fmla="*/ 3874770 w 3874770"/>
                <a:gd name="T5" fmla="*/ 4869180 h 4869180"/>
                <a:gd name="T6" fmla="*/ 0 w 3874770"/>
                <a:gd name="T7" fmla="*/ 4869180 h 4869180"/>
                <a:gd name="T8" fmla="*/ 0 w 3874770"/>
                <a:gd name="T9" fmla="*/ 0 h 486918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74770" h="4869180">
                  <a:moveTo>
                    <a:pt x="0" y="0"/>
                  </a:moveTo>
                  <a:lnTo>
                    <a:pt x="3874770" y="0"/>
                  </a:lnTo>
                  <a:lnTo>
                    <a:pt x="3874770" y="4869180"/>
                  </a:lnTo>
                  <a:lnTo>
                    <a:pt x="0" y="4869180"/>
                  </a:lnTo>
                  <a:lnTo>
                    <a:pt x="0" y="0"/>
                  </a:lnTo>
                  <a:close/>
                </a:path>
              </a:pathLst>
            </a:custGeom>
            <a:blipFill dpi="0" rotWithShape="1">
              <a:blip r:embed="rId9"/>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28687" name="Group 25">
            <a:extLst>
              <a:ext uri="{FF2B5EF4-FFF2-40B4-BE49-F238E27FC236}">
                <a16:creationId xmlns:a16="http://schemas.microsoft.com/office/drawing/2014/main" id="{C47B59DB-0DFD-FE18-CB42-9A84371D4D55}"/>
              </a:ext>
            </a:extLst>
          </p:cNvPr>
          <p:cNvGrpSpPr>
            <a:grpSpLocks noChangeAspect="1"/>
          </p:cNvGrpSpPr>
          <p:nvPr/>
        </p:nvGrpSpPr>
        <p:grpSpPr bwMode="auto">
          <a:xfrm>
            <a:off x="7488238" y="7335838"/>
            <a:ext cx="2851150" cy="2139950"/>
            <a:chOff x="0" y="0"/>
            <a:chExt cx="3802632" cy="2518256"/>
          </a:xfrm>
        </p:grpSpPr>
        <p:sp>
          <p:nvSpPr>
            <p:cNvPr id="28688" name="Freeform 26">
              <a:extLst>
                <a:ext uri="{FF2B5EF4-FFF2-40B4-BE49-F238E27FC236}">
                  <a16:creationId xmlns:a16="http://schemas.microsoft.com/office/drawing/2014/main" id="{5CC72AA1-4F80-538D-082C-50C0572B3F20}"/>
                </a:ext>
              </a:extLst>
            </p:cNvPr>
            <p:cNvSpPr>
              <a:spLocks/>
            </p:cNvSpPr>
            <p:nvPr/>
          </p:nvSpPr>
          <p:spPr bwMode="auto">
            <a:xfrm>
              <a:off x="0" y="0"/>
              <a:ext cx="3802634" cy="2518283"/>
            </a:xfrm>
            <a:custGeom>
              <a:avLst/>
              <a:gdLst>
                <a:gd name="T0" fmla="*/ 0 w 3802634"/>
                <a:gd name="T1" fmla="*/ 0 h 2518283"/>
                <a:gd name="T2" fmla="*/ 3802634 w 3802634"/>
                <a:gd name="T3" fmla="*/ 0 h 2518283"/>
                <a:gd name="T4" fmla="*/ 3802634 w 3802634"/>
                <a:gd name="T5" fmla="*/ 2518283 h 2518283"/>
                <a:gd name="T6" fmla="*/ 0 w 3802634"/>
                <a:gd name="T7" fmla="*/ 2518283 h 2518283"/>
                <a:gd name="T8" fmla="*/ 0 w 3802634"/>
                <a:gd name="T9" fmla="*/ 0 h 251828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02634" h="2518283">
                  <a:moveTo>
                    <a:pt x="0" y="0"/>
                  </a:moveTo>
                  <a:lnTo>
                    <a:pt x="3802634" y="0"/>
                  </a:lnTo>
                  <a:lnTo>
                    <a:pt x="3802634" y="2518283"/>
                  </a:lnTo>
                  <a:lnTo>
                    <a:pt x="0" y="2518283"/>
                  </a:lnTo>
                  <a:lnTo>
                    <a:pt x="0" y="0"/>
                  </a:lnTo>
                  <a:close/>
                </a:path>
              </a:pathLst>
            </a:custGeom>
            <a:blipFill dpi="0" rotWithShape="1">
              <a:blip r:embed="rId10"/>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698" name="Group 2">
            <a:extLst>
              <a:ext uri="{FF2B5EF4-FFF2-40B4-BE49-F238E27FC236}">
                <a16:creationId xmlns:a16="http://schemas.microsoft.com/office/drawing/2014/main" id="{C00116BA-BF73-96C6-6A5B-38D1BF9D31BA}"/>
              </a:ext>
            </a:extLst>
          </p:cNvPr>
          <p:cNvGrpSpPr>
            <a:grpSpLocks/>
          </p:cNvGrpSpPr>
          <p:nvPr/>
        </p:nvGrpSpPr>
        <p:grpSpPr bwMode="auto">
          <a:xfrm>
            <a:off x="0" y="0"/>
            <a:ext cx="18288000" cy="10287000"/>
            <a:chOff x="0" y="0"/>
            <a:chExt cx="24384000" cy="13716000"/>
          </a:xfrm>
        </p:grpSpPr>
        <p:sp>
          <p:nvSpPr>
            <p:cNvPr id="29712" name="Freeform 3">
              <a:extLst>
                <a:ext uri="{FF2B5EF4-FFF2-40B4-BE49-F238E27FC236}">
                  <a16:creationId xmlns:a16="http://schemas.microsoft.com/office/drawing/2014/main" id="{1CFCE330-F7C2-0EEC-1F8A-5AAE39596BD6}"/>
                </a:ext>
              </a:extLst>
            </p:cNvPr>
            <p:cNvSpPr>
              <a:spLocks/>
            </p:cNvSpPr>
            <p:nvPr/>
          </p:nvSpPr>
          <p:spPr bwMode="auto">
            <a:xfrm>
              <a:off x="0" y="0"/>
              <a:ext cx="24384000" cy="13716000"/>
            </a:xfrm>
            <a:custGeom>
              <a:avLst/>
              <a:gdLst>
                <a:gd name="T0" fmla="*/ 24384000 w 24384000"/>
                <a:gd name="T1" fmla="*/ 0 h 13716000"/>
                <a:gd name="T2" fmla="*/ 0 w 24384000"/>
                <a:gd name="T3" fmla="*/ 0 h 13716000"/>
                <a:gd name="T4" fmla="*/ 0 w 24384000"/>
                <a:gd name="T5" fmla="*/ 13716000 h 13716000"/>
                <a:gd name="T6" fmla="*/ 24384000 w 24384000"/>
                <a:gd name="T7" fmla="*/ 13716000 h 13716000"/>
                <a:gd name="T8" fmla="*/ 24384000 w 24384000"/>
                <a:gd name="T9" fmla="*/ 0 h 13716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384000" h="13716000">
                  <a:moveTo>
                    <a:pt x="24384000" y="0"/>
                  </a:moveTo>
                  <a:lnTo>
                    <a:pt x="0" y="0"/>
                  </a:lnTo>
                  <a:lnTo>
                    <a:pt x="0" y="13716000"/>
                  </a:lnTo>
                  <a:lnTo>
                    <a:pt x="24384000" y="13716000"/>
                  </a:lnTo>
                  <a:lnTo>
                    <a:pt x="24384000" y="0"/>
                  </a:lnTo>
                  <a:close/>
                </a:path>
              </a:pathLst>
            </a:custGeom>
            <a:solidFill>
              <a:srgbClr val="F5F5F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29699" name="Group 4">
            <a:extLst>
              <a:ext uri="{FF2B5EF4-FFF2-40B4-BE49-F238E27FC236}">
                <a16:creationId xmlns:a16="http://schemas.microsoft.com/office/drawing/2014/main" id="{79D2C4EE-5408-B94A-8D2D-13164BDEA933}"/>
              </a:ext>
            </a:extLst>
          </p:cNvPr>
          <p:cNvGrpSpPr>
            <a:grpSpLocks noChangeAspect="1"/>
          </p:cNvGrpSpPr>
          <p:nvPr/>
        </p:nvGrpSpPr>
        <p:grpSpPr bwMode="auto">
          <a:xfrm>
            <a:off x="15805150" y="9525"/>
            <a:ext cx="2476500" cy="1531938"/>
            <a:chOff x="0" y="0"/>
            <a:chExt cx="3300476" cy="2043150"/>
          </a:xfrm>
        </p:grpSpPr>
        <p:sp>
          <p:nvSpPr>
            <p:cNvPr id="29711" name="Freeform 5">
              <a:extLst>
                <a:ext uri="{FF2B5EF4-FFF2-40B4-BE49-F238E27FC236}">
                  <a16:creationId xmlns:a16="http://schemas.microsoft.com/office/drawing/2014/main" id="{C9E48CA1-699F-A807-6B1C-57F0433403E0}"/>
                </a:ext>
              </a:extLst>
            </p:cNvPr>
            <p:cNvSpPr>
              <a:spLocks/>
            </p:cNvSpPr>
            <p:nvPr/>
          </p:nvSpPr>
          <p:spPr bwMode="auto">
            <a:xfrm>
              <a:off x="0" y="0"/>
              <a:ext cx="3300476" cy="2043176"/>
            </a:xfrm>
            <a:custGeom>
              <a:avLst/>
              <a:gdLst>
                <a:gd name="T0" fmla="*/ 0 w 3300476"/>
                <a:gd name="T1" fmla="*/ 0 h 2043176"/>
                <a:gd name="T2" fmla="*/ 3300476 w 3300476"/>
                <a:gd name="T3" fmla="*/ 0 h 2043176"/>
                <a:gd name="T4" fmla="*/ 3300476 w 3300476"/>
                <a:gd name="T5" fmla="*/ 2043176 h 2043176"/>
                <a:gd name="T6" fmla="*/ 0 w 3300476"/>
                <a:gd name="T7" fmla="*/ 2043176 h 2043176"/>
                <a:gd name="T8" fmla="*/ 0 w 3300476"/>
                <a:gd name="T9" fmla="*/ 0 h 204317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300476" h="2043176">
                  <a:moveTo>
                    <a:pt x="0" y="0"/>
                  </a:moveTo>
                  <a:lnTo>
                    <a:pt x="3300476" y="0"/>
                  </a:lnTo>
                  <a:lnTo>
                    <a:pt x="3300476" y="2043176"/>
                  </a:lnTo>
                  <a:lnTo>
                    <a:pt x="0" y="2043176"/>
                  </a:lnTo>
                  <a:lnTo>
                    <a:pt x="0" y="0"/>
                  </a:lnTo>
                  <a:close/>
                </a:path>
              </a:pathLst>
            </a:cu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29700" name="Group 6">
            <a:extLst>
              <a:ext uri="{FF2B5EF4-FFF2-40B4-BE49-F238E27FC236}">
                <a16:creationId xmlns:a16="http://schemas.microsoft.com/office/drawing/2014/main" id="{6C03AFE4-5725-3936-3CC0-57C956707C29}"/>
              </a:ext>
            </a:extLst>
          </p:cNvPr>
          <p:cNvGrpSpPr>
            <a:grpSpLocks/>
          </p:cNvGrpSpPr>
          <p:nvPr/>
        </p:nvGrpSpPr>
        <p:grpSpPr bwMode="auto">
          <a:xfrm>
            <a:off x="7164388" y="5891213"/>
            <a:ext cx="496887" cy="2379662"/>
            <a:chOff x="0" y="0"/>
            <a:chExt cx="662940" cy="3173730"/>
          </a:xfrm>
        </p:grpSpPr>
        <p:sp>
          <p:nvSpPr>
            <p:cNvPr id="29710" name="Freeform 7">
              <a:extLst>
                <a:ext uri="{FF2B5EF4-FFF2-40B4-BE49-F238E27FC236}">
                  <a16:creationId xmlns:a16="http://schemas.microsoft.com/office/drawing/2014/main" id="{6C0D5F05-FE6F-F7A4-12FF-F614667C0DCC}"/>
                </a:ext>
              </a:extLst>
            </p:cNvPr>
            <p:cNvSpPr>
              <a:spLocks/>
            </p:cNvSpPr>
            <p:nvPr/>
          </p:nvSpPr>
          <p:spPr bwMode="auto">
            <a:xfrm>
              <a:off x="0" y="0"/>
              <a:ext cx="662813" cy="3173730"/>
            </a:xfrm>
            <a:custGeom>
              <a:avLst/>
              <a:gdLst>
                <a:gd name="T0" fmla="*/ 662813 w 662813"/>
                <a:gd name="T1" fmla="*/ 0 h 3173730"/>
                <a:gd name="T2" fmla="*/ 0 w 662813"/>
                <a:gd name="T3" fmla="*/ 0 h 3173730"/>
                <a:gd name="T4" fmla="*/ 0 w 662813"/>
                <a:gd name="T5" fmla="*/ 3173730 h 3173730"/>
                <a:gd name="T6" fmla="*/ 662813 w 662813"/>
                <a:gd name="T7" fmla="*/ 3173730 h 3173730"/>
                <a:gd name="T8" fmla="*/ 662813 w 662813"/>
                <a:gd name="T9" fmla="*/ 0 h 31737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2813" h="3173730">
                  <a:moveTo>
                    <a:pt x="662813" y="0"/>
                  </a:moveTo>
                  <a:lnTo>
                    <a:pt x="0" y="0"/>
                  </a:lnTo>
                  <a:lnTo>
                    <a:pt x="0" y="3173730"/>
                  </a:lnTo>
                  <a:lnTo>
                    <a:pt x="662813" y="3173730"/>
                  </a:lnTo>
                  <a:lnTo>
                    <a:pt x="662813"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9" name="TextBox 9" descr="$PPTXTitle">
            <a:extLst>
              <a:ext uri="{FF2B5EF4-FFF2-40B4-BE49-F238E27FC236}">
                <a16:creationId xmlns:a16="http://schemas.microsoft.com/office/drawing/2014/main" id="{C4BBB5CD-7D62-C70F-7E82-E88EA7F45819}"/>
              </a:ext>
            </a:extLst>
          </p:cNvPr>
          <p:cNvSpPr txBox="1"/>
          <p:nvPr/>
        </p:nvSpPr>
        <p:spPr>
          <a:xfrm>
            <a:off x="1060450" y="723900"/>
            <a:ext cx="16111538" cy="576263"/>
          </a:xfrm>
          <a:prstGeom prst="rect">
            <a:avLst/>
          </a:prstGeom>
        </p:spPr>
        <p:txBody>
          <a:bodyPr lIns="0" tIns="0" rIns="0" bIns="0">
            <a:spAutoFit/>
          </a:bodyPr>
          <a:lstStyle/>
          <a:p>
            <a:pPr eaLnBrk="1" fontAlgn="auto" hangingPunct="1">
              <a:lnSpc>
                <a:spcPts val="4500"/>
              </a:lnSpc>
              <a:spcBef>
                <a:spcPts val="0"/>
              </a:spcBef>
              <a:spcAft>
                <a:spcPts val="0"/>
              </a:spcAft>
              <a:defRPr/>
            </a:pPr>
            <a:r>
              <a:rPr lang="en-US" sz="3750" spc="217" dirty="0" err="1">
                <a:solidFill>
                  <a:srgbClr val="0D2841"/>
                </a:solidFill>
                <a:latin typeface="Calibri (MS)"/>
                <a:ea typeface="Calibri (MS)"/>
                <a:cs typeface="Calibri (MS)"/>
                <a:sym typeface="Calibri (MS)"/>
              </a:rPr>
              <a:t>Rapportering</a:t>
            </a:r>
            <a:r>
              <a:rPr lang="en-US" sz="3750" spc="217" dirty="0">
                <a:solidFill>
                  <a:srgbClr val="0D2841"/>
                </a:solidFill>
                <a:latin typeface="Calibri (MS)"/>
                <a:ea typeface="Calibri (MS)"/>
                <a:cs typeface="Calibri (MS)"/>
                <a:sym typeface="Calibri (MS)"/>
              </a:rPr>
              <a:t>	</a:t>
            </a:r>
          </a:p>
        </p:txBody>
      </p:sp>
      <p:grpSp>
        <p:nvGrpSpPr>
          <p:cNvPr id="29702" name="Group 10">
            <a:extLst>
              <a:ext uri="{FF2B5EF4-FFF2-40B4-BE49-F238E27FC236}">
                <a16:creationId xmlns:a16="http://schemas.microsoft.com/office/drawing/2014/main" id="{F65F9504-FD7E-4ABA-3B84-3A8F9FAD16D4}"/>
              </a:ext>
            </a:extLst>
          </p:cNvPr>
          <p:cNvGrpSpPr>
            <a:grpSpLocks noChangeAspect="1"/>
          </p:cNvGrpSpPr>
          <p:nvPr/>
        </p:nvGrpSpPr>
        <p:grpSpPr bwMode="auto">
          <a:xfrm>
            <a:off x="6794500" y="1752600"/>
            <a:ext cx="10850563" cy="8178800"/>
            <a:chOff x="1" y="0"/>
            <a:chExt cx="14469112" cy="10905744"/>
          </a:xfrm>
        </p:grpSpPr>
        <p:sp>
          <p:nvSpPr>
            <p:cNvPr id="29709" name="Freeform 11">
              <a:extLst>
                <a:ext uri="{FF2B5EF4-FFF2-40B4-BE49-F238E27FC236}">
                  <a16:creationId xmlns:a16="http://schemas.microsoft.com/office/drawing/2014/main" id="{71017D6D-D845-6AF3-B420-E9DF21910BB5}"/>
                </a:ext>
              </a:extLst>
            </p:cNvPr>
            <p:cNvSpPr>
              <a:spLocks/>
            </p:cNvSpPr>
            <p:nvPr/>
          </p:nvSpPr>
          <p:spPr bwMode="auto">
            <a:xfrm>
              <a:off x="1" y="0"/>
              <a:ext cx="14469112" cy="10905744"/>
            </a:xfrm>
            <a:custGeom>
              <a:avLst/>
              <a:gdLst>
                <a:gd name="T0" fmla="*/ 0 w 14777974"/>
                <a:gd name="T1" fmla="*/ 0 h 10905744"/>
                <a:gd name="T2" fmla="*/ 14469112 w 14777974"/>
                <a:gd name="T3" fmla="*/ 0 h 10905744"/>
                <a:gd name="T4" fmla="*/ 14469112 w 14777974"/>
                <a:gd name="T5" fmla="*/ 10905744 h 10905744"/>
                <a:gd name="T6" fmla="*/ 0 w 14777974"/>
                <a:gd name="T7" fmla="*/ 10905744 h 10905744"/>
                <a:gd name="T8" fmla="*/ 0 w 14777974"/>
                <a:gd name="T9" fmla="*/ 0 h 109057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777974" h="10905744">
                  <a:moveTo>
                    <a:pt x="0" y="0"/>
                  </a:moveTo>
                  <a:lnTo>
                    <a:pt x="14777974" y="0"/>
                  </a:lnTo>
                  <a:lnTo>
                    <a:pt x="14777974" y="10905744"/>
                  </a:lnTo>
                  <a:lnTo>
                    <a:pt x="0" y="10905744"/>
                  </a:lnTo>
                  <a:lnTo>
                    <a:pt x="0" y="0"/>
                  </a:lnTo>
                  <a:close/>
                </a:path>
              </a:pathLst>
            </a:cu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12" name="TextBox 12">
            <a:extLst>
              <a:ext uri="{FF2B5EF4-FFF2-40B4-BE49-F238E27FC236}">
                <a16:creationId xmlns:a16="http://schemas.microsoft.com/office/drawing/2014/main" id="{C8A732DA-E391-4C31-411B-DFABBB5ACC45}"/>
              </a:ext>
            </a:extLst>
          </p:cNvPr>
          <p:cNvSpPr txBox="1"/>
          <p:nvPr/>
        </p:nvSpPr>
        <p:spPr>
          <a:xfrm rot="-5400000">
            <a:off x="6465094" y="2975769"/>
            <a:ext cx="1381125" cy="230187"/>
          </a:xfrm>
          <a:prstGeom prst="rect">
            <a:avLst/>
          </a:prstGeom>
        </p:spPr>
        <p:txBody>
          <a:bodyPr lIns="0" tIns="0" rIns="0" bIns="0">
            <a:spAutoFit/>
          </a:bodyPr>
          <a:lstStyle/>
          <a:p>
            <a:pPr eaLnBrk="1" fontAlgn="auto" hangingPunct="1">
              <a:lnSpc>
                <a:spcPts val="1800"/>
              </a:lnSpc>
              <a:spcBef>
                <a:spcPts val="0"/>
              </a:spcBef>
              <a:spcAft>
                <a:spcPts val="0"/>
              </a:spcAft>
              <a:defRPr/>
            </a:pPr>
            <a:r>
              <a:rPr lang="en-US" sz="1500" spc="-170" dirty="0" err="1">
                <a:solidFill>
                  <a:srgbClr val="123C6A"/>
                </a:solidFill>
                <a:latin typeface="Merriweather Sans"/>
                <a:ea typeface="Merriweather Sans"/>
                <a:cs typeface="Merriweather Sans"/>
                <a:sym typeface="Merriweather Sans"/>
              </a:rPr>
              <a:t>Nettoavkastning</a:t>
            </a:r>
            <a:endParaRPr lang="en-US" sz="1500" spc="-170" dirty="0">
              <a:solidFill>
                <a:srgbClr val="123C6A"/>
              </a:solidFill>
              <a:latin typeface="Merriweather Sans"/>
              <a:ea typeface="Merriweather Sans"/>
              <a:cs typeface="Merriweather Sans"/>
              <a:sym typeface="Merriweather Sans"/>
            </a:endParaRPr>
          </a:p>
        </p:txBody>
      </p:sp>
      <p:sp>
        <p:nvSpPr>
          <p:cNvPr id="13" name="TextBox 13">
            <a:extLst>
              <a:ext uri="{FF2B5EF4-FFF2-40B4-BE49-F238E27FC236}">
                <a16:creationId xmlns:a16="http://schemas.microsoft.com/office/drawing/2014/main" id="{AD311C21-AA08-2D04-BA87-7B57AAF78F9A}"/>
              </a:ext>
            </a:extLst>
          </p:cNvPr>
          <p:cNvSpPr txBox="1"/>
          <p:nvPr/>
        </p:nvSpPr>
        <p:spPr>
          <a:xfrm rot="-5400000">
            <a:off x="6896894" y="6420644"/>
            <a:ext cx="1055688" cy="298450"/>
          </a:xfrm>
          <a:prstGeom prst="rect">
            <a:avLst/>
          </a:prstGeom>
        </p:spPr>
        <p:txBody>
          <a:bodyPr lIns="0" tIns="0" rIns="0" bIns="0">
            <a:spAutoFit/>
          </a:bodyPr>
          <a:lstStyle/>
          <a:p>
            <a:pPr eaLnBrk="1" fontAlgn="auto" hangingPunct="1">
              <a:lnSpc>
                <a:spcPts val="1800"/>
              </a:lnSpc>
              <a:spcBef>
                <a:spcPts val="0"/>
              </a:spcBef>
              <a:spcAft>
                <a:spcPts val="0"/>
              </a:spcAft>
              <a:defRPr/>
            </a:pPr>
            <a:r>
              <a:rPr lang="en-US" sz="1500" spc="-170">
                <a:solidFill>
                  <a:srgbClr val="123C6A"/>
                </a:solidFill>
                <a:latin typeface="Merriweather Sans"/>
                <a:ea typeface="Merriweather Sans"/>
                <a:cs typeface="Merriweather Sans"/>
                <a:sym typeface="Merriweather Sans"/>
              </a:rPr>
              <a:t>Transaksjoner</a:t>
            </a:r>
          </a:p>
        </p:txBody>
      </p:sp>
      <p:sp>
        <p:nvSpPr>
          <p:cNvPr id="14" name="TextBox 14">
            <a:extLst>
              <a:ext uri="{FF2B5EF4-FFF2-40B4-BE49-F238E27FC236}">
                <a16:creationId xmlns:a16="http://schemas.microsoft.com/office/drawing/2014/main" id="{56232348-B054-C7CF-ED2E-1F0A603A2D27}"/>
              </a:ext>
            </a:extLst>
          </p:cNvPr>
          <p:cNvSpPr txBox="1"/>
          <p:nvPr/>
        </p:nvSpPr>
        <p:spPr>
          <a:xfrm rot="-5400000">
            <a:off x="9040812" y="9051926"/>
            <a:ext cx="754063" cy="296862"/>
          </a:xfrm>
          <a:prstGeom prst="rect">
            <a:avLst/>
          </a:prstGeom>
        </p:spPr>
        <p:txBody>
          <a:bodyPr lIns="0" tIns="0" rIns="0" bIns="0">
            <a:spAutoFit/>
          </a:bodyPr>
          <a:lstStyle/>
          <a:p>
            <a:pPr eaLnBrk="1" fontAlgn="auto" hangingPunct="1">
              <a:lnSpc>
                <a:spcPts val="1800"/>
              </a:lnSpc>
              <a:spcBef>
                <a:spcPts val="0"/>
              </a:spcBef>
              <a:spcAft>
                <a:spcPts val="0"/>
              </a:spcAft>
              <a:defRPr/>
            </a:pPr>
            <a:r>
              <a:rPr lang="en-US" sz="1500" spc="-170">
                <a:solidFill>
                  <a:srgbClr val="123C6A"/>
                </a:solidFill>
                <a:latin typeface="Merriweather Sans"/>
                <a:ea typeface="Merriweather Sans"/>
                <a:cs typeface="Merriweather Sans"/>
                <a:sym typeface="Merriweather Sans"/>
              </a:rPr>
              <a:t>Allokering</a:t>
            </a:r>
          </a:p>
        </p:txBody>
      </p:sp>
      <p:grpSp>
        <p:nvGrpSpPr>
          <p:cNvPr id="29706" name="Group 15">
            <a:extLst>
              <a:ext uri="{FF2B5EF4-FFF2-40B4-BE49-F238E27FC236}">
                <a16:creationId xmlns:a16="http://schemas.microsoft.com/office/drawing/2014/main" id="{729EC0F7-F1DA-67D6-BF2B-89FAEA16EC9B}"/>
              </a:ext>
            </a:extLst>
          </p:cNvPr>
          <p:cNvGrpSpPr>
            <a:grpSpLocks/>
          </p:cNvGrpSpPr>
          <p:nvPr/>
        </p:nvGrpSpPr>
        <p:grpSpPr bwMode="auto">
          <a:xfrm>
            <a:off x="941388" y="1800225"/>
            <a:ext cx="5173662" cy="6897688"/>
            <a:chOff x="0" y="0"/>
            <a:chExt cx="6898640" cy="9196108"/>
          </a:xfrm>
        </p:grpSpPr>
        <p:sp>
          <p:nvSpPr>
            <p:cNvPr id="29707" name="Freeform 16">
              <a:extLst>
                <a:ext uri="{FF2B5EF4-FFF2-40B4-BE49-F238E27FC236}">
                  <a16:creationId xmlns:a16="http://schemas.microsoft.com/office/drawing/2014/main" id="{7F26A119-BF52-54E8-1164-006F483612EA}"/>
                </a:ext>
              </a:extLst>
            </p:cNvPr>
            <p:cNvSpPr>
              <a:spLocks/>
            </p:cNvSpPr>
            <p:nvPr/>
          </p:nvSpPr>
          <p:spPr bwMode="auto">
            <a:xfrm>
              <a:off x="0" y="0"/>
              <a:ext cx="6898640" cy="9196070"/>
            </a:xfrm>
            <a:custGeom>
              <a:avLst/>
              <a:gdLst>
                <a:gd name="T0" fmla="*/ 0 w 6898640"/>
                <a:gd name="T1" fmla="*/ 0 h 9196070"/>
                <a:gd name="T2" fmla="*/ 6898640 w 6898640"/>
                <a:gd name="T3" fmla="*/ 0 h 9196070"/>
                <a:gd name="T4" fmla="*/ 6898640 w 6898640"/>
                <a:gd name="T5" fmla="*/ 9196070 h 9196070"/>
                <a:gd name="T6" fmla="*/ 0 w 6898640"/>
                <a:gd name="T7" fmla="*/ 9196070 h 9196070"/>
                <a:gd name="T8" fmla="*/ 0 w 6898640"/>
                <a:gd name="T9" fmla="*/ 0 h 91960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98640" h="9196070">
                  <a:moveTo>
                    <a:pt x="0" y="0"/>
                  </a:moveTo>
                  <a:lnTo>
                    <a:pt x="6898640" y="0"/>
                  </a:lnTo>
                  <a:lnTo>
                    <a:pt x="6898640" y="9196070"/>
                  </a:lnTo>
                  <a:lnTo>
                    <a:pt x="0" y="919607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 name="TextBox 17">
              <a:extLst>
                <a:ext uri="{FF2B5EF4-FFF2-40B4-BE49-F238E27FC236}">
                  <a16:creationId xmlns:a16="http://schemas.microsoft.com/office/drawing/2014/main" id="{884FAC4F-F8EE-C5DA-05CC-20C02D332E01}"/>
                </a:ext>
              </a:extLst>
            </p:cNvPr>
            <p:cNvSpPr txBox="1"/>
            <p:nvPr/>
          </p:nvSpPr>
          <p:spPr>
            <a:xfrm>
              <a:off x="0" y="-162968"/>
              <a:ext cx="6898640" cy="9359076"/>
            </a:xfrm>
            <a:prstGeom prst="rect">
              <a:avLst/>
            </a:prstGeom>
          </p:spPr>
          <p:txBody>
            <a:bodyPr lIns="50800" tIns="50800" rIns="50800" bIns="50800"/>
            <a:lstStyle/>
            <a:p>
              <a:pPr marL="535305" lvl="1" indent="-267652" eaLnBrk="1" fontAlgn="auto" hangingPunct="1">
                <a:lnSpc>
                  <a:spcPts val="3780"/>
                </a:lnSpc>
                <a:spcBef>
                  <a:spcPts val="0"/>
                </a:spcBef>
                <a:spcAft>
                  <a:spcPts val="0"/>
                </a:spcAft>
                <a:buFont typeface="Arial"/>
                <a:buChar char="•"/>
                <a:defRPr/>
              </a:pPr>
              <a:r>
                <a:rPr lang="en-US" sz="2100" spc="-15">
                  <a:solidFill>
                    <a:srgbClr val="0D2841"/>
                  </a:solidFill>
                  <a:latin typeface="Calibri (MS)"/>
                  <a:ea typeface="Calibri (MS)"/>
                  <a:cs typeface="Calibri (MS)"/>
                  <a:sym typeface="Calibri (MS)"/>
                </a:rPr>
                <a:t>BankID innlogging på egen rapporteringsside med daglig utvikling av portefølje. Tilgang til alle kundeforhold på samme område dersom flere kundeforhold.</a:t>
              </a:r>
            </a:p>
            <a:p>
              <a:pPr marL="535305" lvl="1" indent="-267652" eaLnBrk="1" fontAlgn="auto" hangingPunct="1">
                <a:lnSpc>
                  <a:spcPts val="3780"/>
                </a:lnSpc>
                <a:spcBef>
                  <a:spcPts val="0"/>
                </a:spcBef>
                <a:spcAft>
                  <a:spcPts val="0"/>
                </a:spcAft>
                <a:defRPr/>
              </a:pPr>
              <a:endParaRPr lang="en-US" sz="2100" spc="-15">
                <a:solidFill>
                  <a:srgbClr val="0D2841"/>
                </a:solidFill>
                <a:latin typeface="Calibri (MS)"/>
                <a:ea typeface="Calibri (MS)"/>
                <a:cs typeface="Calibri (MS)"/>
                <a:sym typeface="Calibri (MS)"/>
              </a:endParaRPr>
            </a:p>
            <a:p>
              <a:pPr marL="535305" lvl="1" indent="-267652" eaLnBrk="1" fontAlgn="auto" hangingPunct="1">
                <a:lnSpc>
                  <a:spcPts val="3782"/>
                </a:lnSpc>
                <a:spcBef>
                  <a:spcPts val="0"/>
                </a:spcBef>
                <a:spcAft>
                  <a:spcPts val="0"/>
                </a:spcAft>
                <a:buFont typeface="Arial"/>
                <a:buChar char="•"/>
                <a:defRPr/>
              </a:pPr>
              <a:r>
                <a:rPr lang="en-US" sz="2100" spc="-67">
                  <a:solidFill>
                    <a:srgbClr val="0D2841"/>
                  </a:solidFill>
                  <a:latin typeface="Calibri (MS)"/>
                  <a:ea typeface="Calibri (MS)"/>
                  <a:cs typeface="Calibri (MS)"/>
                  <a:sym typeface="Calibri (MS)"/>
                </a:rPr>
                <a:t>Rapporterer både på portefølje i Pensum samt «eksterne» porteføljer. Gir en helhetlig oversikt.</a:t>
              </a:r>
            </a:p>
            <a:p>
              <a:pPr marL="535305" lvl="1" indent="-267652" eaLnBrk="1" fontAlgn="auto" hangingPunct="1">
                <a:lnSpc>
                  <a:spcPts val="3782"/>
                </a:lnSpc>
                <a:spcBef>
                  <a:spcPts val="0"/>
                </a:spcBef>
                <a:spcAft>
                  <a:spcPts val="0"/>
                </a:spcAft>
                <a:defRPr/>
              </a:pPr>
              <a:endParaRPr lang="en-US" sz="2100" spc="-67">
                <a:solidFill>
                  <a:srgbClr val="0D2841"/>
                </a:solidFill>
                <a:latin typeface="Calibri (MS)"/>
                <a:ea typeface="Calibri (MS)"/>
                <a:cs typeface="Calibri (MS)"/>
                <a:sym typeface="Calibri (MS)"/>
              </a:endParaRPr>
            </a:p>
            <a:p>
              <a:pPr marL="535305" lvl="1" indent="-267652" eaLnBrk="1" fontAlgn="auto" hangingPunct="1">
                <a:lnSpc>
                  <a:spcPts val="2520"/>
                </a:lnSpc>
                <a:spcBef>
                  <a:spcPts val="0"/>
                </a:spcBef>
                <a:spcAft>
                  <a:spcPts val="0"/>
                </a:spcAft>
                <a:buFont typeface="Arial"/>
                <a:buChar char="•"/>
                <a:defRPr/>
              </a:pPr>
              <a:r>
                <a:rPr lang="en-US" sz="2100" spc="-15">
                  <a:solidFill>
                    <a:srgbClr val="0D2841"/>
                  </a:solidFill>
                  <a:latin typeface="Calibri (MS)"/>
                  <a:ea typeface="Calibri (MS)"/>
                  <a:cs typeface="Calibri (MS)"/>
                  <a:sym typeface="Calibri (MS)"/>
                </a:rPr>
                <a:t>Skatterapporering</a:t>
              </a:r>
            </a:p>
            <a:p>
              <a:pPr marL="535305" lvl="1" indent="-267652" eaLnBrk="1" fontAlgn="auto" hangingPunct="1">
                <a:lnSpc>
                  <a:spcPts val="2520"/>
                </a:lnSpc>
                <a:spcBef>
                  <a:spcPts val="0"/>
                </a:spcBef>
                <a:spcAft>
                  <a:spcPts val="0"/>
                </a:spcAft>
                <a:defRPr/>
              </a:pPr>
              <a:endParaRPr lang="en-US" sz="2100" spc="-15">
                <a:solidFill>
                  <a:srgbClr val="0D2841"/>
                </a:solidFill>
                <a:latin typeface="Calibri (MS)"/>
                <a:ea typeface="Calibri (MS)"/>
                <a:cs typeface="Calibri (MS)"/>
                <a:sym typeface="Calibri (MS)"/>
              </a:endParaRPr>
            </a:p>
            <a:p>
              <a:pPr marL="535305" lvl="1" indent="-267652" eaLnBrk="1" fontAlgn="auto" hangingPunct="1">
                <a:lnSpc>
                  <a:spcPts val="2520"/>
                </a:lnSpc>
                <a:spcBef>
                  <a:spcPts val="0"/>
                </a:spcBef>
                <a:spcAft>
                  <a:spcPts val="0"/>
                </a:spcAft>
                <a:buFont typeface="Arial"/>
                <a:buChar char="•"/>
                <a:defRPr/>
              </a:pPr>
              <a:r>
                <a:rPr lang="en-US" sz="2100" spc="-52">
                  <a:solidFill>
                    <a:srgbClr val="0D2841"/>
                  </a:solidFill>
                  <a:latin typeface="Calibri (MS)"/>
                  <a:ea typeface="Calibri (MS)"/>
                  <a:cs typeface="Calibri (MS)"/>
                  <a:sym typeface="Calibri (MS)"/>
                </a:rPr>
                <a:t>Sluttsedler og oversikt over alle hendelser i porteføljen.</a:t>
              </a: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9267CDAA-B95F-20C9-6E1F-6992D5596326}"/>
              </a:ext>
            </a:extLst>
          </p:cNvPr>
          <p:cNvSpPr>
            <a:spLocks noGrp="1"/>
          </p:cNvSpPr>
          <p:nvPr>
            <p:ph type="title"/>
          </p:nvPr>
        </p:nvSpPr>
        <p:spPr>
          <a:xfrm>
            <a:off x="1001713" y="563563"/>
            <a:ext cx="9915525" cy="577850"/>
          </a:xfrm>
        </p:spPr>
        <p:txBody>
          <a:bodyPr/>
          <a:lstStyle/>
          <a:p>
            <a:pPr eaLnBrk="1" fontAlgn="auto" hangingPunct="1">
              <a:spcBef>
                <a:spcPts val="0"/>
              </a:spcBef>
              <a:spcAft>
                <a:spcPts val="0"/>
              </a:spcAft>
              <a:defRPr/>
            </a:pPr>
            <a:endParaRPr lang="nb-NO"/>
          </a:p>
        </p:txBody>
      </p:sp>
      <p:pic>
        <p:nvPicPr>
          <p:cNvPr id="30723" name="Bilde 3">
            <a:extLst>
              <a:ext uri="{FF2B5EF4-FFF2-40B4-BE49-F238E27FC236}">
                <a16:creationId xmlns:a16="http://schemas.microsoft.com/office/drawing/2014/main" id="{56436C1C-9E6E-355F-6A24-ADA44ACFF5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8480088" cy="1028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kstSylinder 3">
            <a:extLst>
              <a:ext uri="{FF2B5EF4-FFF2-40B4-BE49-F238E27FC236}">
                <a16:creationId xmlns:a16="http://schemas.microsoft.com/office/drawing/2014/main" id="{0667119B-28DB-00C4-02A4-6C5091962A55}"/>
              </a:ext>
            </a:extLst>
          </p:cNvPr>
          <p:cNvSpPr txBox="1"/>
          <p:nvPr/>
        </p:nvSpPr>
        <p:spPr>
          <a:xfrm>
            <a:off x="789296" y="9867900"/>
            <a:ext cx="15621000" cy="307777"/>
          </a:xfrm>
          <a:prstGeom prst="rect">
            <a:avLst/>
          </a:prstGeom>
          <a:noFill/>
        </p:spPr>
        <p:txBody>
          <a:bodyPr wrap="square">
            <a:spAutoFit/>
          </a:bodyPr>
          <a:lstStyle/>
          <a:p>
            <a:r>
              <a:rPr lang="nb-NO" sz="1400" dirty="0">
                <a:solidFill>
                  <a:schemeClr val="bg1"/>
                </a:solidFill>
              </a:rPr>
              <a:t>Honorarstrukturen er presentert for informasjonsformål. Eventuelle kostnader og honorarer vil først gjelde dersom kundeforhold etableres og avtale inngås.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746" name="Group 2">
            <a:extLst>
              <a:ext uri="{FF2B5EF4-FFF2-40B4-BE49-F238E27FC236}">
                <a16:creationId xmlns:a16="http://schemas.microsoft.com/office/drawing/2014/main" id="{B80643FB-7888-9499-5528-F600F5C29C91}"/>
              </a:ext>
            </a:extLst>
          </p:cNvPr>
          <p:cNvGrpSpPr>
            <a:grpSpLocks/>
          </p:cNvGrpSpPr>
          <p:nvPr/>
        </p:nvGrpSpPr>
        <p:grpSpPr bwMode="auto">
          <a:xfrm>
            <a:off x="-6350" y="-22225"/>
            <a:ext cx="18288000" cy="10287000"/>
            <a:chOff x="20632" y="225353"/>
            <a:chExt cx="24384000" cy="13716000"/>
          </a:xfrm>
        </p:grpSpPr>
        <p:sp>
          <p:nvSpPr>
            <p:cNvPr id="31752" name="Freeform 3">
              <a:extLst>
                <a:ext uri="{FF2B5EF4-FFF2-40B4-BE49-F238E27FC236}">
                  <a16:creationId xmlns:a16="http://schemas.microsoft.com/office/drawing/2014/main" id="{8E1E91C9-ED64-0A98-C928-C3225A844627}"/>
                </a:ext>
              </a:extLst>
            </p:cNvPr>
            <p:cNvSpPr>
              <a:spLocks/>
            </p:cNvSpPr>
            <p:nvPr/>
          </p:nvSpPr>
          <p:spPr bwMode="auto">
            <a:xfrm>
              <a:off x="20632" y="225353"/>
              <a:ext cx="24384000" cy="13716000"/>
            </a:xfrm>
            <a:custGeom>
              <a:avLst/>
              <a:gdLst>
                <a:gd name="T0" fmla="*/ 24384000 w 24384000"/>
                <a:gd name="T1" fmla="*/ 0 h 13716000"/>
                <a:gd name="T2" fmla="*/ 0 w 24384000"/>
                <a:gd name="T3" fmla="*/ 0 h 13716000"/>
                <a:gd name="T4" fmla="*/ 0 w 24384000"/>
                <a:gd name="T5" fmla="*/ 13716000 h 13716000"/>
                <a:gd name="T6" fmla="*/ 24384000 w 24384000"/>
                <a:gd name="T7" fmla="*/ 13716000 h 13716000"/>
                <a:gd name="T8" fmla="*/ 24384000 w 24384000"/>
                <a:gd name="T9" fmla="*/ 0 h 13716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384000" h="13716000">
                  <a:moveTo>
                    <a:pt x="24384000" y="0"/>
                  </a:moveTo>
                  <a:lnTo>
                    <a:pt x="0" y="0"/>
                  </a:lnTo>
                  <a:lnTo>
                    <a:pt x="0" y="13716000"/>
                  </a:lnTo>
                  <a:lnTo>
                    <a:pt x="24384000" y="13716000"/>
                  </a:lnTo>
                  <a:lnTo>
                    <a:pt x="24384000" y="0"/>
                  </a:lnTo>
                  <a:close/>
                </a:path>
              </a:pathLst>
            </a:custGeom>
            <a:solidFill>
              <a:srgbClr val="F5F5F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31747" name="Group 4">
            <a:extLst>
              <a:ext uri="{FF2B5EF4-FFF2-40B4-BE49-F238E27FC236}">
                <a16:creationId xmlns:a16="http://schemas.microsoft.com/office/drawing/2014/main" id="{9DE0D483-0971-363E-B635-9BCE81C3EB5F}"/>
              </a:ext>
            </a:extLst>
          </p:cNvPr>
          <p:cNvGrpSpPr>
            <a:grpSpLocks noChangeAspect="1"/>
          </p:cNvGrpSpPr>
          <p:nvPr/>
        </p:nvGrpSpPr>
        <p:grpSpPr bwMode="auto">
          <a:xfrm>
            <a:off x="15805150" y="9525"/>
            <a:ext cx="2476500" cy="1531938"/>
            <a:chOff x="0" y="0"/>
            <a:chExt cx="3300476" cy="2043150"/>
          </a:xfrm>
        </p:grpSpPr>
        <p:sp>
          <p:nvSpPr>
            <p:cNvPr id="31751" name="Freeform 5">
              <a:extLst>
                <a:ext uri="{FF2B5EF4-FFF2-40B4-BE49-F238E27FC236}">
                  <a16:creationId xmlns:a16="http://schemas.microsoft.com/office/drawing/2014/main" id="{5E4F9D18-2F6E-C9F6-E84F-A5A898D73D7D}"/>
                </a:ext>
              </a:extLst>
            </p:cNvPr>
            <p:cNvSpPr>
              <a:spLocks/>
            </p:cNvSpPr>
            <p:nvPr/>
          </p:nvSpPr>
          <p:spPr bwMode="auto">
            <a:xfrm>
              <a:off x="0" y="0"/>
              <a:ext cx="3300476" cy="2043176"/>
            </a:xfrm>
            <a:custGeom>
              <a:avLst/>
              <a:gdLst>
                <a:gd name="T0" fmla="*/ 0 w 3300476"/>
                <a:gd name="T1" fmla="*/ 0 h 2043176"/>
                <a:gd name="T2" fmla="*/ 3300476 w 3300476"/>
                <a:gd name="T3" fmla="*/ 0 h 2043176"/>
                <a:gd name="T4" fmla="*/ 3300476 w 3300476"/>
                <a:gd name="T5" fmla="*/ 2043176 h 2043176"/>
                <a:gd name="T6" fmla="*/ 0 w 3300476"/>
                <a:gd name="T7" fmla="*/ 2043176 h 2043176"/>
                <a:gd name="T8" fmla="*/ 0 w 3300476"/>
                <a:gd name="T9" fmla="*/ 0 h 204317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300476" h="2043176">
                  <a:moveTo>
                    <a:pt x="0" y="0"/>
                  </a:moveTo>
                  <a:lnTo>
                    <a:pt x="3300476" y="0"/>
                  </a:lnTo>
                  <a:lnTo>
                    <a:pt x="3300476" y="2043176"/>
                  </a:lnTo>
                  <a:lnTo>
                    <a:pt x="0" y="2043176"/>
                  </a:lnTo>
                  <a:lnTo>
                    <a:pt x="0" y="0"/>
                  </a:lnTo>
                  <a:close/>
                </a:path>
              </a:pathLst>
            </a:cu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31748" name="TextBox 7" descr="$PPTXTitle">
            <a:extLst>
              <a:ext uri="{FF2B5EF4-FFF2-40B4-BE49-F238E27FC236}">
                <a16:creationId xmlns:a16="http://schemas.microsoft.com/office/drawing/2014/main" id="{9E5E74F6-911E-0BC4-59B3-30878D884CE3}"/>
              </a:ext>
            </a:extLst>
          </p:cNvPr>
          <p:cNvSpPr txBox="1">
            <a:spLocks noChangeArrowheads="1"/>
          </p:cNvSpPr>
          <p:nvPr/>
        </p:nvSpPr>
        <p:spPr bwMode="auto">
          <a:xfrm>
            <a:off x="1079500" y="1965325"/>
            <a:ext cx="492601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ts val="5400"/>
              </a:lnSpc>
              <a:spcBef>
                <a:spcPct val="0"/>
              </a:spcBef>
              <a:buFontTx/>
              <a:buNone/>
            </a:pPr>
            <a:r>
              <a:rPr lang="en-US" altLang="nb-NO" sz="4500">
                <a:solidFill>
                  <a:srgbClr val="012441"/>
                </a:solidFill>
                <a:latin typeface="Calibri (MS)" panose="020B0604020202020204" charset="0"/>
                <a:cs typeface="Calibri (MS)" panose="020B0604020202020204" charset="0"/>
                <a:sym typeface="Calibri (MS)" panose="020B0604020202020204" charset="0"/>
              </a:rPr>
              <a:t>Viktig Informasjon</a:t>
            </a:r>
          </a:p>
        </p:txBody>
      </p:sp>
      <p:sp>
        <p:nvSpPr>
          <p:cNvPr id="31749" name="TextBox 8">
            <a:extLst>
              <a:ext uri="{FF2B5EF4-FFF2-40B4-BE49-F238E27FC236}">
                <a16:creationId xmlns:a16="http://schemas.microsoft.com/office/drawing/2014/main" id="{977B2D2A-E5F9-A8E3-3241-1BFC4DEA6829}"/>
              </a:ext>
            </a:extLst>
          </p:cNvPr>
          <p:cNvSpPr txBox="1">
            <a:spLocks noChangeArrowheads="1"/>
          </p:cNvSpPr>
          <p:nvPr/>
        </p:nvSpPr>
        <p:spPr bwMode="auto">
          <a:xfrm>
            <a:off x="1079500" y="3622675"/>
            <a:ext cx="16135350" cy="35266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eaLnBrk="1" hangingPunct="1">
              <a:lnSpc>
                <a:spcPts val="2525"/>
              </a:lnSpc>
              <a:spcBef>
                <a:spcPct val="0"/>
              </a:spcBef>
              <a:buFontTx/>
              <a:buNone/>
            </a:pPr>
            <a:r>
              <a:rPr lang="nb-NO" sz="2100" noProof="0" dirty="0">
                <a:solidFill>
                  <a:srgbClr val="0D2841"/>
                </a:solidFill>
                <a:latin typeface="Calibri (MS)" panose="020B0604020202020204" charset="0"/>
                <a:ea typeface="Arial" panose="020B0604020202020204" pitchFamily="34" charset="0"/>
                <a:cs typeface="Calibri (MS)" panose="020B0604020202020204" charset="0"/>
                <a:sym typeface="Arial" panose="020B0604020202020204" pitchFamily="34" charset="0"/>
              </a:rPr>
              <a:t>Historisk  avkastning  er  ingen  garanti  for  fremtidig  avkastning.  Fremtidig  avkastning  vil  blant  annet  avhenge  av markedsutviklingen, forvalternes dyktighet, fondenes risiko samt kostnader ved forvaltning. Avkastningen kan bli  negativ som følge av kurstap. Pensum Asset Management anser at informasjonen i denne presentasjonen kommer fra  kilder som er pålitelige, men kan likevel ikke garantere at informasjonen til enhver tid er fullstendig, korrekt eller  tilgjengelig. Pensum Asset Management fraskriver seg således ethvert ansvar for feil og mangler.</a:t>
            </a:r>
          </a:p>
          <a:p>
            <a:pPr algn="just" eaLnBrk="1" hangingPunct="1">
              <a:lnSpc>
                <a:spcPts val="2525"/>
              </a:lnSpc>
              <a:spcBef>
                <a:spcPct val="0"/>
              </a:spcBef>
              <a:buFontTx/>
              <a:buNone/>
            </a:pPr>
            <a:endParaRPr lang="nb-NO" sz="2100" noProof="0" dirty="0">
              <a:solidFill>
                <a:srgbClr val="0D2841"/>
              </a:solidFill>
              <a:latin typeface="Calibri (MS)" panose="020B0604020202020204" charset="0"/>
              <a:ea typeface="Arial" panose="020B0604020202020204" pitchFamily="34" charset="0"/>
              <a:cs typeface="Calibri (MS)" panose="020B0604020202020204" charset="0"/>
              <a:sym typeface="Arial" panose="020B0604020202020204" pitchFamily="34" charset="0"/>
            </a:endParaRPr>
          </a:p>
          <a:p>
            <a:pPr algn="just" eaLnBrk="1" hangingPunct="1">
              <a:lnSpc>
                <a:spcPts val="2525"/>
              </a:lnSpc>
              <a:spcBef>
                <a:spcPct val="0"/>
              </a:spcBef>
              <a:buNone/>
            </a:pPr>
            <a:r>
              <a:rPr lang="nb-NO" sz="2100" noProof="0" dirty="0">
                <a:solidFill>
                  <a:srgbClr val="0D2841"/>
                </a:solidFill>
                <a:latin typeface="Calibri (MS)" panose="020B0604020202020204" charset="0"/>
                <a:ea typeface="Arial" panose="020B0604020202020204" pitchFamily="34" charset="0"/>
                <a:cs typeface="Calibri (MS)" panose="020B0604020202020204" charset="0"/>
                <a:sym typeface="Arial" panose="020B0604020202020204" pitchFamily="34" charset="0"/>
              </a:rPr>
              <a:t>Informasjonen i denne presentasjonen er ikke ment som en kjøps- eller salgsanbefaling, og Pensum Asset Management fraskriver seg dermed ethvert ansvar for eventuelle tap fra handler utført som følge av denne presentasjonen.</a:t>
            </a:r>
          </a:p>
          <a:p>
            <a:pPr algn="just" eaLnBrk="1" hangingPunct="1">
              <a:lnSpc>
                <a:spcPts val="2525"/>
              </a:lnSpc>
              <a:spcBef>
                <a:spcPct val="0"/>
              </a:spcBef>
              <a:buNone/>
            </a:pPr>
            <a:endParaRPr lang="nb-NO" sz="2100" noProof="0" dirty="0">
              <a:solidFill>
                <a:srgbClr val="0D2841"/>
              </a:solidFill>
              <a:latin typeface="Calibri (MS)" panose="020B0604020202020204" charset="0"/>
              <a:ea typeface="Arial" panose="020B0604020202020204" pitchFamily="34" charset="0"/>
              <a:cs typeface="Calibri (MS)" panose="020B0604020202020204" charset="0"/>
              <a:sym typeface="Arial" panose="020B0604020202020204" pitchFamily="34" charset="0"/>
            </a:endParaRPr>
          </a:p>
          <a:p>
            <a:pPr algn="just" eaLnBrk="1" hangingPunct="1">
              <a:lnSpc>
                <a:spcPts val="2525"/>
              </a:lnSpc>
              <a:spcBef>
                <a:spcPct val="0"/>
              </a:spcBef>
              <a:buNone/>
            </a:pPr>
            <a:r>
              <a:rPr lang="nb-NO" sz="2100" noProof="0" dirty="0">
                <a:solidFill>
                  <a:srgbClr val="0D2841"/>
                </a:solidFill>
                <a:latin typeface="Calibri (MS)" panose="020B0604020202020204" charset="0"/>
                <a:cs typeface="Calibri (MS)" panose="020B0604020202020204" charset="0"/>
              </a:rPr>
              <a:t>Dette dokumentet er ikke ment som investeringsrådgivning eller en personlig anbefaling, men som en illustrativ gjennomgang i pre-</a:t>
            </a:r>
            <a:r>
              <a:rPr lang="nb-NO" sz="2100" noProof="0" dirty="0" err="1">
                <a:solidFill>
                  <a:srgbClr val="0D2841"/>
                </a:solidFill>
                <a:latin typeface="Calibri (MS)" panose="020B0604020202020204" charset="0"/>
                <a:cs typeface="Calibri (MS)" panose="020B0604020202020204" charset="0"/>
              </a:rPr>
              <a:t>kundefase</a:t>
            </a:r>
            <a:r>
              <a:rPr lang="nb-NO" sz="2100" noProof="0" dirty="0">
                <a:solidFill>
                  <a:srgbClr val="0D2841"/>
                </a:solidFill>
                <a:latin typeface="Calibri (MS)" panose="020B0604020202020204" charset="0"/>
                <a:cs typeface="Calibri (MS)" panose="020B0604020202020204" charset="0"/>
              </a:rPr>
              <a:t>.</a:t>
            </a:r>
            <a:endParaRPr lang="nb-NO" sz="2100" noProof="0" dirty="0">
              <a:solidFill>
                <a:srgbClr val="0D2841"/>
              </a:solidFill>
              <a:latin typeface="Calibri (MS)" panose="020B0604020202020204" charset="0"/>
              <a:cs typeface="Calibri (MS)" panose="020B0604020202020204" charset="0"/>
              <a:sym typeface="Arial" panose="020B0604020202020204" pitchFamily="34" charset="0"/>
            </a:endParaRPr>
          </a:p>
          <a:p>
            <a:pPr algn="just" eaLnBrk="1" hangingPunct="1">
              <a:lnSpc>
                <a:spcPts val="2525"/>
              </a:lnSpc>
              <a:spcBef>
                <a:spcPct val="0"/>
              </a:spcBef>
              <a:buNone/>
            </a:pPr>
            <a:endParaRPr lang="nb-NO" sz="2100" noProof="0" dirty="0">
              <a:solidFill>
                <a:srgbClr val="0D2841"/>
              </a:solidFill>
              <a:latin typeface="Calibri (MS)" panose="020B0604020202020204" charset="0"/>
              <a:ea typeface="Arial" panose="020B0604020202020204" pitchFamily="34" charset="0"/>
              <a:cs typeface="Calibri (MS)" panose="020B0604020202020204" charset="0"/>
              <a:sym typeface="Arial" panose="020B0604020202020204" pitchFamily="34" charset="0"/>
            </a:endParaRPr>
          </a:p>
          <a:p>
            <a:pPr algn="just" eaLnBrk="1" hangingPunct="1">
              <a:lnSpc>
                <a:spcPts val="2525"/>
              </a:lnSpc>
              <a:spcBef>
                <a:spcPct val="0"/>
              </a:spcBef>
              <a:buFontTx/>
              <a:buNone/>
            </a:pPr>
            <a:endParaRPr lang="en-US" altLang="nb-NO" sz="2100" dirty="0">
              <a:solidFill>
                <a:srgbClr val="0D2841"/>
              </a:solidFill>
              <a:latin typeface="Calibri (MS)" panose="020B0604020202020204" charset="0"/>
              <a:ea typeface="Arial" panose="020B0604020202020204" pitchFamily="34" charset="0"/>
              <a:cs typeface="Calibri (MS)" panose="020B0604020202020204" charset="0"/>
              <a:sym typeface="Arial" panose="020B0604020202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770" name="Group 2">
            <a:extLst>
              <a:ext uri="{FF2B5EF4-FFF2-40B4-BE49-F238E27FC236}">
                <a16:creationId xmlns:a16="http://schemas.microsoft.com/office/drawing/2014/main" id="{1AA27CF6-43C3-553B-1592-8C47BDD1DB63}"/>
              </a:ext>
            </a:extLst>
          </p:cNvPr>
          <p:cNvGrpSpPr>
            <a:grpSpLocks/>
          </p:cNvGrpSpPr>
          <p:nvPr/>
        </p:nvGrpSpPr>
        <p:grpSpPr bwMode="auto">
          <a:xfrm>
            <a:off x="0" y="-9525"/>
            <a:ext cx="18288000" cy="10287000"/>
            <a:chOff x="-106244" y="-22796"/>
            <a:chExt cx="24384000" cy="13716000"/>
          </a:xfrm>
        </p:grpSpPr>
        <p:sp>
          <p:nvSpPr>
            <p:cNvPr id="32803" name="Freeform 3">
              <a:extLst>
                <a:ext uri="{FF2B5EF4-FFF2-40B4-BE49-F238E27FC236}">
                  <a16:creationId xmlns:a16="http://schemas.microsoft.com/office/drawing/2014/main" id="{3DF15ABB-A465-D05D-A151-67972D888AE8}"/>
                </a:ext>
              </a:extLst>
            </p:cNvPr>
            <p:cNvSpPr>
              <a:spLocks/>
            </p:cNvSpPr>
            <p:nvPr/>
          </p:nvSpPr>
          <p:spPr bwMode="auto">
            <a:xfrm>
              <a:off x="-106244" y="-22796"/>
              <a:ext cx="24384000" cy="13716000"/>
            </a:xfrm>
            <a:custGeom>
              <a:avLst/>
              <a:gdLst>
                <a:gd name="T0" fmla="*/ 24384000 w 24384000"/>
                <a:gd name="T1" fmla="*/ 0 h 13716000"/>
                <a:gd name="T2" fmla="*/ 0 w 24384000"/>
                <a:gd name="T3" fmla="*/ 0 h 13716000"/>
                <a:gd name="T4" fmla="*/ 0 w 24384000"/>
                <a:gd name="T5" fmla="*/ 13716000 h 13716000"/>
                <a:gd name="T6" fmla="*/ 24384000 w 24384000"/>
                <a:gd name="T7" fmla="*/ 13716000 h 13716000"/>
                <a:gd name="T8" fmla="*/ 24384000 w 24384000"/>
                <a:gd name="T9" fmla="*/ 0 h 13716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384000" h="13716000">
                  <a:moveTo>
                    <a:pt x="24384000" y="0"/>
                  </a:moveTo>
                  <a:lnTo>
                    <a:pt x="0" y="0"/>
                  </a:lnTo>
                  <a:lnTo>
                    <a:pt x="0" y="13716000"/>
                  </a:lnTo>
                  <a:lnTo>
                    <a:pt x="24384000" y="13716000"/>
                  </a:lnTo>
                  <a:lnTo>
                    <a:pt x="24384000" y="0"/>
                  </a:lnTo>
                  <a:close/>
                </a:path>
              </a:pathLst>
            </a:custGeom>
            <a:solidFill>
              <a:srgbClr val="091F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32771" name="Group 4">
            <a:extLst>
              <a:ext uri="{FF2B5EF4-FFF2-40B4-BE49-F238E27FC236}">
                <a16:creationId xmlns:a16="http://schemas.microsoft.com/office/drawing/2014/main" id="{892E457A-5960-0DB3-78F4-4AA92D937CB7}"/>
              </a:ext>
            </a:extLst>
          </p:cNvPr>
          <p:cNvGrpSpPr>
            <a:grpSpLocks/>
          </p:cNvGrpSpPr>
          <p:nvPr/>
        </p:nvGrpSpPr>
        <p:grpSpPr bwMode="auto">
          <a:xfrm>
            <a:off x="-9525" y="-9525"/>
            <a:ext cx="18307050" cy="10306050"/>
            <a:chOff x="0" y="0"/>
            <a:chExt cx="24409400" cy="13741400"/>
          </a:xfrm>
        </p:grpSpPr>
        <p:sp>
          <p:nvSpPr>
            <p:cNvPr id="32802" name="Freeform 5">
              <a:extLst>
                <a:ext uri="{FF2B5EF4-FFF2-40B4-BE49-F238E27FC236}">
                  <a16:creationId xmlns:a16="http://schemas.microsoft.com/office/drawing/2014/main" id="{2F69E22D-D665-8459-EAA3-4E5FA6FB4F82}"/>
                </a:ext>
              </a:extLst>
            </p:cNvPr>
            <p:cNvSpPr>
              <a:spLocks/>
            </p:cNvSpPr>
            <p:nvPr/>
          </p:nvSpPr>
          <p:spPr bwMode="auto">
            <a:xfrm>
              <a:off x="0" y="0"/>
              <a:ext cx="24409400" cy="13741400"/>
            </a:xfrm>
            <a:custGeom>
              <a:avLst/>
              <a:gdLst>
                <a:gd name="T0" fmla="*/ 12700 w 24409400"/>
                <a:gd name="T1" fmla="*/ 13716000 h 13741400"/>
                <a:gd name="T2" fmla="*/ 24396700 w 24409400"/>
                <a:gd name="T3" fmla="*/ 13716000 h 13741400"/>
                <a:gd name="T4" fmla="*/ 24396700 w 24409400"/>
                <a:gd name="T5" fmla="*/ 13728700 h 13741400"/>
                <a:gd name="T6" fmla="*/ 24384000 w 24409400"/>
                <a:gd name="T7" fmla="*/ 13728700 h 13741400"/>
                <a:gd name="T8" fmla="*/ 24384000 w 24409400"/>
                <a:gd name="T9" fmla="*/ 12700 h 13741400"/>
                <a:gd name="T10" fmla="*/ 24396700 w 24409400"/>
                <a:gd name="T11" fmla="*/ 12700 h 13741400"/>
                <a:gd name="T12" fmla="*/ 24396700 w 24409400"/>
                <a:gd name="T13" fmla="*/ 25400 h 13741400"/>
                <a:gd name="T14" fmla="*/ 12700 w 24409400"/>
                <a:gd name="T15" fmla="*/ 25400 h 13741400"/>
                <a:gd name="T16" fmla="*/ 12700 w 24409400"/>
                <a:gd name="T17" fmla="*/ 12700 h 13741400"/>
                <a:gd name="T18" fmla="*/ 25400 w 24409400"/>
                <a:gd name="T19" fmla="*/ 12700 h 13741400"/>
                <a:gd name="T20" fmla="*/ 25400 w 24409400"/>
                <a:gd name="T21" fmla="*/ 13728700 h 13741400"/>
                <a:gd name="T22" fmla="*/ 12700 w 24409400"/>
                <a:gd name="T23" fmla="*/ 13728700 h 13741400"/>
                <a:gd name="T24" fmla="*/ 12700 w 24409400"/>
                <a:gd name="T25" fmla="*/ 13716000 h 13741400"/>
                <a:gd name="T26" fmla="*/ 12700 w 24409400"/>
                <a:gd name="T27" fmla="*/ 13741400 h 13741400"/>
                <a:gd name="T28" fmla="*/ 0 w 24409400"/>
                <a:gd name="T29" fmla="*/ 13728700 h 13741400"/>
                <a:gd name="T30" fmla="*/ 0 w 24409400"/>
                <a:gd name="T31" fmla="*/ 12700 h 13741400"/>
                <a:gd name="T32" fmla="*/ 12700 w 24409400"/>
                <a:gd name="T33" fmla="*/ 0 h 13741400"/>
                <a:gd name="T34" fmla="*/ 24396700 w 24409400"/>
                <a:gd name="T35" fmla="*/ 0 h 13741400"/>
                <a:gd name="T36" fmla="*/ 24409400 w 24409400"/>
                <a:gd name="T37" fmla="*/ 12700 h 13741400"/>
                <a:gd name="T38" fmla="*/ 24409400 w 24409400"/>
                <a:gd name="T39" fmla="*/ 13728700 h 13741400"/>
                <a:gd name="T40" fmla="*/ 24396700 w 24409400"/>
                <a:gd name="T41" fmla="*/ 13741400 h 13741400"/>
                <a:gd name="T42" fmla="*/ 12700 w 24409400"/>
                <a:gd name="T43" fmla="*/ 13741400 h 1374140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24409400" h="13741400">
                  <a:moveTo>
                    <a:pt x="12700" y="13716000"/>
                  </a:moveTo>
                  <a:lnTo>
                    <a:pt x="24396700" y="13716000"/>
                  </a:lnTo>
                  <a:lnTo>
                    <a:pt x="24396700" y="13728700"/>
                  </a:lnTo>
                  <a:lnTo>
                    <a:pt x="24384000" y="13728700"/>
                  </a:lnTo>
                  <a:lnTo>
                    <a:pt x="24384000" y="12700"/>
                  </a:lnTo>
                  <a:lnTo>
                    <a:pt x="24396700" y="12700"/>
                  </a:lnTo>
                  <a:lnTo>
                    <a:pt x="24396700" y="25400"/>
                  </a:lnTo>
                  <a:lnTo>
                    <a:pt x="12700" y="25400"/>
                  </a:lnTo>
                  <a:lnTo>
                    <a:pt x="12700" y="12700"/>
                  </a:lnTo>
                  <a:lnTo>
                    <a:pt x="25400" y="12700"/>
                  </a:lnTo>
                  <a:lnTo>
                    <a:pt x="25400" y="13728700"/>
                  </a:lnTo>
                  <a:lnTo>
                    <a:pt x="12700" y="13728700"/>
                  </a:lnTo>
                  <a:lnTo>
                    <a:pt x="12700" y="13716000"/>
                  </a:lnTo>
                  <a:moveTo>
                    <a:pt x="12700" y="13741400"/>
                  </a:moveTo>
                  <a:cubicBezTo>
                    <a:pt x="5715" y="13741400"/>
                    <a:pt x="0" y="13735686"/>
                    <a:pt x="0" y="13728700"/>
                  </a:cubicBezTo>
                  <a:lnTo>
                    <a:pt x="0" y="12700"/>
                  </a:lnTo>
                  <a:cubicBezTo>
                    <a:pt x="0" y="5715"/>
                    <a:pt x="5715" y="0"/>
                    <a:pt x="12700" y="0"/>
                  </a:cubicBezTo>
                  <a:lnTo>
                    <a:pt x="24396700" y="0"/>
                  </a:lnTo>
                  <a:cubicBezTo>
                    <a:pt x="24403686" y="0"/>
                    <a:pt x="24409400" y="5715"/>
                    <a:pt x="24409400" y="12700"/>
                  </a:cubicBezTo>
                  <a:lnTo>
                    <a:pt x="24409400" y="13728700"/>
                  </a:lnTo>
                  <a:cubicBezTo>
                    <a:pt x="24409400" y="13735686"/>
                    <a:pt x="24403686" y="13741400"/>
                    <a:pt x="24396700" y="13741400"/>
                  </a:cubicBezTo>
                  <a:lnTo>
                    <a:pt x="12700" y="13741400"/>
                  </a:lnTo>
                  <a:close/>
                </a:path>
              </a:pathLst>
            </a:custGeom>
            <a:solidFill>
              <a:srgbClr val="BBBBB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32772" name="Group 8">
            <a:extLst>
              <a:ext uri="{FF2B5EF4-FFF2-40B4-BE49-F238E27FC236}">
                <a16:creationId xmlns:a16="http://schemas.microsoft.com/office/drawing/2014/main" id="{679FC59D-9440-D282-41C6-63AE8D983CB5}"/>
              </a:ext>
            </a:extLst>
          </p:cNvPr>
          <p:cNvGrpSpPr>
            <a:grpSpLocks noChangeAspect="1"/>
          </p:cNvGrpSpPr>
          <p:nvPr/>
        </p:nvGrpSpPr>
        <p:grpSpPr bwMode="auto">
          <a:xfrm>
            <a:off x="16473488" y="225425"/>
            <a:ext cx="1544637" cy="1828800"/>
            <a:chOff x="0" y="0"/>
            <a:chExt cx="2764788" cy="3274314"/>
          </a:xfrm>
        </p:grpSpPr>
        <p:sp>
          <p:nvSpPr>
            <p:cNvPr id="9" name="Freeform 9">
              <a:extLst>
                <a:ext uri="{FF2B5EF4-FFF2-40B4-BE49-F238E27FC236}">
                  <a16:creationId xmlns:a16="http://schemas.microsoft.com/office/drawing/2014/main" id="{BE7DABF9-9327-FEB7-81A8-95F8697C0B6E}"/>
                </a:ext>
              </a:extLst>
            </p:cNvPr>
            <p:cNvSpPr/>
            <p:nvPr/>
          </p:nvSpPr>
          <p:spPr>
            <a:xfrm>
              <a:off x="0" y="0"/>
              <a:ext cx="2764790" cy="3274314"/>
            </a:xfrm>
            <a:custGeom>
              <a:avLst/>
              <a:gdLst/>
              <a:ahLst/>
              <a:cxnLst/>
              <a:rect l="l" t="t" r="r" b="b"/>
              <a:pathLst>
                <a:path w="2764790" h="3274314">
                  <a:moveTo>
                    <a:pt x="0" y="0"/>
                  </a:moveTo>
                  <a:lnTo>
                    <a:pt x="2764790" y="0"/>
                  </a:lnTo>
                  <a:lnTo>
                    <a:pt x="2764790" y="3274314"/>
                  </a:lnTo>
                  <a:lnTo>
                    <a:pt x="0" y="3274314"/>
                  </a:lnTo>
                  <a:lnTo>
                    <a:pt x="0" y="0"/>
                  </a:lnTo>
                  <a:close/>
                </a:path>
              </a:pathLst>
            </a:custGeom>
            <a:blipFill>
              <a:blip r:embed="rId2"/>
              <a:stretch>
                <a:fillRect t="-190" b="-190"/>
              </a:stretch>
            </a:blipFill>
          </p:spPr>
          <p:txBody>
            <a:bodyPr/>
            <a:lstStyle/>
            <a:p>
              <a:pPr eaLnBrk="1" fontAlgn="auto" hangingPunct="1">
                <a:spcBef>
                  <a:spcPts val="0"/>
                </a:spcBef>
                <a:spcAft>
                  <a:spcPts val="0"/>
                </a:spcAft>
                <a:defRPr/>
              </a:pPr>
              <a:endParaRPr lang="nb-NO">
                <a:latin typeface="+mn-lt"/>
              </a:endParaRPr>
            </a:p>
          </p:txBody>
        </p:sp>
      </p:grpSp>
      <p:grpSp>
        <p:nvGrpSpPr>
          <p:cNvPr id="32773" name="Group 10">
            <a:extLst>
              <a:ext uri="{FF2B5EF4-FFF2-40B4-BE49-F238E27FC236}">
                <a16:creationId xmlns:a16="http://schemas.microsoft.com/office/drawing/2014/main" id="{96899804-2E6E-1746-E06F-78CD0EA6A03A}"/>
              </a:ext>
            </a:extLst>
          </p:cNvPr>
          <p:cNvGrpSpPr>
            <a:grpSpLocks noChangeAspect="1"/>
          </p:cNvGrpSpPr>
          <p:nvPr/>
        </p:nvGrpSpPr>
        <p:grpSpPr bwMode="auto">
          <a:xfrm>
            <a:off x="2054225" y="6473825"/>
            <a:ext cx="2860675" cy="2689225"/>
            <a:chOff x="-56703" y="-161335"/>
            <a:chExt cx="5707506" cy="4217924"/>
          </a:xfrm>
        </p:grpSpPr>
        <p:sp>
          <p:nvSpPr>
            <p:cNvPr id="11" name="Freeform 11">
              <a:extLst>
                <a:ext uri="{FF2B5EF4-FFF2-40B4-BE49-F238E27FC236}">
                  <a16:creationId xmlns:a16="http://schemas.microsoft.com/office/drawing/2014/main" id="{227CFCF1-211D-BEBC-C8D2-6739630251AF}"/>
                </a:ext>
              </a:extLst>
            </p:cNvPr>
            <p:cNvSpPr/>
            <p:nvPr/>
          </p:nvSpPr>
          <p:spPr>
            <a:xfrm>
              <a:off x="-56703" y="-161335"/>
              <a:ext cx="5707506" cy="4217924"/>
            </a:xfrm>
            <a:custGeom>
              <a:avLst/>
              <a:gdLst/>
              <a:ahLst/>
              <a:cxnLst/>
              <a:rect l="l" t="t" r="r" b="b"/>
              <a:pathLst>
                <a:path w="5707507" h="4217924">
                  <a:moveTo>
                    <a:pt x="0" y="0"/>
                  </a:moveTo>
                  <a:lnTo>
                    <a:pt x="5707507" y="0"/>
                  </a:lnTo>
                  <a:lnTo>
                    <a:pt x="5707507" y="4217924"/>
                  </a:lnTo>
                  <a:lnTo>
                    <a:pt x="0" y="4217924"/>
                  </a:lnTo>
                  <a:lnTo>
                    <a:pt x="0" y="0"/>
                  </a:lnTo>
                  <a:close/>
                </a:path>
              </a:pathLst>
            </a:custGeom>
            <a:blipFill>
              <a:blip r:embed="rId3"/>
              <a:stretch>
                <a:fillRect l="-50055" r="-50056"/>
              </a:stretch>
            </a:blipFill>
          </p:spPr>
          <p:txBody>
            <a:bodyPr/>
            <a:lstStyle/>
            <a:p>
              <a:pPr eaLnBrk="1" fontAlgn="auto" hangingPunct="1">
                <a:spcBef>
                  <a:spcPts val="0"/>
                </a:spcBef>
                <a:spcAft>
                  <a:spcPts val="0"/>
                </a:spcAft>
                <a:defRPr/>
              </a:pPr>
              <a:endParaRPr lang="nb-NO">
                <a:latin typeface="+mn-lt"/>
              </a:endParaRPr>
            </a:p>
          </p:txBody>
        </p:sp>
      </p:grpSp>
      <p:grpSp>
        <p:nvGrpSpPr>
          <p:cNvPr id="32774" name="Group 12">
            <a:extLst>
              <a:ext uri="{FF2B5EF4-FFF2-40B4-BE49-F238E27FC236}">
                <a16:creationId xmlns:a16="http://schemas.microsoft.com/office/drawing/2014/main" id="{4E38F517-1194-C0FA-369A-653E5D9F549E}"/>
              </a:ext>
            </a:extLst>
          </p:cNvPr>
          <p:cNvGrpSpPr>
            <a:grpSpLocks/>
          </p:cNvGrpSpPr>
          <p:nvPr/>
        </p:nvGrpSpPr>
        <p:grpSpPr bwMode="auto">
          <a:xfrm>
            <a:off x="3776663" y="8331200"/>
            <a:ext cx="2506662" cy="1403350"/>
            <a:chOff x="0" y="0"/>
            <a:chExt cx="3342894" cy="1872742"/>
          </a:xfrm>
        </p:grpSpPr>
        <p:sp>
          <p:nvSpPr>
            <p:cNvPr id="32795" name="Freeform 13">
              <a:extLst>
                <a:ext uri="{FF2B5EF4-FFF2-40B4-BE49-F238E27FC236}">
                  <a16:creationId xmlns:a16="http://schemas.microsoft.com/office/drawing/2014/main" id="{FFEB7048-CA2B-3EA1-8326-FBF8FAD0D49B}"/>
                </a:ext>
              </a:extLst>
            </p:cNvPr>
            <p:cNvSpPr>
              <a:spLocks/>
            </p:cNvSpPr>
            <p:nvPr/>
          </p:nvSpPr>
          <p:spPr bwMode="auto">
            <a:xfrm>
              <a:off x="0" y="0"/>
              <a:ext cx="3342894" cy="1872742"/>
            </a:xfrm>
            <a:custGeom>
              <a:avLst/>
              <a:gdLst>
                <a:gd name="T0" fmla="*/ 3030728 w 3342894"/>
                <a:gd name="T1" fmla="*/ 0 h 1872742"/>
                <a:gd name="T2" fmla="*/ 312166 w 3342894"/>
                <a:gd name="T3" fmla="*/ 0 h 1872742"/>
                <a:gd name="T4" fmla="*/ 213487 w 3342894"/>
                <a:gd name="T5" fmla="*/ 15875 h 1872742"/>
                <a:gd name="T6" fmla="*/ 127762 w 3342894"/>
                <a:gd name="T7" fmla="*/ 60198 h 1872742"/>
                <a:gd name="T8" fmla="*/ 60198 w 3342894"/>
                <a:gd name="T9" fmla="*/ 127762 h 1872742"/>
                <a:gd name="T10" fmla="*/ 15875 w 3342894"/>
                <a:gd name="T11" fmla="*/ 213487 h 1872742"/>
                <a:gd name="T12" fmla="*/ 0 w 3342894"/>
                <a:gd name="T13" fmla="*/ 312166 h 1872742"/>
                <a:gd name="T14" fmla="*/ 0 w 3342894"/>
                <a:gd name="T15" fmla="*/ 1560576 h 1872742"/>
                <a:gd name="T16" fmla="*/ 15875 w 3342894"/>
                <a:gd name="T17" fmla="*/ 1659255 h 1872742"/>
                <a:gd name="T18" fmla="*/ 60198 w 3342894"/>
                <a:gd name="T19" fmla="*/ 1744980 h 1872742"/>
                <a:gd name="T20" fmla="*/ 127762 w 3342894"/>
                <a:gd name="T21" fmla="*/ 1812544 h 1872742"/>
                <a:gd name="T22" fmla="*/ 213487 w 3342894"/>
                <a:gd name="T23" fmla="*/ 1856867 h 1872742"/>
                <a:gd name="T24" fmla="*/ 312166 w 3342894"/>
                <a:gd name="T25" fmla="*/ 1872742 h 1872742"/>
                <a:gd name="T26" fmla="*/ 3030728 w 3342894"/>
                <a:gd name="T27" fmla="*/ 1872742 h 1872742"/>
                <a:gd name="T28" fmla="*/ 3129407 w 3342894"/>
                <a:gd name="T29" fmla="*/ 1856867 h 1872742"/>
                <a:gd name="T30" fmla="*/ 3215132 w 3342894"/>
                <a:gd name="T31" fmla="*/ 1812544 h 1872742"/>
                <a:gd name="T32" fmla="*/ 3282696 w 3342894"/>
                <a:gd name="T33" fmla="*/ 1744980 h 1872742"/>
                <a:gd name="T34" fmla="*/ 3327019 w 3342894"/>
                <a:gd name="T35" fmla="*/ 1659255 h 1872742"/>
                <a:gd name="T36" fmla="*/ 3342894 w 3342894"/>
                <a:gd name="T37" fmla="*/ 1560576 h 1872742"/>
                <a:gd name="T38" fmla="*/ 3342894 w 3342894"/>
                <a:gd name="T39" fmla="*/ 312166 h 1872742"/>
                <a:gd name="T40" fmla="*/ 3327019 w 3342894"/>
                <a:gd name="T41" fmla="*/ 213487 h 1872742"/>
                <a:gd name="T42" fmla="*/ 3282696 w 3342894"/>
                <a:gd name="T43" fmla="*/ 127762 h 1872742"/>
                <a:gd name="T44" fmla="*/ 3215132 w 3342894"/>
                <a:gd name="T45" fmla="*/ 60198 h 1872742"/>
                <a:gd name="T46" fmla="*/ 3129407 w 3342894"/>
                <a:gd name="T47" fmla="*/ 15875 h 1872742"/>
                <a:gd name="T48" fmla="*/ 3030728 w 3342894"/>
                <a:gd name="T49" fmla="*/ 0 h 187274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3342894" h="1872742">
                  <a:moveTo>
                    <a:pt x="3030728" y="0"/>
                  </a:moveTo>
                  <a:lnTo>
                    <a:pt x="312166" y="0"/>
                  </a:lnTo>
                  <a:lnTo>
                    <a:pt x="213487" y="15875"/>
                  </a:lnTo>
                  <a:lnTo>
                    <a:pt x="127762" y="60198"/>
                  </a:lnTo>
                  <a:lnTo>
                    <a:pt x="60198" y="127762"/>
                  </a:lnTo>
                  <a:lnTo>
                    <a:pt x="15875" y="213487"/>
                  </a:lnTo>
                  <a:lnTo>
                    <a:pt x="0" y="312166"/>
                  </a:lnTo>
                  <a:lnTo>
                    <a:pt x="0" y="1560576"/>
                  </a:lnTo>
                  <a:lnTo>
                    <a:pt x="15875" y="1659255"/>
                  </a:lnTo>
                  <a:lnTo>
                    <a:pt x="60198" y="1744980"/>
                  </a:lnTo>
                  <a:lnTo>
                    <a:pt x="127762" y="1812544"/>
                  </a:lnTo>
                  <a:lnTo>
                    <a:pt x="213487" y="1856867"/>
                  </a:lnTo>
                  <a:lnTo>
                    <a:pt x="312166" y="1872742"/>
                  </a:lnTo>
                  <a:lnTo>
                    <a:pt x="3030728" y="1872742"/>
                  </a:lnTo>
                  <a:lnTo>
                    <a:pt x="3129407" y="1856867"/>
                  </a:lnTo>
                  <a:lnTo>
                    <a:pt x="3215132" y="1812544"/>
                  </a:lnTo>
                  <a:lnTo>
                    <a:pt x="3282696" y="1744980"/>
                  </a:lnTo>
                  <a:lnTo>
                    <a:pt x="3327019" y="1659255"/>
                  </a:lnTo>
                  <a:lnTo>
                    <a:pt x="3342894" y="1560576"/>
                  </a:lnTo>
                  <a:lnTo>
                    <a:pt x="3342894" y="312166"/>
                  </a:lnTo>
                  <a:lnTo>
                    <a:pt x="3327019" y="213487"/>
                  </a:lnTo>
                  <a:lnTo>
                    <a:pt x="3282696" y="127762"/>
                  </a:lnTo>
                  <a:lnTo>
                    <a:pt x="3215132" y="60198"/>
                  </a:lnTo>
                  <a:lnTo>
                    <a:pt x="3129407" y="15875"/>
                  </a:lnTo>
                  <a:lnTo>
                    <a:pt x="3030728" y="0"/>
                  </a:lnTo>
                  <a:close/>
                </a:path>
              </a:pathLst>
            </a:custGeom>
            <a:solidFill>
              <a:srgbClr val="F5F5F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14" name="Freeform 14">
            <a:extLst>
              <a:ext uri="{FF2B5EF4-FFF2-40B4-BE49-F238E27FC236}">
                <a16:creationId xmlns:a16="http://schemas.microsoft.com/office/drawing/2014/main" id="{4AF26BCA-8FEC-88E5-0075-9DAEB6D6BF9B}"/>
              </a:ext>
            </a:extLst>
          </p:cNvPr>
          <p:cNvSpPr/>
          <p:nvPr/>
        </p:nvSpPr>
        <p:spPr>
          <a:xfrm>
            <a:off x="3776663" y="8310563"/>
            <a:ext cx="2527300" cy="1423987"/>
          </a:xfrm>
          <a:custGeom>
            <a:avLst/>
            <a:gdLst/>
            <a:ahLst/>
            <a:cxnLst/>
            <a:rect l="l" t="t" r="r" b="b"/>
            <a:pathLst>
              <a:path w="2526983" h="1423988">
                <a:moveTo>
                  <a:pt x="0" y="0"/>
                </a:moveTo>
                <a:lnTo>
                  <a:pt x="2526983" y="0"/>
                </a:lnTo>
                <a:lnTo>
                  <a:pt x="2526983" y="1423988"/>
                </a:lnTo>
                <a:lnTo>
                  <a:pt x="0" y="1423988"/>
                </a:lnTo>
                <a:lnTo>
                  <a:pt x="0" y="0"/>
                </a:lnTo>
                <a:close/>
              </a:path>
            </a:pathLst>
          </a:custGeom>
          <a:blipFill>
            <a:blip r:embed="rId4"/>
            <a:stretch>
              <a:fillRect/>
            </a:stretch>
          </a:blipFill>
        </p:spPr>
        <p:txBody>
          <a:bodyPr/>
          <a:lstStyle/>
          <a:p>
            <a:pPr eaLnBrk="1" fontAlgn="auto" hangingPunct="1">
              <a:spcBef>
                <a:spcPts val="0"/>
              </a:spcBef>
              <a:spcAft>
                <a:spcPts val="0"/>
              </a:spcAft>
              <a:defRPr/>
            </a:pPr>
            <a:endParaRPr lang="nb-NO">
              <a:latin typeface="+mn-lt"/>
            </a:endParaRPr>
          </a:p>
        </p:txBody>
      </p:sp>
      <p:sp>
        <p:nvSpPr>
          <p:cNvPr id="15" name="TextBox 15">
            <a:extLst>
              <a:ext uri="{FF2B5EF4-FFF2-40B4-BE49-F238E27FC236}">
                <a16:creationId xmlns:a16="http://schemas.microsoft.com/office/drawing/2014/main" id="{81753C67-D067-7D8C-F960-3A56DBDE8C30}"/>
              </a:ext>
            </a:extLst>
          </p:cNvPr>
          <p:cNvSpPr txBox="1">
            <a:spLocks/>
          </p:cNvSpPr>
          <p:nvPr/>
        </p:nvSpPr>
        <p:spPr>
          <a:xfrm>
            <a:off x="4573588" y="8466138"/>
            <a:ext cx="844550" cy="484187"/>
          </a:xfrm>
          <a:prstGeom prst="rect">
            <a:avLst/>
          </a:prstGeom>
        </p:spPr>
        <p:txBody>
          <a:bodyPr lIns="0" tIns="0" rIns="0" bIns="0">
            <a:spAutoFit/>
          </a:bodyPr>
          <a:lstStyle/>
          <a:p>
            <a:pPr eaLnBrk="1" fontAlgn="auto" hangingPunct="1">
              <a:lnSpc>
                <a:spcPts val="3600"/>
              </a:lnSpc>
              <a:spcBef>
                <a:spcPts val="0"/>
              </a:spcBef>
              <a:spcAft>
                <a:spcPts val="0"/>
              </a:spcAft>
              <a:defRPr/>
            </a:pPr>
            <a:r>
              <a:rPr lang="en-US" sz="3000" spc="-44" dirty="0">
                <a:solidFill>
                  <a:srgbClr val="0D2841"/>
                </a:solidFill>
                <a:latin typeface="Merriweather Sans"/>
                <a:ea typeface="Merriweather Sans"/>
                <a:cs typeface="Merriweather Sans"/>
                <a:sym typeface="Merriweather Sans"/>
              </a:rPr>
              <a:t>Oslo</a:t>
            </a:r>
          </a:p>
        </p:txBody>
      </p:sp>
      <p:sp>
        <p:nvSpPr>
          <p:cNvPr id="16" name="TextBox 16">
            <a:extLst>
              <a:ext uri="{FF2B5EF4-FFF2-40B4-BE49-F238E27FC236}">
                <a16:creationId xmlns:a16="http://schemas.microsoft.com/office/drawing/2014/main" id="{180728D8-1C4C-6967-D8F8-A85CD5354068}"/>
              </a:ext>
            </a:extLst>
          </p:cNvPr>
          <p:cNvSpPr txBox="1">
            <a:spLocks/>
          </p:cNvSpPr>
          <p:nvPr/>
        </p:nvSpPr>
        <p:spPr>
          <a:xfrm>
            <a:off x="4279900" y="8853488"/>
            <a:ext cx="1431925" cy="692150"/>
          </a:xfrm>
          <a:prstGeom prst="rect">
            <a:avLst/>
          </a:prstGeom>
        </p:spPr>
        <p:txBody>
          <a:bodyPr lIns="0" tIns="0" rIns="0" bIns="0">
            <a:spAutoFit/>
          </a:bodyPr>
          <a:lstStyle/>
          <a:p>
            <a:pPr algn="ctr" eaLnBrk="1" fontAlgn="auto" hangingPunct="1">
              <a:lnSpc>
                <a:spcPts val="1800"/>
              </a:lnSpc>
              <a:spcBef>
                <a:spcPts val="0"/>
              </a:spcBef>
              <a:spcAft>
                <a:spcPts val="0"/>
              </a:spcAft>
              <a:defRPr/>
            </a:pPr>
            <a:r>
              <a:rPr lang="en-US" sz="1500" spc="-37" dirty="0" err="1">
                <a:solidFill>
                  <a:srgbClr val="0D2841"/>
                </a:solidFill>
                <a:latin typeface="Merriweather Sans"/>
                <a:ea typeface="Merriweather Sans"/>
                <a:cs typeface="Merriweather Sans"/>
                <a:sym typeface="Merriweather Sans"/>
              </a:rPr>
              <a:t>Frøyas</a:t>
            </a:r>
            <a:r>
              <a:rPr lang="en-US" sz="1500" spc="-37" dirty="0">
                <a:solidFill>
                  <a:srgbClr val="0D2841"/>
                </a:solidFill>
                <a:latin typeface="Merriweather Sans"/>
                <a:ea typeface="Merriweather Sans"/>
                <a:cs typeface="Merriweather Sans"/>
                <a:sym typeface="Merriweather Sans"/>
              </a:rPr>
              <a:t> gate 15</a:t>
            </a:r>
          </a:p>
          <a:p>
            <a:pPr algn="ctr" eaLnBrk="1" fontAlgn="auto" hangingPunct="1">
              <a:lnSpc>
                <a:spcPts val="1800"/>
              </a:lnSpc>
              <a:spcBef>
                <a:spcPts val="0"/>
              </a:spcBef>
              <a:spcAft>
                <a:spcPts val="0"/>
              </a:spcAft>
              <a:defRPr/>
            </a:pPr>
            <a:r>
              <a:rPr lang="en-US" sz="1500" spc="-29" dirty="0">
                <a:solidFill>
                  <a:srgbClr val="0D2841"/>
                </a:solidFill>
                <a:latin typeface="Merriweather Sans"/>
                <a:ea typeface="Merriweather Sans"/>
                <a:cs typeface="Merriweather Sans"/>
                <a:sym typeface="Merriweather Sans"/>
              </a:rPr>
              <a:t>0273 Oslo</a:t>
            </a:r>
          </a:p>
          <a:p>
            <a:pPr algn="ctr" eaLnBrk="1" fontAlgn="auto" hangingPunct="1">
              <a:lnSpc>
                <a:spcPts val="1800"/>
              </a:lnSpc>
              <a:spcBef>
                <a:spcPts val="0"/>
              </a:spcBef>
              <a:spcAft>
                <a:spcPts val="0"/>
              </a:spcAft>
              <a:defRPr/>
            </a:pPr>
            <a:r>
              <a:rPr lang="en-US" sz="1500" spc="-127" dirty="0">
                <a:solidFill>
                  <a:srgbClr val="0D2841"/>
                </a:solidFill>
                <a:latin typeface="Merriweather Sans"/>
                <a:ea typeface="Merriweather Sans"/>
                <a:cs typeface="Merriweather Sans"/>
                <a:sym typeface="Merriweather Sans"/>
              </a:rPr>
              <a:t>+47  23  89  68  44</a:t>
            </a:r>
          </a:p>
        </p:txBody>
      </p:sp>
      <p:grpSp>
        <p:nvGrpSpPr>
          <p:cNvPr id="32778" name="Group 17">
            <a:extLst>
              <a:ext uri="{FF2B5EF4-FFF2-40B4-BE49-F238E27FC236}">
                <a16:creationId xmlns:a16="http://schemas.microsoft.com/office/drawing/2014/main" id="{7C2773BD-1914-E7A4-117A-4A9425493387}"/>
              </a:ext>
            </a:extLst>
          </p:cNvPr>
          <p:cNvGrpSpPr>
            <a:grpSpLocks noChangeAspect="1"/>
          </p:cNvGrpSpPr>
          <p:nvPr/>
        </p:nvGrpSpPr>
        <p:grpSpPr bwMode="auto">
          <a:xfrm>
            <a:off x="7612063" y="6453188"/>
            <a:ext cx="2860675" cy="2654300"/>
            <a:chOff x="0" y="0"/>
            <a:chExt cx="5707380" cy="4217922"/>
          </a:xfrm>
        </p:grpSpPr>
        <p:sp>
          <p:nvSpPr>
            <p:cNvPr id="18" name="Freeform 18">
              <a:extLst>
                <a:ext uri="{FF2B5EF4-FFF2-40B4-BE49-F238E27FC236}">
                  <a16:creationId xmlns:a16="http://schemas.microsoft.com/office/drawing/2014/main" id="{CF8E468B-EEAC-A840-FC3D-CF371CC44AC1}"/>
                </a:ext>
              </a:extLst>
            </p:cNvPr>
            <p:cNvSpPr/>
            <p:nvPr/>
          </p:nvSpPr>
          <p:spPr>
            <a:xfrm>
              <a:off x="0" y="0"/>
              <a:ext cx="5707380" cy="4217924"/>
            </a:xfrm>
            <a:custGeom>
              <a:avLst/>
              <a:gdLst/>
              <a:ahLst/>
              <a:cxnLst/>
              <a:rect l="l" t="t" r="r" b="b"/>
              <a:pathLst>
                <a:path w="5707380" h="4217924">
                  <a:moveTo>
                    <a:pt x="0" y="0"/>
                  </a:moveTo>
                  <a:lnTo>
                    <a:pt x="5707380" y="0"/>
                  </a:lnTo>
                  <a:lnTo>
                    <a:pt x="5707380" y="4217924"/>
                  </a:lnTo>
                  <a:lnTo>
                    <a:pt x="0" y="4217924"/>
                  </a:lnTo>
                  <a:lnTo>
                    <a:pt x="0" y="0"/>
                  </a:lnTo>
                  <a:close/>
                </a:path>
              </a:pathLst>
            </a:custGeom>
            <a:blipFill>
              <a:blip r:embed="rId5"/>
              <a:stretch>
                <a:fillRect l="-50058" r="-50058"/>
              </a:stretch>
            </a:blipFill>
          </p:spPr>
          <p:txBody>
            <a:bodyPr/>
            <a:lstStyle/>
            <a:p>
              <a:pPr eaLnBrk="1" fontAlgn="auto" hangingPunct="1">
                <a:spcBef>
                  <a:spcPts val="0"/>
                </a:spcBef>
                <a:spcAft>
                  <a:spcPts val="0"/>
                </a:spcAft>
                <a:defRPr/>
              </a:pPr>
              <a:endParaRPr lang="nb-NO">
                <a:latin typeface="+mn-lt"/>
              </a:endParaRPr>
            </a:p>
          </p:txBody>
        </p:sp>
      </p:grpSp>
      <p:grpSp>
        <p:nvGrpSpPr>
          <p:cNvPr id="32779" name="Group 19">
            <a:extLst>
              <a:ext uri="{FF2B5EF4-FFF2-40B4-BE49-F238E27FC236}">
                <a16:creationId xmlns:a16="http://schemas.microsoft.com/office/drawing/2014/main" id="{3C376DEE-AA30-4AFB-6031-A3E24BCA0519}"/>
              </a:ext>
            </a:extLst>
          </p:cNvPr>
          <p:cNvGrpSpPr>
            <a:grpSpLocks/>
          </p:cNvGrpSpPr>
          <p:nvPr/>
        </p:nvGrpSpPr>
        <p:grpSpPr bwMode="auto">
          <a:xfrm>
            <a:off x="8809038" y="8307388"/>
            <a:ext cx="2508250" cy="1404937"/>
            <a:chOff x="0" y="0"/>
            <a:chExt cx="3343910" cy="1873250"/>
          </a:xfrm>
        </p:grpSpPr>
        <p:sp>
          <p:nvSpPr>
            <p:cNvPr id="32791" name="Freeform 20">
              <a:extLst>
                <a:ext uri="{FF2B5EF4-FFF2-40B4-BE49-F238E27FC236}">
                  <a16:creationId xmlns:a16="http://schemas.microsoft.com/office/drawing/2014/main" id="{C8470AC6-96CF-4A22-6A43-BD373413DC64}"/>
                </a:ext>
              </a:extLst>
            </p:cNvPr>
            <p:cNvSpPr>
              <a:spLocks/>
            </p:cNvSpPr>
            <p:nvPr/>
          </p:nvSpPr>
          <p:spPr bwMode="auto">
            <a:xfrm>
              <a:off x="0" y="0"/>
              <a:ext cx="3342894" cy="1872742"/>
            </a:xfrm>
            <a:custGeom>
              <a:avLst/>
              <a:gdLst>
                <a:gd name="T0" fmla="*/ 3030728 w 3342894"/>
                <a:gd name="T1" fmla="*/ 0 h 1872742"/>
                <a:gd name="T2" fmla="*/ 312166 w 3342894"/>
                <a:gd name="T3" fmla="*/ 0 h 1872742"/>
                <a:gd name="T4" fmla="*/ 213487 w 3342894"/>
                <a:gd name="T5" fmla="*/ 15875 h 1872742"/>
                <a:gd name="T6" fmla="*/ 127762 w 3342894"/>
                <a:gd name="T7" fmla="*/ 60198 h 1872742"/>
                <a:gd name="T8" fmla="*/ 60198 w 3342894"/>
                <a:gd name="T9" fmla="*/ 127762 h 1872742"/>
                <a:gd name="T10" fmla="*/ 15875 w 3342894"/>
                <a:gd name="T11" fmla="*/ 213487 h 1872742"/>
                <a:gd name="T12" fmla="*/ 0 w 3342894"/>
                <a:gd name="T13" fmla="*/ 312166 h 1872742"/>
                <a:gd name="T14" fmla="*/ 0 w 3342894"/>
                <a:gd name="T15" fmla="*/ 1560576 h 1872742"/>
                <a:gd name="T16" fmla="*/ 15875 w 3342894"/>
                <a:gd name="T17" fmla="*/ 1659255 h 1872742"/>
                <a:gd name="T18" fmla="*/ 60198 w 3342894"/>
                <a:gd name="T19" fmla="*/ 1744980 h 1872742"/>
                <a:gd name="T20" fmla="*/ 127762 w 3342894"/>
                <a:gd name="T21" fmla="*/ 1812544 h 1872742"/>
                <a:gd name="T22" fmla="*/ 213487 w 3342894"/>
                <a:gd name="T23" fmla="*/ 1856867 h 1872742"/>
                <a:gd name="T24" fmla="*/ 312166 w 3342894"/>
                <a:gd name="T25" fmla="*/ 1872742 h 1872742"/>
                <a:gd name="T26" fmla="*/ 3030728 w 3342894"/>
                <a:gd name="T27" fmla="*/ 1872742 h 1872742"/>
                <a:gd name="T28" fmla="*/ 3129407 w 3342894"/>
                <a:gd name="T29" fmla="*/ 1856867 h 1872742"/>
                <a:gd name="T30" fmla="*/ 3215132 w 3342894"/>
                <a:gd name="T31" fmla="*/ 1812544 h 1872742"/>
                <a:gd name="T32" fmla="*/ 3282696 w 3342894"/>
                <a:gd name="T33" fmla="*/ 1744980 h 1872742"/>
                <a:gd name="T34" fmla="*/ 3327019 w 3342894"/>
                <a:gd name="T35" fmla="*/ 1659255 h 1872742"/>
                <a:gd name="T36" fmla="*/ 3342894 w 3342894"/>
                <a:gd name="T37" fmla="*/ 1560576 h 1872742"/>
                <a:gd name="T38" fmla="*/ 3342894 w 3342894"/>
                <a:gd name="T39" fmla="*/ 312166 h 1872742"/>
                <a:gd name="T40" fmla="*/ 3327019 w 3342894"/>
                <a:gd name="T41" fmla="*/ 213487 h 1872742"/>
                <a:gd name="T42" fmla="*/ 3282696 w 3342894"/>
                <a:gd name="T43" fmla="*/ 127762 h 1872742"/>
                <a:gd name="T44" fmla="*/ 3215132 w 3342894"/>
                <a:gd name="T45" fmla="*/ 60198 h 1872742"/>
                <a:gd name="T46" fmla="*/ 3129407 w 3342894"/>
                <a:gd name="T47" fmla="*/ 15875 h 1872742"/>
                <a:gd name="T48" fmla="*/ 3030728 w 3342894"/>
                <a:gd name="T49" fmla="*/ 0 h 187274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3342894" h="1872742">
                  <a:moveTo>
                    <a:pt x="3030728" y="0"/>
                  </a:moveTo>
                  <a:lnTo>
                    <a:pt x="312166" y="0"/>
                  </a:lnTo>
                  <a:lnTo>
                    <a:pt x="213487" y="15875"/>
                  </a:lnTo>
                  <a:lnTo>
                    <a:pt x="127762" y="60198"/>
                  </a:lnTo>
                  <a:lnTo>
                    <a:pt x="60198" y="127762"/>
                  </a:lnTo>
                  <a:lnTo>
                    <a:pt x="15875" y="213487"/>
                  </a:lnTo>
                  <a:lnTo>
                    <a:pt x="0" y="312166"/>
                  </a:lnTo>
                  <a:lnTo>
                    <a:pt x="0" y="1560576"/>
                  </a:lnTo>
                  <a:lnTo>
                    <a:pt x="15875" y="1659255"/>
                  </a:lnTo>
                  <a:lnTo>
                    <a:pt x="60198" y="1744980"/>
                  </a:lnTo>
                  <a:lnTo>
                    <a:pt x="127762" y="1812544"/>
                  </a:lnTo>
                  <a:lnTo>
                    <a:pt x="213487" y="1856867"/>
                  </a:lnTo>
                  <a:lnTo>
                    <a:pt x="312166" y="1872742"/>
                  </a:lnTo>
                  <a:lnTo>
                    <a:pt x="3030728" y="1872742"/>
                  </a:lnTo>
                  <a:lnTo>
                    <a:pt x="3129407" y="1856867"/>
                  </a:lnTo>
                  <a:lnTo>
                    <a:pt x="3215132" y="1812544"/>
                  </a:lnTo>
                  <a:lnTo>
                    <a:pt x="3282696" y="1744980"/>
                  </a:lnTo>
                  <a:lnTo>
                    <a:pt x="3327019" y="1659255"/>
                  </a:lnTo>
                  <a:lnTo>
                    <a:pt x="3342894" y="1560576"/>
                  </a:lnTo>
                  <a:lnTo>
                    <a:pt x="3342894" y="312166"/>
                  </a:lnTo>
                  <a:lnTo>
                    <a:pt x="3327019" y="213487"/>
                  </a:lnTo>
                  <a:lnTo>
                    <a:pt x="3282696" y="127762"/>
                  </a:lnTo>
                  <a:lnTo>
                    <a:pt x="3215132" y="60198"/>
                  </a:lnTo>
                  <a:lnTo>
                    <a:pt x="3129407" y="15875"/>
                  </a:lnTo>
                  <a:lnTo>
                    <a:pt x="3030728" y="0"/>
                  </a:lnTo>
                  <a:close/>
                </a:path>
              </a:pathLst>
            </a:custGeom>
            <a:solidFill>
              <a:srgbClr val="F5F5F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22" name="TextBox 22">
            <a:extLst>
              <a:ext uri="{FF2B5EF4-FFF2-40B4-BE49-F238E27FC236}">
                <a16:creationId xmlns:a16="http://schemas.microsoft.com/office/drawing/2014/main" id="{2560A504-F996-0AD2-ACD1-9CD8ADFA2188}"/>
              </a:ext>
            </a:extLst>
          </p:cNvPr>
          <p:cNvSpPr txBox="1"/>
          <p:nvPr/>
        </p:nvSpPr>
        <p:spPr>
          <a:xfrm>
            <a:off x="9037638" y="8439150"/>
            <a:ext cx="2051050" cy="1154113"/>
          </a:xfrm>
          <a:prstGeom prst="rect">
            <a:avLst/>
          </a:prstGeom>
        </p:spPr>
        <p:txBody>
          <a:bodyPr lIns="0" tIns="0" rIns="0" bIns="0">
            <a:spAutoFit/>
          </a:bodyPr>
          <a:lstStyle/>
          <a:p>
            <a:pPr algn="ctr" eaLnBrk="1" fontAlgn="auto" hangingPunct="1">
              <a:lnSpc>
                <a:spcPts val="3600"/>
              </a:lnSpc>
              <a:spcBef>
                <a:spcPts val="0"/>
              </a:spcBef>
              <a:spcAft>
                <a:spcPts val="0"/>
              </a:spcAft>
              <a:defRPr/>
            </a:pPr>
            <a:r>
              <a:rPr lang="en-US" sz="3000" spc="-44" dirty="0" err="1">
                <a:solidFill>
                  <a:srgbClr val="0D2841"/>
                </a:solidFill>
                <a:latin typeface="Merriweather Sans"/>
                <a:ea typeface="Merriweather Sans"/>
                <a:cs typeface="Merriweather Sans"/>
                <a:sym typeface="Merriweather Sans"/>
              </a:rPr>
              <a:t>Fredrikstad</a:t>
            </a:r>
            <a:endParaRPr lang="en-US" sz="3000" spc="-44" dirty="0">
              <a:solidFill>
                <a:srgbClr val="0D2841"/>
              </a:solidFill>
              <a:latin typeface="Merriweather Sans"/>
              <a:ea typeface="Merriweather Sans"/>
              <a:cs typeface="Merriweather Sans"/>
              <a:sym typeface="Merriweather Sans"/>
            </a:endParaRPr>
          </a:p>
          <a:p>
            <a:pPr algn="ctr" eaLnBrk="1" fontAlgn="auto" hangingPunct="1">
              <a:lnSpc>
                <a:spcPts val="1800"/>
              </a:lnSpc>
              <a:spcBef>
                <a:spcPts val="0"/>
              </a:spcBef>
              <a:spcAft>
                <a:spcPts val="0"/>
              </a:spcAft>
              <a:defRPr/>
            </a:pPr>
            <a:r>
              <a:rPr lang="en-US" sz="1500" spc="-37" dirty="0" err="1">
                <a:solidFill>
                  <a:srgbClr val="0D2841"/>
                </a:solidFill>
                <a:latin typeface="Merriweather Sans"/>
                <a:ea typeface="Merriweather Sans"/>
                <a:cs typeface="Merriweather Sans"/>
                <a:sym typeface="Merriweather Sans"/>
              </a:rPr>
              <a:t>Storgaten</a:t>
            </a:r>
            <a:r>
              <a:rPr lang="en-US" sz="1500" spc="-37" dirty="0">
                <a:solidFill>
                  <a:srgbClr val="0D2841"/>
                </a:solidFill>
                <a:latin typeface="Merriweather Sans"/>
                <a:ea typeface="Merriweather Sans"/>
                <a:cs typeface="Merriweather Sans"/>
                <a:sym typeface="Merriweather Sans"/>
              </a:rPr>
              <a:t> 3</a:t>
            </a:r>
          </a:p>
          <a:p>
            <a:pPr algn="ctr" eaLnBrk="1" fontAlgn="auto" hangingPunct="1">
              <a:lnSpc>
                <a:spcPts val="1800"/>
              </a:lnSpc>
              <a:spcBef>
                <a:spcPts val="0"/>
              </a:spcBef>
              <a:spcAft>
                <a:spcPts val="0"/>
              </a:spcAft>
              <a:defRPr/>
            </a:pPr>
            <a:r>
              <a:rPr lang="en-US" sz="1500" spc="-14" dirty="0">
                <a:solidFill>
                  <a:srgbClr val="0D2841"/>
                </a:solidFill>
                <a:latin typeface="Merriweather Sans"/>
                <a:ea typeface="Merriweather Sans"/>
                <a:cs typeface="Merriweather Sans"/>
                <a:sym typeface="Merriweather Sans"/>
              </a:rPr>
              <a:t>1607 </a:t>
            </a:r>
            <a:r>
              <a:rPr lang="en-US" sz="1500" spc="-14" dirty="0" err="1">
                <a:solidFill>
                  <a:srgbClr val="0D2841"/>
                </a:solidFill>
                <a:latin typeface="Merriweather Sans"/>
                <a:ea typeface="Merriweather Sans"/>
                <a:cs typeface="Merriweather Sans"/>
                <a:sym typeface="Merriweather Sans"/>
              </a:rPr>
              <a:t>Fredrikstad</a:t>
            </a:r>
            <a:endParaRPr lang="en-US" sz="1500" spc="-14" dirty="0">
              <a:solidFill>
                <a:srgbClr val="0D2841"/>
              </a:solidFill>
              <a:latin typeface="Merriweather Sans"/>
              <a:ea typeface="Merriweather Sans"/>
              <a:cs typeface="Merriweather Sans"/>
              <a:sym typeface="Merriweather Sans"/>
            </a:endParaRPr>
          </a:p>
          <a:p>
            <a:pPr algn="ctr" eaLnBrk="1" fontAlgn="auto" hangingPunct="1">
              <a:lnSpc>
                <a:spcPts val="1800"/>
              </a:lnSpc>
              <a:spcBef>
                <a:spcPts val="0"/>
              </a:spcBef>
              <a:spcAft>
                <a:spcPts val="0"/>
              </a:spcAft>
              <a:defRPr/>
            </a:pPr>
            <a:r>
              <a:rPr lang="en-US" sz="1500" spc="-127" dirty="0">
                <a:solidFill>
                  <a:srgbClr val="0D2841"/>
                </a:solidFill>
                <a:latin typeface="Merriweather Sans"/>
                <a:ea typeface="Merriweather Sans"/>
                <a:cs typeface="Merriweather Sans"/>
                <a:sym typeface="Merriweather Sans"/>
              </a:rPr>
              <a:t>+47  23  89  68  44</a:t>
            </a:r>
          </a:p>
        </p:txBody>
      </p:sp>
      <p:grpSp>
        <p:nvGrpSpPr>
          <p:cNvPr id="32781" name="Group 23">
            <a:extLst>
              <a:ext uri="{FF2B5EF4-FFF2-40B4-BE49-F238E27FC236}">
                <a16:creationId xmlns:a16="http://schemas.microsoft.com/office/drawing/2014/main" id="{04A33D07-50C8-36E1-61FB-EDC473ECE071}"/>
              </a:ext>
            </a:extLst>
          </p:cNvPr>
          <p:cNvGrpSpPr>
            <a:grpSpLocks noChangeAspect="1"/>
          </p:cNvGrpSpPr>
          <p:nvPr/>
        </p:nvGrpSpPr>
        <p:grpSpPr bwMode="auto">
          <a:xfrm>
            <a:off x="13169900" y="6453188"/>
            <a:ext cx="2879725" cy="2654300"/>
            <a:chOff x="0" y="0"/>
            <a:chExt cx="5707634" cy="4309364"/>
          </a:xfrm>
        </p:grpSpPr>
        <p:sp>
          <p:nvSpPr>
            <p:cNvPr id="24" name="Freeform 24">
              <a:extLst>
                <a:ext uri="{FF2B5EF4-FFF2-40B4-BE49-F238E27FC236}">
                  <a16:creationId xmlns:a16="http://schemas.microsoft.com/office/drawing/2014/main" id="{788551F2-3388-D89A-C753-7705E41D2239}"/>
                </a:ext>
              </a:extLst>
            </p:cNvPr>
            <p:cNvSpPr/>
            <p:nvPr/>
          </p:nvSpPr>
          <p:spPr>
            <a:xfrm>
              <a:off x="0" y="0"/>
              <a:ext cx="5707634" cy="4309364"/>
            </a:xfrm>
            <a:custGeom>
              <a:avLst/>
              <a:gdLst/>
              <a:ahLst/>
              <a:cxnLst/>
              <a:rect l="l" t="t" r="r" b="b"/>
              <a:pathLst>
                <a:path w="5707634" h="4309364">
                  <a:moveTo>
                    <a:pt x="0" y="0"/>
                  </a:moveTo>
                  <a:lnTo>
                    <a:pt x="5707634" y="0"/>
                  </a:lnTo>
                  <a:lnTo>
                    <a:pt x="5707634" y="4309364"/>
                  </a:lnTo>
                  <a:lnTo>
                    <a:pt x="0" y="4309364"/>
                  </a:lnTo>
                  <a:lnTo>
                    <a:pt x="0" y="0"/>
                  </a:lnTo>
                  <a:close/>
                </a:path>
              </a:pathLst>
            </a:custGeom>
            <a:blipFill>
              <a:blip r:embed="rId6"/>
              <a:stretch>
                <a:fillRect l="-50112" r="-50112"/>
              </a:stretch>
            </a:blipFill>
          </p:spPr>
          <p:txBody>
            <a:bodyPr/>
            <a:lstStyle/>
            <a:p>
              <a:pPr eaLnBrk="1" fontAlgn="auto" hangingPunct="1">
                <a:spcBef>
                  <a:spcPts val="0"/>
                </a:spcBef>
                <a:spcAft>
                  <a:spcPts val="0"/>
                </a:spcAft>
                <a:defRPr/>
              </a:pPr>
              <a:endParaRPr lang="nb-NO">
                <a:latin typeface="+mn-lt"/>
              </a:endParaRPr>
            </a:p>
          </p:txBody>
        </p:sp>
      </p:grpSp>
      <p:grpSp>
        <p:nvGrpSpPr>
          <p:cNvPr id="32782" name="Group 25">
            <a:extLst>
              <a:ext uri="{FF2B5EF4-FFF2-40B4-BE49-F238E27FC236}">
                <a16:creationId xmlns:a16="http://schemas.microsoft.com/office/drawing/2014/main" id="{E3083AA4-C54F-FD5D-A654-BB86AE521F9B}"/>
              </a:ext>
            </a:extLst>
          </p:cNvPr>
          <p:cNvGrpSpPr>
            <a:grpSpLocks/>
          </p:cNvGrpSpPr>
          <p:nvPr/>
        </p:nvGrpSpPr>
        <p:grpSpPr bwMode="auto">
          <a:xfrm>
            <a:off x="14087475" y="8297863"/>
            <a:ext cx="2697163" cy="1381125"/>
            <a:chOff x="0" y="0"/>
            <a:chExt cx="3596640" cy="1841500"/>
          </a:xfrm>
        </p:grpSpPr>
        <p:sp>
          <p:nvSpPr>
            <p:cNvPr id="32787" name="Freeform 26">
              <a:extLst>
                <a:ext uri="{FF2B5EF4-FFF2-40B4-BE49-F238E27FC236}">
                  <a16:creationId xmlns:a16="http://schemas.microsoft.com/office/drawing/2014/main" id="{3F58ABD8-2CB6-5F4A-3550-534087B80DE7}"/>
                </a:ext>
              </a:extLst>
            </p:cNvPr>
            <p:cNvSpPr>
              <a:spLocks/>
            </p:cNvSpPr>
            <p:nvPr/>
          </p:nvSpPr>
          <p:spPr bwMode="auto">
            <a:xfrm>
              <a:off x="0" y="0"/>
              <a:ext cx="3595878" cy="1840484"/>
            </a:xfrm>
            <a:custGeom>
              <a:avLst/>
              <a:gdLst>
                <a:gd name="T0" fmla="*/ 3289046 w 3595878"/>
                <a:gd name="T1" fmla="*/ 0 h 1840484"/>
                <a:gd name="T2" fmla="*/ 306832 w 3595878"/>
                <a:gd name="T3" fmla="*/ 0 h 1840484"/>
                <a:gd name="T4" fmla="*/ 209804 w 3595878"/>
                <a:gd name="T5" fmla="*/ 15621 h 1840484"/>
                <a:gd name="T6" fmla="*/ 125603 w 3595878"/>
                <a:gd name="T7" fmla="*/ 59182 h 1840484"/>
                <a:gd name="T8" fmla="*/ 59182 w 3595878"/>
                <a:gd name="T9" fmla="*/ 125603 h 1840484"/>
                <a:gd name="T10" fmla="*/ 15621 w 3595878"/>
                <a:gd name="T11" fmla="*/ 209804 h 1840484"/>
                <a:gd name="T12" fmla="*/ 0 w 3595878"/>
                <a:gd name="T13" fmla="*/ 306832 h 1840484"/>
                <a:gd name="T14" fmla="*/ 0 w 3595878"/>
                <a:gd name="T15" fmla="*/ 1533652 h 1840484"/>
                <a:gd name="T16" fmla="*/ 15621 w 3595878"/>
                <a:gd name="T17" fmla="*/ 1630680 h 1840484"/>
                <a:gd name="T18" fmla="*/ 59182 w 3595878"/>
                <a:gd name="T19" fmla="*/ 1714881 h 1840484"/>
                <a:gd name="T20" fmla="*/ 125603 w 3595878"/>
                <a:gd name="T21" fmla="*/ 1781302 h 1840484"/>
                <a:gd name="T22" fmla="*/ 209804 w 3595878"/>
                <a:gd name="T23" fmla="*/ 1824863 h 1840484"/>
                <a:gd name="T24" fmla="*/ 306832 w 3595878"/>
                <a:gd name="T25" fmla="*/ 1840484 h 1840484"/>
                <a:gd name="T26" fmla="*/ 3289046 w 3595878"/>
                <a:gd name="T27" fmla="*/ 1840484 h 1840484"/>
                <a:gd name="T28" fmla="*/ 3386074 w 3595878"/>
                <a:gd name="T29" fmla="*/ 1824863 h 1840484"/>
                <a:gd name="T30" fmla="*/ 3470275 w 3595878"/>
                <a:gd name="T31" fmla="*/ 1781302 h 1840484"/>
                <a:gd name="T32" fmla="*/ 3536696 w 3595878"/>
                <a:gd name="T33" fmla="*/ 1714881 h 1840484"/>
                <a:gd name="T34" fmla="*/ 3580257 w 3595878"/>
                <a:gd name="T35" fmla="*/ 1630680 h 1840484"/>
                <a:gd name="T36" fmla="*/ 3595878 w 3595878"/>
                <a:gd name="T37" fmla="*/ 1533652 h 1840484"/>
                <a:gd name="T38" fmla="*/ 3595878 w 3595878"/>
                <a:gd name="T39" fmla="*/ 306832 h 1840484"/>
                <a:gd name="T40" fmla="*/ 3580257 w 3595878"/>
                <a:gd name="T41" fmla="*/ 209804 h 1840484"/>
                <a:gd name="T42" fmla="*/ 3536696 w 3595878"/>
                <a:gd name="T43" fmla="*/ 125603 h 1840484"/>
                <a:gd name="T44" fmla="*/ 3470275 w 3595878"/>
                <a:gd name="T45" fmla="*/ 59182 h 1840484"/>
                <a:gd name="T46" fmla="*/ 3386074 w 3595878"/>
                <a:gd name="T47" fmla="*/ 15621 h 1840484"/>
                <a:gd name="T48" fmla="*/ 3289046 w 3595878"/>
                <a:gd name="T49" fmla="*/ 0 h 184048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3595878" h="1840484">
                  <a:moveTo>
                    <a:pt x="3289046" y="0"/>
                  </a:moveTo>
                  <a:lnTo>
                    <a:pt x="306832" y="0"/>
                  </a:lnTo>
                  <a:lnTo>
                    <a:pt x="209804" y="15621"/>
                  </a:lnTo>
                  <a:lnTo>
                    <a:pt x="125603" y="59182"/>
                  </a:lnTo>
                  <a:lnTo>
                    <a:pt x="59182" y="125603"/>
                  </a:lnTo>
                  <a:lnTo>
                    <a:pt x="15621" y="209804"/>
                  </a:lnTo>
                  <a:lnTo>
                    <a:pt x="0" y="306832"/>
                  </a:lnTo>
                  <a:lnTo>
                    <a:pt x="0" y="1533652"/>
                  </a:lnTo>
                  <a:lnTo>
                    <a:pt x="15621" y="1630680"/>
                  </a:lnTo>
                  <a:lnTo>
                    <a:pt x="59182" y="1714881"/>
                  </a:lnTo>
                  <a:lnTo>
                    <a:pt x="125603" y="1781302"/>
                  </a:lnTo>
                  <a:lnTo>
                    <a:pt x="209804" y="1824863"/>
                  </a:lnTo>
                  <a:lnTo>
                    <a:pt x="306832" y="1840484"/>
                  </a:lnTo>
                  <a:lnTo>
                    <a:pt x="3289046" y="1840484"/>
                  </a:lnTo>
                  <a:lnTo>
                    <a:pt x="3386074" y="1824863"/>
                  </a:lnTo>
                  <a:lnTo>
                    <a:pt x="3470275" y="1781302"/>
                  </a:lnTo>
                  <a:lnTo>
                    <a:pt x="3536696" y="1714881"/>
                  </a:lnTo>
                  <a:lnTo>
                    <a:pt x="3580257" y="1630680"/>
                  </a:lnTo>
                  <a:lnTo>
                    <a:pt x="3595878" y="1533652"/>
                  </a:lnTo>
                  <a:lnTo>
                    <a:pt x="3595878" y="306832"/>
                  </a:lnTo>
                  <a:lnTo>
                    <a:pt x="3580257" y="209804"/>
                  </a:lnTo>
                  <a:lnTo>
                    <a:pt x="3536696" y="125603"/>
                  </a:lnTo>
                  <a:lnTo>
                    <a:pt x="3470275" y="59182"/>
                  </a:lnTo>
                  <a:lnTo>
                    <a:pt x="3386074" y="15621"/>
                  </a:lnTo>
                  <a:lnTo>
                    <a:pt x="3289046" y="0"/>
                  </a:lnTo>
                  <a:close/>
                </a:path>
              </a:pathLst>
            </a:custGeom>
            <a:solidFill>
              <a:srgbClr val="F5F5F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28" name="TextBox 28">
            <a:extLst>
              <a:ext uri="{FF2B5EF4-FFF2-40B4-BE49-F238E27FC236}">
                <a16:creationId xmlns:a16="http://schemas.microsoft.com/office/drawing/2014/main" id="{82DD9524-39E9-6EA3-787D-B7175C7AC169}"/>
              </a:ext>
            </a:extLst>
          </p:cNvPr>
          <p:cNvSpPr txBox="1"/>
          <p:nvPr/>
        </p:nvSpPr>
        <p:spPr>
          <a:xfrm>
            <a:off x="14398625" y="8372475"/>
            <a:ext cx="2074863" cy="1154113"/>
          </a:xfrm>
          <a:prstGeom prst="rect">
            <a:avLst/>
          </a:prstGeom>
        </p:spPr>
        <p:txBody>
          <a:bodyPr lIns="0" tIns="0" rIns="0" bIns="0">
            <a:spAutoFit/>
          </a:bodyPr>
          <a:lstStyle/>
          <a:p>
            <a:pPr algn="ctr" eaLnBrk="1" fontAlgn="auto" hangingPunct="1">
              <a:lnSpc>
                <a:spcPts val="3600"/>
              </a:lnSpc>
              <a:spcBef>
                <a:spcPts val="0"/>
              </a:spcBef>
              <a:spcAft>
                <a:spcPts val="0"/>
              </a:spcAft>
              <a:defRPr/>
            </a:pPr>
            <a:r>
              <a:rPr lang="en-US" sz="3000" spc="-14" dirty="0">
                <a:solidFill>
                  <a:srgbClr val="0D2841"/>
                </a:solidFill>
                <a:latin typeface="Merriweather Sans"/>
                <a:ea typeface="Merriweather Sans"/>
                <a:cs typeface="Merriweather Sans"/>
                <a:sym typeface="Merriweather Sans"/>
              </a:rPr>
              <a:t>Stavanger</a:t>
            </a:r>
          </a:p>
          <a:p>
            <a:pPr algn="ctr" eaLnBrk="1" fontAlgn="auto" hangingPunct="1">
              <a:lnSpc>
                <a:spcPts val="1800"/>
              </a:lnSpc>
              <a:spcBef>
                <a:spcPts val="0"/>
              </a:spcBef>
              <a:spcAft>
                <a:spcPts val="0"/>
              </a:spcAft>
              <a:defRPr/>
            </a:pPr>
            <a:r>
              <a:rPr lang="en-US" sz="1500" spc="-52" dirty="0" err="1">
                <a:solidFill>
                  <a:srgbClr val="0D2841"/>
                </a:solidFill>
                <a:latin typeface="Merriweather Sans"/>
                <a:ea typeface="Merriweather Sans"/>
                <a:cs typeface="Merriweather Sans"/>
                <a:sym typeface="Merriweather Sans"/>
              </a:rPr>
              <a:t>Løkkeveien</a:t>
            </a:r>
            <a:r>
              <a:rPr lang="en-US" sz="1500" spc="-52" dirty="0">
                <a:solidFill>
                  <a:srgbClr val="0D2841"/>
                </a:solidFill>
                <a:latin typeface="Merriweather Sans"/>
                <a:ea typeface="Merriweather Sans"/>
                <a:cs typeface="Merriweather Sans"/>
                <a:sym typeface="Merriweather Sans"/>
              </a:rPr>
              <a:t> 107</a:t>
            </a:r>
          </a:p>
          <a:p>
            <a:pPr algn="ctr" eaLnBrk="1" fontAlgn="auto" hangingPunct="1">
              <a:lnSpc>
                <a:spcPts val="1800"/>
              </a:lnSpc>
              <a:spcBef>
                <a:spcPts val="0"/>
              </a:spcBef>
              <a:spcAft>
                <a:spcPts val="0"/>
              </a:spcAft>
              <a:defRPr/>
            </a:pPr>
            <a:r>
              <a:rPr lang="en-US" sz="1500" spc="-14" dirty="0">
                <a:solidFill>
                  <a:srgbClr val="0D2841"/>
                </a:solidFill>
                <a:latin typeface="Merriweather Sans"/>
                <a:ea typeface="Merriweather Sans"/>
                <a:cs typeface="Merriweather Sans"/>
                <a:sym typeface="Merriweather Sans"/>
              </a:rPr>
              <a:t>(</a:t>
            </a:r>
            <a:r>
              <a:rPr lang="en-US" sz="1500" spc="-14" dirty="0" err="1">
                <a:solidFill>
                  <a:srgbClr val="0D2841"/>
                </a:solidFill>
                <a:latin typeface="Merriweather Sans"/>
                <a:ea typeface="Merriweather Sans"/>
                <a:cs typeface="Merriweather Sans"/>
                <a:sym typeface="Merriweather Sans"/>
              </a:rPr>
              <a:t>Smedvigkvartalet</a:t>
            </a:r>
            <a:r>
              <a:rPr lang="en-US" sz="1500" spc="-14" dirty="0">
                <a:solidFill>
                  <a:srgbClr val="0D2841"/>
                </a:solidFill>
                <a:latin typeface="Merriweather Sans"/>
                <a:ea typeface="Merriweather Sans"/>
                <a:cs typeface="Merriweather Sans"/>
                <a:sym typeface="Merriweather Sans"/>
              </a:rPr>
              <a:t>)</a:t>
            </a:r>
          </a:p>
          <a:p>
            <a:pPr algn="ctr" eaLnBrk="1" fontAlgn="auto" hangingPunct="1">
              <a:lnSpc>
                <a:spcPts val="1800"/>
              </a:lnSpc>
              <a:spcBef>
                <a:spcPts val="0"/>
              </a:spcBef>
              <a:spcAft>
                <a:spcPts val="0"/>
              </a:spcAft>
              <a:defRPr/>
            </a:pPr>
            <a:r>
              <a:rPr lang="en-US" sz="1500" spc="-127" dirty="0">
                <a:solidFill>
                  <a:srgbClr val="0D2841"/>
                </a:solidFill>
                <a:latin typeface="Merriweather Sans"/>
                <a:ea typeface="Merriweather Sans"/>
                <a:cs typeface="Merriweather Sans"/>
                <a:sym typeface="Merriweather Sans"/>
              </a:rPr>
              <a:t>+47  23  89  68  44</a:t>
            </a:r>
          </a:p>
        </p:txBody>
      </p:sp>
      <p:sp>
        <p:nvSpPr>
          <p:cNvPr id="29" name="Rektangel: avrundede hjørner 28">
            <a:extLst>
              <a:ext uri="{FF2B5EF4-FFF2-40B4-BE49-F238E27FC236}">
                <a16:creationId xmlns:a16="http://schemas.microsoft.com/office/drawing/2014/main" id="{89DF45D8-ADD6-6ABF-2539-8066B2E209E6}"/>
              </a:ext>
            </a:extLst>
          </p:cNvPr>
          <p:cNvSpPr/>
          <p:nvPr/>
        </p:nvSpPr>
        <p:spPr>
          <a:xfrm>
            <a:off x="2898775" y="3071813"/>
            <a:ext cx="4724400" cy="2287587"/>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nb-NO" dirty="0"/>
              <a:t>Gustav Sving Helling</a:t>
            </a:r>
          </a:p>
          <a:p>
            <a:pPr algn="ctr" eaLnBrk="1" fontAlgn="auto" hangingPunct="1">
              <a:spcBef>
                <a:spcPts val="0"/>
              </a:spcBef>
              <a:spcAft>
                <a:spcPts val="0"/>
              </a:spcAft>
              <a:defRPr/>
            </a:pPr>
            <a:r>
              <a:rPr lang="nb-NO" dirty="0"/>
              <a:t>Investeringsrådgiver</a:t>
            </a:r>
          </a:p>
          <a:p>
            <a:pPr algn="ctr" eaLnBrk="1" fontAlgn="auto" hangingPunct="1">
              <a:spcBef>
                <a:spcPts val="0"/>
              </a:spcBef>
              <a:spcAft>
                <a:spcPts val="0"/>
              </a:spcAft>
              <a:defRPr/>
            </a:pPr>
            <a:endParaRPr lang="nb-NO" dirty="0"/>
          </a:p>
          <a:p>
            <a:pPr algn="ctr" eaLnBrk="1" fontAlgn="auto" hangingPunct="1">
              <a:spcBef>
                <a:spcPts val="0"/>
              </a:spcBef>
              <a:spcAft>
                <a:spcPts val="0"/>
              </a:spcAft>
              <a:defRPr/>
            </a:pPr>
            <a:r>
              <a:rPr lang="nb-NO" dirty="0"/>
              <a:t>Telefon: +47 45 39 39 27</a:t>
            </a:r>
          </a:p>
          <a:p>
            <a:pPr algn="ctr" eaLnBrk="1" fontAlgn="auto" hangingPunct="1">
              <a:spcBef>
                <a:spcPts val="0"/>
              </a:spcBef>
              <a:spcAft>
                <a:spcPts val="0"/>
              </a:spcAft>
              <a:defRPr/>
            </a:pPr>
            <a:r>
              <a:rPr lang="nb-NO" dirty="0"/>
              <a:t>E-post: </a:t>
            </a:r>
            <a:r>
              <a:rPr lang="en-US" dirty="0"/>
              <a:t> </a:t>
            </a:r>
            <a:r>
              <a:rPr lang="nb-NO" u="sng" dirty="0">
                <a:solidFill>
                  <a:schemeClr val="bg1"/>
                </a:solidFill>
              </a:rPr>
              <a:t>gustav.helling@pensumgroup.no</a:t>
            </a:r>
            <a:endParaRPr lang="nb-NO" dirty="0">
              <a:solidFill>
                <a:schemeClr val="bg1"/>
              </a:solidFill>
            </a:endParaRPr>
          </a:p>
        </p:txBody>
      </p:sp>
      <p:sp>
        <p:nvSpPr>
          <p:cNvPr id="35" name="Rektangel: avrundede hjørner 34">
            <a:extLst>
              <a:ext uri="{FF2B5EF4-FFF2-40B4-BE49-F238E27FC236}">
                <a16:creationId xmlns:a16="http://schemas.microsoft.com/office/drawing/2014/main" id="{E83F7E08-E373-0CA3-BDCF-9D9EECC48753}"/>
              </a:ext>
            </a:extLst>
          </p:cNvPr>
          <p:cNvSpPr/>
          <p:nvPr/>
        </p:nvSpPr>
        <p:spPr>
          <a:xfrm>
            <a:off x="10507663" y="3071813"/>
            <a:ext cx="4724400" cy="2287587"/>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nb-NO" dirty="0"/>
              <a:t>Magnus Kløvstad </a:t>
            </a:r>
            <a:r>
              <a:rPr lang="nb-NO" dirty="0" err="1"/>
              <a:t>Langberg</a:t>
            </a:r>
            <a:endParaRPr lang="nb-NO" dirty="0"/>
          </a:p>
          <a:p>
            <a:pPr algn="ctr" eaLnBrk="1" fontAlgn="auto" hangingPunct="1">
              <a:spcBef>
                <a:spcPts val="0"/>
              </a:spcBef>
              <a:spcAft>
                <a:spcPts val="0"/>
              </a:spcAft>
              <a:defRPr/>
            </a:pPr>
            <a:r>
              <a:rPr lang="nb-NO" dirty="0"/>
              <a:t>Senior Investeringsrådgiver</a:t>
            </a:r>
          </a:p>
          <a:p>
            <a:pPr algn="ctr" eaLnBrk="1" fontAlgn="auto" hangingPunct="1">
              <a:spcBef>
                <a:spcPts val="0"/>
              </a:spcBef>
              <a:spcAft>
                <a:spcPts val="0"/>
              </a:spcAft>
              <a:defRPr/>
            </a:pPr>
            <a:endParaRPr lang="nb-NO" dirty="0"/>
          </a:p>
          <a:p>
            <a:pPr algn="ctr" eaLnBrk="1" fontAlgn="auto" hangingPunct="1">
              <a:spcBef>
                <a:spcPts val="0"/>
              </a:spcBef>
              <a:spcAft>
                <a:spcPts val="0"/>
              </a:spcAft>
              <a:defRPr/>
            </a:pPr>
            <a:r>
              <a:rPr lang="nb-NO" dirty="0"/>
              <a:t>Telefon: +47 91 58 79 05</a:t>
            </a:r>
          </a:p>
          <a:p>
            <a:pPr algn="ctr" eaLnBrk="1" fontAlgn="auto" hangingPunct="1">
              <a:spcBef>
                <a:spcPts val="0"/>
              </a:spcBef>
              <a:spcAft>
                <a:spcPts val="0"/>
              </a:spcAft>
              <a:defRPr/>
            </a:pPr>
            <a:r>
              <a:rPr lang="nb-NO" dirty="0"/>
              <a:t>E-post: </a:t>
            </a:r>
            <a:r>
              <a:rPr lang="en-US" dirty="0"/>
              <a:t> </a:t>
            </a:r>
            <a:r>
              <a:rPr lang="en-US" u="sng" dirty="0"/>
              <a:t>magnus.langberg@pensumgroup.no</a:t>
            </a:r>
            <a:r>
              <a:rPr lang="nb-NO" dirty="0"/>
              <a:t> </a:t>
            </a:r>
          </a:p>
        </p:txBody>
      </p:sp>
      <p:sp>
        <p:nvSpPr>
          <p:cNvPr id="32786" name="TekstSylinder 36">
            <a:extLst>
              <a:ext uri="{FF2B5EF4-FFF2-40B4-BE49-F238E27FC236}">
                <a16:creationId xmlns:a16="http://schemas.microsoft.com/office/drawing/2014/main" id="{6CFA4606-A3D5-EAA5-E075-F68E75CB994B}"/>
              </a:ext>
            </a:extLst>
          </p:cNvPr>
          <p:cNvSpPr txBox="1">
            <a:spLocks noChangeArrowheads="1"/>
          </p:cNvSpPr>
          <p:nvPr/>
        </p:nvSpPr>
        <p:spPr bwMode="auto">
          <a:xfrm>
            <a:off x="1693863" y="1147763"/>
            <a:ext cx="9156700" cy="66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ts val="4500"/>
              </a:lnSpc>
              <a:spcBef>
                <a:spcPct val="0"/>
              </a:spcBef>
              <a:buFontTx/>
              <a:buNone/>
            </a:pPr>
            <a:r>
              <a:rPr lang="en-US" altLang="nb-NO" sz="3600">
                <a:solidFill>
                  <a:schemeClr val="bg1"/>
                </a:solidFill>
                <a:latin typeface="Calibri (MS)" panose="020B0604020202020204" charset="0"/>
                <a:cs typeface="Calibri (MS)" panose="020B0604020202020204" charset="0"/>
                <a:sym typeface="Calibri (MS)" panose="020B0604020202020204" charset="0"/>
              </a:rPr>
              <a:t>Kontaktdetaljer Pensum Asset Management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5F5F5"/>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1189</TotalTime>
  <Words>844</Words>
  <Application>Microsoft Office PowerPoint</Application>
  <PresentationFormat>Egendefinert</PresentationFormat>
  <Paragraphs>95</Paragraphs>
  <Slides>24</Slides>
  <Notes>1</Notes>
  <HiddenSlides>0</HiddenSlides>
  <MMClips>0</MMClips>
  <ScaleCrop>false</ScaleCrop>
  <HeadingPairs>
    <vt:vector size="6" baseType="variant">
      <vt:variant>
        <vt:lpstr>Brukte skrifter</vt:lpstr>
      </vt:variant>
      <vt:variant>
        <vt:i4>4</vt:i4>
      </vt:variant>
      <vt:variant>
        <vt:lpstr>Tema</vt:lpstr>
      </vt:variant>
      <vt:variant>
        <vt:i4>2</vt:i4>
      </vt:variant>
      <vt:variant>
        <vt:lpstr>Lysbildetitler</vt:lpstr>
      </vt:variant>
      <vt:variant>
        <vt:i4>24</vt:i4>
      </vt:variant>
    </vt:vector>
  </HeadingPairs>
  <TitlesOfParts>
    <vt:vector size="30" baseType="lpstr">
      <vt:lpstr>Merriweather Sans</vt:lpstr>
      <vt:lpstr>Arial</vt:lpstr>
      <vt:lpstr>Calibri</vt:lpstr>
      <vt:lpstr>Calibri (MS)</vt:lpstr>
      <vt:lpstr>Office Theme</vt:lpstr>
      <vt:lpstr>1_Office Theme</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Forslag til investeringsportefølje, Robins AS.pptx</dc:title>
  <dc:creator>Gustav Sving Helling</dc:creator>
  <cp:lastModifiedBy>Magnus Kløvstad Langberg</cp:lastModifiedBy>
  <cp:revision>14</cp:revision>
  <dcterms:created xsi:type="dcterms:W3CDTF">2006-08-16T00:00:00Z</dcterms:created>
  <dcterms:modified xsi:type="dcterms:W3CDTF">2026-02-28T14:46:38Z</dcterms:modified>
</cp:coreProperties>
</file>